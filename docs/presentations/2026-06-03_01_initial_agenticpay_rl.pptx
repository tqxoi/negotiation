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0000" y="1500000"/>
            <a:ext cx="10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4602" b="1">
                <a:solidFill>
                  <a:srgbClr val="0F172A"/>
                </a:solidFill>
              </a:rPr>
              <a:t>Is LLM Negotiation Solved by Prompting?</a:t>
            </a:r>
          </a:p>
          <a:p>
            <a:pPr marL="0" indent="-180000"/>
            <a:r>
              <a:rPr lang="en-US" sz="2183" b="0">
                <a:solidFill>
                  <a:srgbClr val="334155"/>
                </a:solidFill>
              </a:rPr>
              <a:t>Preliminary Evidence from AgenticPay and Lightweight RL</a:t>
            </a:r>
          </a:p>
          <a:p>
            <a:pPr marL="0" indent="-180000"/>
            <a:r>
              <a:rPr lang="en-US" sz="1829" b="0">
                <a:solidFill>
                  <a:srgbClr val="2563EB"/>
                </a:solidFill>
              </a:rPr>
              <a:t>Toward RL + Opponent Belief Modeling for Robust Buyer Agents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0000" y="5300000"/>
            <a:ext cx="106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357" b="0">
                <a:solidFill>
                  <a:srgbClr val="64748B"/>
                </a:solidFill>
              </a:rPr>
              <a:t>Qixin · revised report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Research Question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Negotiation as a diagnostic testbed for LLM-agent RL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420000"/>
            <a:ext cx="10800000" cy="3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006" b="1">
                <a:solidFill>
                  <a:srgbClr val="111827"/>
                </a:solidFill>
              </a:rPr>
              <a:t>Negotiation is a partially observable, multi-turn strategic interaction.</a:t>
            </a:r>
          </a:p>
          <a:p>
            <a:pPr marL="280000" indent="-180000">
              <a:buChar char="•"/>
            </a:pPr>
            <a:r>
              <a:rPr lang="en-US" sz="1593" b="0">
                <a:solidFill>
                  <a:srgbClr val="374151"/>
                </a:solidFill>
              </a:rPr>
              <a:t>Agents have private information: buyer budget, seller reservation price, preferences.</a:t>
            </a:r>
          </a:p>
          <a:p>
            <a:pPr marL="280000" indent="-180000">
              <a:buChar char="•"/>
            </a:pPr>
            <a:r>
              <a:rPr lang="en-US" sz="1593" b="0">
                <a:solidFill>
                  <a:srgbClr val="374151"/>
                </a:solidFill>
              </a:rPr>
              <a:t>Success requires opponent modeling, concession scheduling, and utility-aware decisions.</a:t>
            </a:r>
          </a:p>
          <a:p>
            <a:pPr marL="280000" indent="-180000">
              <a:buChar char="•"/>
            </a:pPr>
            <a:r>
              <a:rPr lang="en-US" sz="1593" b="0">
                <a:solidFill>
                  <a:srgbClr val="374151"/>
                </a:solidFill>
              </a:rPr>
              <a:t>Prompting may look strong, but high deal rate can hide poor buyer utility.</a:t>
            </a:r>
          </a:p>
          <a:p>
            <a:pPr marL="280000" indent="-180000">
              <a:buChar char="•"/>
            </a:pPr>
            <a:r>
              <a:rPr lang="en-US" sz="1593" b="0">
                <a:solidFill>
                  <a:srgbClr val="374151"/>
                </a:solidFill>
              </a:rPr>
              <a:t>Goal: identify when prompting/RL fails, and which component fixes the bottleneck.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Thesis: the contribution should be bottleneck diagnosis + modular RL, not only “doing RL better”.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Benchmark: AgenticPay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A verifiable buyer-seller negotiation environment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0000" y="1350000"/>
            <a:ext cx="52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947" b="1">
                <a:solidFill>
                  <a:srgbClr val="111827"/>
                </a:solidFill>
              </a:rPr>
              <a:t>Episode structure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Buyer has private max price.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Seller has minimum / target price.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Multi-turn natural-language offers.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Ends with agreement or timeout.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00000" y="1350000"/>
            <a:ext cx="52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947" b="1">
                <a:solidFill>
                  <a:srgbClr val="111827"/>
                </a:solidFill>
              </a:rPr>
              <a:t>Metrics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Deal rate and termination reason.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Agreed price.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Buyer score / seller score / global score.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Quality success and round count.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Seller characters: fair, greedy, patient, impatient, warm, dominant.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Initial Prompting Matrix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Qwen buyers against fixed AgenticPay sellers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0000" y="1400000"/>
            <a:ext cx="5550000" cy="464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Axis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0000" y="1400000"/>
            <a:ext cx="5550000" cy="464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0000" y="18644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Models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0000" y="18644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Qwen3-0.6B, Qwen3-4B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000" y="23288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Buyer prompts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0000" y="23288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Direct Prompt, CoT Prompt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0000" y="27932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Model pairs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0000" y="27932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qwen06-&gt;qwen06, qwen06-&gt;qwen4, qwen4-&gt;qwen06, qwen4-&gt;qwen4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000" y="32576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70000" y="32576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task1, task2, task3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000" y="37220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Seller characters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0000" y="37220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fair, greedy, patient, impatient, warm, dominant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0000" y="41864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Seeds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0000" y="41864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0,1,2,3,4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0000" y="46508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Current status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0000" y="46508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319 / 720 trajectories completed (44.3% partial result)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Current result mainly covers qwen06 buyer; Qwen4 buyer matrix should be completed before final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Prompting Achieves Deals, But Deal Rate Is Not Enough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Partial matrix overall 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068" b="1">
                <a:solidFill>
                  <a:srgbClr val="0F172A"/>
                </a:solidFill>
              </a:rPr>
              <a:t>319</a:t>
            </a:r>
          </a:p>
          <a:p>
            <a:pPr marL="0" indent="-180000"/>
            <a:r>
              <a:rPr lang="en-US" sz="1239" b="0">
                <a:solidFill>
                  <a:srgbClr val="475569"/>
                </a:solidFill>
              </a:rPr>
              <a:t>Episodes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068" b="1">
                <a:solidFill>
                  <a:srgbClr val="0F172A"/>
                </a:solidFill>
              </a:rPr>
              <a:t>0.799</a:t>
            </a:r>
          </a:p>
          <a:p>
            <a:pPr marL="0" indent="-180000"/>
            <a:r>
              <a:rPr lang="en-US" sz="1239" b="0">
                <a:solidFill>
                  <a:srgbClr val="475569"/>
                </a:solidFill>
              </a:rPr>
              <a:t>Deal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068" b="1">
                <a:solidFill>
                  <a:srgbClr val="0F172A"/>
                </a:solidFill>
              </a:rPr>
              <a:t>0.549</a:t>
            </a:r>
          </a:p>
          <a:p>
            <a:pPr marL="0" indent="-180000"/>
            <a:r>
              <a:rPr lang="en-US" sz="1239" b="0">
                <a:solidFill>
                  <a:srgbClr val="475569"/>
                </a:solidFill>
              </a:rPr>
              <a:t>Q-success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068" b="1">
                <a:solidFill>
                  <a:srgbClr val="0F172A"/>
                </a:solidFill>
              </a:rPr>
              <a:t>55.89</a:t>
            </a:r>
          </a:p>
          <a:p>
            <a:pPr marL="0" indent="-180000"/>
            <a:r>
              <a:rPr lang="en-US" sz="1239" b="0">
                <a:solidFill>
                  <a:srgbClr val="475569"/>
                </a:solidFill>
              </a:rPr>
              <a:t>Buyer score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068" b="1">
                <a:solidFill>
                  <a:srgbClr val="0F172A"/>
                </a:solidFill>
              </a:rPr>
              <a:t>3.37</a:t>
            </a:r>
          </a:p>
          <a:p>
            <a:pPr marL="0" indent="-180000"/>
            <a:r>
              <a:rPr lang="en-US" sz="1239" b="0">
                <a:solidFill>
                  <a:srgbClr val="475569"/>
                </a:solidFill>
              </a:rPr>
              <a:t>Rounds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000" y="3000000"/>
            <a:ext cx="10000000" cy="2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006" b="1">
                <a:solidFill>
                  <a:srgbClr val="111827"/>
                </a:solidFill>
              </a:rPr>
              <a:t>Observation</a:t>
            </a:r>
          </a:p>
          <a:p>
            <a:pPr marL="280000" indent="-180000">
              <a:buChar char="•"/>
            </a:pPr>
            <a:r>
              <a:rPr lang="en-US" sz="1534" b="0">
                <a:solidFill>
                  <a:srgbClr val="374151"/>
                </a:solidFill>
              </a:rPr>
              <a:t>Deal rate is relatively high, but quality success is much lower.</a:t>
            </a:r>
          </a:p>
          <a:p>
            <a:pPr marL="280000" indent="-180000">
              <a:buChar char="•"/>
            </a:pPr>
            <a:r>
              <a:rPr lang="en-US" sz="1534" b="0">
                <a:solidFill>
                  <a:srgbClr val="374151"/>
                </a:solidFill>
              </a:rPr>
              <a:t>Many agents reach agreements that are not buyer-beneficial.</a:t>
            </a:r>
          </a:p>
          <a:p>
            <a:pPr marL="280000" indent="-180000">
              <a:buChar char="•"/>
            </a:pPr>
            <a:r>
              <a:rPr lang="en-US" sz="1534" b="0">
                <a:solidFill>
                  <a:srgbClr val="374151"/>
                </a:solidFill>
              </a:rPr>
              <a:t>Negotiation evaluation must include buyer utility, price, robustness, and trajectory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CoT Looks Strong in Qwen3-0.6B Self-Play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00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Setting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142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2856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4284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5712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714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856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00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Direct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142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2856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0.667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64284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0.611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5712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54.04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714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124.92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856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4.44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00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CoT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142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2856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0.944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4284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0.889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35712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88.82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14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113.94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856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1.44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000" y="3400000"/>
            <a:ext cx="10000000" cy="1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Interpretation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CoT improves deal rate, buyer score, and efficiency in homogeneous self-play.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This supports the need for strong prompting baselines.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But this is not sufficient evidence for robust negotiation 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CoT Does Not Robustly Transfer to Stronger Sellers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Qwen06 buyer vs Qwen4 seller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00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Prompt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142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2856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4284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5712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714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856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00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Direct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142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2856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0.944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64284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0.444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5712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47.45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714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141.18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856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3.39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00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CoT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142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2856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0.510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4284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35712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14.30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14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142.00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856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4.92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000" y="3400000"/>
            <a:ext cx="10000000" cy="200000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Trajectory pattern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CoT analysis can identify seller prices but fails to enforce buyer-beneficial actions.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Reasoning text is not the same as a stable negotiation policy.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This motivates belief state + typed strategic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Prompting Performance Can Be Inflated by Repair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000" y="1450000"/>
            <a:ext cx="5300000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Setting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60000" y="1450000"/>
            <a:ext cx="5300000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Raw/Sent Price Mismatch Rate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000" y="199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qwen06-&gt;qwen06 Direct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60000" y="199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000" y="253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qwen06-&gt;qwen4 Direct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60000" y="253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000" y="307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qwen06-&gt;qwen06 CoT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60000" y="307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0.056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0000" y="361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qwen06-&gt;qwen4 CoT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60000" y="361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0.490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0000" y="4100000"/>
            <a:ext cx="9600000" cy="12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70" b="1">
                <a:solidFill>
                  <a:srgbClr val="1D4ED8"/>
                </a:solidFill>
              </a:rPr>
              <a:t>Raw LLM Output  -&gt;  Parser / Repair  -&gt;  Executable BUYER_PRICE  -&gt;  Reward</a:t>
            </a:r>
          </a:p>
          <a:p>
            <a:pPr marL="0" indent="-180000"/>
            <a:r>
              <a:rPr lang="en-US" sz="1416" b="0">
                <a:solidFill>
                  <a:srgbClr val="374151"/>
                </a:solidFill>
              </a:rPr>
              <a:t>Future ablation: strict no-repair evaluation to separate model ability from wrapper 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Seller Character Creates Robustness Gaps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Seller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1666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03332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94998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6664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78330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0000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fair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11666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0.909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03332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94998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73.61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6664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124.40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78330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2.45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0000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warm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11666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03332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94998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51.79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86664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118.70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8330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1.70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0000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greedy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11666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0.818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03332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0.545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94998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57.25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6664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131.89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78330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3.27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0000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patient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11666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0.727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03332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0.545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94998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49.47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86664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137.75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78330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4.36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0000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impatient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11666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03332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0.556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94998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60.59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86664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131.12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78330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3.63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0000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dominant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11666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0.600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03332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0.400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94998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41.00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86664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129.50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78330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4.80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Key point: friendly tone is not the same as buyer-beneficial outcome; seller character is a natural belief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Trajectory-Level Negotiation Problems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1. Deal-quality gap</a:t>
            </a:r>
          </a:p>
          <a:p>
            <a:pPr marL="280000" indent="-180000">
              <a:buChar char="•"/>
            </a:pPr>
            <a:r>
              <a:rPr lang="en-US" sz="1416" b="0">
                <a:solidFill>
                  <a:srgbClr val="374151"/>
                </a:solidFill>
              </a:rPr>
              <a:t>High deal rate can coexist with low buyer utility.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2. Fixed-price templates</a:t>
            </a:r>
          </a:p>
          <a:p>
            <a:pPr marL="280000" indent="-180000">
              <a:buChar char="•"/>
            </a:pPr>
            <a:r>
              <a:rPr lang="en-US" sz="1416" b="0">
                <a:solidFill>
                  <a:srgbClr val="374151"/>
                </a:solidFill>
              </a:rPr>
              <a:t>Qwen often repeats prices such as task2 $130 or task3 $170/$175.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3. Weak concession scheduling</a:t>
            </a:r>
          </a:p>
          <a:p>
            <a:pPr marL="280000" indent="-180000">
              <a:buChar char="•"/>
            </a:pPr>
            <a:r>
              <a:rPr lang="en-US" sz="1416" b="0">
                <a:solidFill>
                  <a:srgbClr val="374151"/>
                </a:solidFill>
              </a:rPr>
              <a:t>Hard sellers cause repeated offers and timeout.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4. Language-action mismatch</a:t>
            </a:r>
          </a:p>
          <a:p>
            <a:pPr marL="280000" indent="-180000">
              <a:buChar char="•"/>
            </a:pPr>
            <a:r>
              <a:rPr lang="en-US" sz="1416" b="0">
                <a:solidFill>
                  <a:srgbClr val="374151"/>
                </a:solidFill>
              </a:rPr>
              <a:t>CoT reasoning, raw output, repaired action, and reward can disagree.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Related Work: ASTRA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Opponent modeling + offer optimization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350000"/>
            <a:ext cx="5200000" cy="3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ASTRA components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Partner fairness / stance assessment.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Tool-integrated action with LP solver.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Partner acceptance probability.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Strategy-based final offer selection.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00000" y="1350000"/>
            <a:ext cx="5200000" cy="390000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Connection to our direction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Belief model: seller type / reservation / patience.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Typed strategic policy: anchor / hold / concede / accept.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RL selection over strategies and target prices.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Reference: ASTRA, arXiv:2503.07129.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Related Work: MERIT, RLVR, Bilateral Trade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0000" y="1350000"/>
            <a:ext cx="10900000" cy="44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MERIT / AgoraBench</a:t>
            </a:r>
          </a:p>
          <a:p>
            <a:pPr marL="280000" indent="-180000">
              <a:buChar char="•"/>
            </a:pPr>
            <a:r>
              <a:rPr lang="en-US" sz="1357" b="0">
                <a:solidFill>
                  <a:srgbClr val="374151"/>
                </a:solidFill>
              </a:rPr>
              <a:t>Baseline LLM bargaining can diverge from human preferences; metrics should be utility-aware.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Instructing LLMs to Negotiate with RLVR</a:t>
            </a:r>
          </a:p>
          <a:p>
            <a:pPr marL="280000" indent="-180000">
              <a:buChar char="•"/>
            </a:pPr>
            <a:r>
              <a:rPr lang="en-US" sz="1357" b="0">
                <a:solidFill>
                  <a:srgbClr val="374151"/>
                </a:solidFill>
              </a:rPr>
              <a:t>Verifiable reward can train smaller agents; learning dynamics reveal strategy phases.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Bilateral Trade with Private Information</a:t>
            </a:r>
          </a:p>
          <a:p>
            <a:pPr marL="280000" indent="-180000">
              <a:buChar char="•"/>
            </a:pPr>
            <a:r>
              <a:rPr lang="en-US" sz="1357" b="0">
                <a:solidFill>
                  <a:srgbClr val="374151"/>
                </a:solidFill>
              </a:rPr>
              <a:t>Separates binding offers/tool calls from natural language; deal rate and surplus can trade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Preliminary RL Setup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From typed policy to Qwen LoRA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0000" y="1350000"/>
            <a:ext cx="5300000" cy="3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Typed contextual RL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Non-language actor-critic policy.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Learns price/action behavior without generation noise.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Purpose: isolate strategic RL from language realization.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00000" y="1350000"/>
            <a:ext cx="5300000" cy="39000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Qwen LoRA lightweight RL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Qwen3-0.6B buyer samples BUYER_PRICE messages.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AgenticPay computes verifiable reward.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LoRA update with sequence-level REINFORCE / group advantage.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Preliminary RL Results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Current RL runs reveal bottlenecks rather than final gains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0000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Method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8333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6666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84999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3332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1665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Note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0000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Qwen LoRA RL smoke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68333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20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26666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84999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0.125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3332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11.92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01665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pipeline runs; no eval improvement yet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0000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Typed contextual RL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68333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300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26666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84999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3332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13.42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01665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succeeds on easy sellers; fails hard sellers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0000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Group-rollout RL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68333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 step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26666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84999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43332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01665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distinguishes high-quality vs low-quality offers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0000" y="4000000"/>
            <a:ext cx="10200000" cy="1300000"/>
          </a:xfrm>
          <a:prstGeom prst="rect">
            <a:avLst/>
          </a:prstGeom>
          <a:solidFill>
            <a:srgbClr val="FEFCE8"/>
          </a:solidFill>
          <a:ln w="9525">
            <a:solidFill>
              <a:srgbClr val="FACC15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29" b="1">
                <a:solidFill>
                  <a:srgbClr val="111827"/>
                </a:solidFill>
              </a:rPr>
              <a:t>Interpretation</a:t>
            </a:r>
          </a:p>
          <a:p>
            <a:pPr marL="0" indent="-180000"/>
            <a:r>
              <a:rPr lang="en-US" sz="1392" b="0">
                <a:solidFill>
                  <a:srgbClr val="374151"/>
                </a:solidFill>
              </a:rPr>
              <a:t>Short RL smoke is not evidence that RL fails; it shows the pipeline works and exposes fixed-price / hard-seller bottlenecks.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Why Standard RL Is Hard Here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Sparse and delayed reward at agreement or timeout.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High variance from language sampling and seller response.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Opponent non-stationarity across seller characters.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Credit assignment across multi-turn offers.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Language-action mismatch between reasoning text and executable offer.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Reward hacking risk: maximize deal rate by accepting bad prices.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This motivates group rollouts, typed actions, opponent belief, and naturalizer.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Proposed Direction: RL + Belief + Naturalizer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0000" y="1250000"/>
            <a:ext cx="8500000" cy="6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Dialogue history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00000" y="2150000"/>
            <a:ext cx="8500000" cy="60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Opponent belief
seller type / reservation / patience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0000" y="3050000"/>
            <a:ext cx="8500000" cy="6000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Typed strategic policy
anchor / hold / concede / accept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0000" y="3950000"/>
            <a:ext cx="8500000" cy="600000"/>
          </a:xfrm>
          <a:prstGeom prst="rect">
            <a:avLst/>
          </a:prstGeom>
          <a:solidFill>
            <a:srgbClr val="FEFCE8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Natural language naturalizer
valid BUYER_PRICE + tone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0000" y="4850000"/>
            <a:ext cx="8500000" cy="600000"/>
          </a:xfrm>
          <a:prstGeom prst="rect">
            <a:avLst/>
          </a:prstGeom>
          <a:solidFill>
            <a:srgbClr val="FFF1F2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AgenticPay reward
buyer score + quality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Future Experiment Plan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1. Complete Qwen4 buyer prompt matrix and merge summaries.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2. Strict no-repair ablation to measure raw LLM negotiation ability.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3. Prompt vs RL comparison on a fixed AgenticPay eval set.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4. Train seller-character / reservation belief model from trajectories.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5. Formal group-rollout LoRA RL with Qwen3-0.6B.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6. Add naturalizer and evaluate language diversity + action validity.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Questions for Feedback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Is AgenticPay sufficient as the first benchmark, or should ASTRA/MERIT-style multi-issue settings be added earlier?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Should the main contribution focus on RL training or on diagnosing prompting/RL bottlenecks?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Which module should be isolated first: belief model, typed policy, naturalizer, or reward design?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Should Qwen LoRA RL be prioritized, or should we first build stronger structured-policy baselines?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How much human evaluation is needed for preliminary results?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0000" y="950000"/>
            <a:ext cx="10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4248" b="1">
                <a:solidFill>
                  <a:srgbClr val="0F172A"/>
                </a:solidFill>
              </a:rPr>
              <a:t>Takeaways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000" y="2100000"/>
            <a:ext cx="9900000" cy="3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1. Prompting is strong, but negotiation is not solved.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2. High deal rate can hide low buyer utility.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3. Trajectories expose opponent-modeling, concession, and language-action bottlenecks.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4. RL should target these bottlenecks with belief, typed actions, and naturalization.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0000" y="560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006" b="1">
                <a:solidFill>
                  <a:srgbClr val="2563EB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AgenticPay Negotiation Prompting and RL Report</dc:title>
  <dc:creator>Codex</dc:creator>
  <cp:lastModifiedBy>Codex</cp:lastModifiedBy>
</cp:coreProperties>
</file>