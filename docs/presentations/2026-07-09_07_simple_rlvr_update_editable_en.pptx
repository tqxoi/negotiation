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1695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/Relationships>
</file>

<file path=ppt/slides/_rels/slide2.xml.rels><?xml version="1.0" encoding="UTF-8" standalone="yes"?><Relationships xmlns="http://schemas.openxmlformats.org/package/2006/relationships"></Relationships>
</file>

<file path=ppt/slides/_rels/slide3.xml.rels><?xml version="1.0" encoding="UTF-8" standalone="yes"?><Relationships xmlns="http://schemas.openxmlformats.org/package/2006/relationships"></Relationships>
</file>

<file path=ppt/slides/_rels/slide4.xml.rels><?xml version="1.0" encoding="UTF-8" standalone="yes"?><Relationships xmlns="http://schemas.openxmlformats.org/package/2006/relationships"></Relationships>
</file>

<file path=ppt/slides/_rels/slide5.xml.rels><?xml version="1.0" encoding="UTF-8" standalone="yes"?><Relationships xmlns="http://schemas.openxmlformats.org/package/2006/relationships"></Relationships>
</file>

<file path=ppt/slides/_rels/slide6.xml.rels><?xml version="1.0" encoding="UTF-8" standalone="yes"?><Relationships xmlns="http://schemas.openxmlformats.org/package/2006/relationships"></Relationships>
</file>

<file path=ppt/slides/_rels/slide7.xml.rels><?xml version="1.0" encoding="UTF-8" standalone="yes"?><Relationships xmlns="http://schemas.openxmlformats.org/package/2006/relationships"></Relationships>
</file>

<file path=ppt/slides/_rels/slide8.xml.rels><?xml version="1.0" encoding="UTF-8" standalone="yes"?><Relationships xmlns="http://schemas.openxmlformats.org/package/2006/relationships"></Relationships>
</file>

<file path=ppt/slides/_rels/slide9.xml.rels><?xml version="1.0" encoding="UTF-8" standalone="yes"?>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Shape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3200" b="1">
                <a:solidFill>
                  <a:srgbClr val="1C2B44"/>
                </a:solidFill>
                <a:latin typeface="Aptos"/>
              </a:rPr>
              <a:t>RLVR Negotiation Benchmark Update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500">
                <a:solidFill>
                  <a:srgbClr val="566374"/>
                </a:solidFill>
                <a:latin typeface="Aptos"/>
              </a:rPr>
              <a:t>Editable report deck: current results and next experiments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ED8E4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640080" y="1417320"/>
            <a:ext cx="2743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6" name="Shape 6"/>
          <p:cNvSpPr txBox="1"/>
          <p:nvPr/>
        </p:nvSpPr>
        <p:spPr>
          <a:xfrm>
            <a:off x="822959" y="1581912"/>
            <a:ext cx="2377440" cy="347472"/>
          </a:xfrm>
          <a:prstGeom prst="roundRect">
            <a:avLst/>
          </a:prstGeom>
          <a:solidFill>
            <a:srgbClr val="10827C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Best Current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868680" y="2130552"/>
            <a:ext cx="2286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CF reranker v2: reward 0.405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Deal rate 82.5%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Still partial coverage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3611880" y="1417320"/>
            <a:ext cx="2743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3794760" y="1581912"/>
            <a:ext cx="2377440" cy="347472"/>
          </a:xfrm>
          <a:prstGeom prst="roundRect">
            <a:avLst/>
          </a:prstGeom>
          <a:solidFill>
            <a:srgbClr val="2D60AA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Typed Belief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3840480" y="2130552"/>
            <a:ext cx="2286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Reward 0.352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157 episodes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No overshoot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583680" y="1417320"/>
            <a:ext cx="2743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12" name="Shape 12"/>
          <p:cNvSpPr txBox="1"/>
          <p:nvPr/>
        </p:nvSpPr>
        <p:spPr>
          <a:xfrm>
            <a:off x="6766560" y="1581912"/>
            <a:ext cx="2377440" cy="347472"/>
          </a:xfrm>
          <a:prstGeom prst="roundRect">
            <a:avLst/>
          </a:prstGeom>
          <a:solidFill>
            <a:srgbClr val="368453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Paper RL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6812280" y="2130552"/>
            <a:ext cx="2286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Reward 0.766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Deal rate 92.0%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GRPO-trained buyer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9555480" y="1417320"/>
            <a:ext cx="2103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15" name="Shape 15"/>
          <p:cNvSpPr txBox="1"/>
          <p:nvPr/>
        </p:nvSpPr>
        <p:spPr>
          <a:xfrm>
            <a:off x="9738359" y="1581912"/>
            <a:ext cx="1737360" cy="347472"/>
          </a:xfrm>
          <a:prstGeom prst="roundRect">
            <a:avLst/>
          </a:prstGeom>
          <a:solidFill>
            <a:srgbClr val="CA6F2B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Safety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9784080" y="2130552"/>
            <a:ext cx="1645919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0% overshoot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0% format errors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Budget guardrail stable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822960" y="3017520"/>
            <a:ext cx="10607040" cy="23774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2000">
                <a:solidFill>
                  <a:srgbClr val="1C2B44"/>
                </a:solidFill>
                <a:latin typeface="Aptos"/>
              </a:rPr>
              <a:t>• Prompt-only direct buyer remains weak; full framework gives a strong prompted baseline.</a:t>
            </a:r>
          </a:p>
          <a:p>
            <a:pPr algn="l"/>
            <a:r>
              <a:rPr lang="en-US" sz="2000">
                <a:solidFill>
                  <a:srgbClr val="1C2B44"/>
                </a:solidFill>
                <a:latin typeface="Aptos"/>
              </a:rPr>
              <a:t>• Typed belief and counterfactual reranking expose the core bottleneck: calibrated decision</a:t>
            </a:r>
          </a:p>
          <a:p>
            <a:pPr algn="l"/>
            <a:r>
              <a:rPr lang="en-US" sz="2000">
                <a:solidFill>
                  <a:srgbClr val="1C2B44"/>
                </a:solidFill>
                <a:latin typeface="Aptos"/>
              </a:rPr>
              <a:t>  making, not text generation.</a:t>
            </a:r>
          </a:p>
          <a:p>
            <a:pPr algn="l"/>
            <a:r>
              <a:rPr lang="en-US" sz="2000">
                <a:solidFill>
                  <a:srgbClr val="1C2B44"/>
                </a:solidFill>
                <a:latin typeface="Aptos"/>
              </a:rPr>
              <a:t>• Next step: paired evaluation across broader multi-agent benchmarks and SFT/RL on</a:t>
            </a:r>
          </a:p>
          <a:p>
            <a:pPr algn="l"/>
            <a:r>
              <a:rPr lang="en-US" sz="2000">
                <a:solidFill>
                  <a:srgbClr val="1C2B44"/>
                </a:solidFill>
                <a:latin typeface="Aptos"/>
              </a:rPr>
              <a:t>  planner/reranker actions.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000">
                <a:solidFill>
                  <a:srgbClr val="566374"/>
                </a:solidFill>
                <a:latin typeface="Aptos"/>
              </a:rPr>
              <a:t>Generated 2026-07-09 18:55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Shape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3200" b="1">
                <a:solidFill>
                  <a:srgbClr val="1C2B44"/>
                </a:solidFill>
                <a:latin typeface="Aptos"/>
              </a:rPr>
              <a:t>Benchmark Setup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500">
                <a:solidFill>
                  <a:srgbClr val="566374"/>
                </a:solidFill>
                <a:latin typeface="Aptos"/>
              </a:rPr>
              <a:t>Paper-aligned RLVR negotiation evaluation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ED8E4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640080" y="1417320"/>
            <a:ext cx="53035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6" name="Shape 6"/>
          <p:cNvSpPr txBox="1"/>
          <p:nvPr/>
        </p:nvSpPr>
        <p:spPr>
          <a:xfrm>
            <a:off x="822959" y="1581912"/>
            <a:ext cx="3200400" cy="347472"/>
          </a:xfrm>
          <a:prstGeom prst="roundRect">
            <a:avLst/>
          </a:prstGeom>
          <a:solidFill>
            <a:srgbClr val="2D60AA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Environment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868680" y="2130552"/>
            <a:ext cx="4846320" cy="3520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One buyer and one seller negotiate one Amazon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product.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Seller cost and buyer budget are private.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Max 6 interaction rounds; buyer temperature 1.0,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seller temperature 0.7.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Metrics: reward, deal rate, bargained ratio,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price overshoot.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6263640" y="1417320"/>
            <a:ext cx="53035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6446520" y="1581912"/>
            <a:ext cx="3200400" cy="347472"/>
          </a:xfrm>
          <a:prstGeom prst="roundRect">
            <a:avLst/>
          </a:prstGeom>
          <a:solidFill>
            <a:srgbClr val="368453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Original Paper Table 1 Reference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492240" y="2130552"/>
            <a:ext cx="4846320" cy="3520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RL-trained Qwen3-30B buyer via GRPO.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Seller model is Qwen3-30B-A3B-Instruct.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Reward 0.7664, deal rate 91.99%, bargained ratio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0.8385.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Our current work compares prompted modular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buyers before training.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Shape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3200" b="1">
                <a:solidFill>
                  <a:srgbClr val="1C2B44"/>
                </a:solidFill>
                <a:latin typeface="Aptos"/>
              </a:rPr>
              <a:t>Current RLVR Results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500">
                <a:solidFill>
                  <a:srgbClr val="566374"/>
                </a:solidFill>
                <a:latin typeface="Aptos"/>
              </a:rPr>
              <a:t>Large, editable table; sample size is shown explicitly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ED8E4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384048" y="1508760"/>
            <a:ext cx="2788920" cy="502920"/>
          </a:xfrm>
          <a:prstGeom prst="rect">
            <a:avLst/>
          </a:prstGeom>
          <a:solidFill>
            <a:srgbClr val="1C2B44"/>
          </a:solidFill>
          <a:ln w="12700">
            <a:solidFill>
              <a:srgbClr val="FFFFFF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Variant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3172968" y="1508760"/>
            <a:ext cx="777240" cy="502920"/>
          </a:xfrm>
          <a:prstGeom prst="rect">
            <a:avLst/>
          </a:prstGeom>
          <a:solidFill>
            <a:srgbClr val="1C2B44"/>
          </a:solidFill>
          <a:ln w="12700">
            <a:solidFill>
              <a:srgbClr val="FFFFFF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n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3950207" y="1508760"/>
            <a:ext cx="822960" cy="502920"/>
          </a:xfrm>
          <a:prstGeom prst="rect">
            <a:avLst/>
          </a:prstGeom>
          <a:solidFill>
            <a:srgbClr val="1C2B44"/>
          </a:solidFill>
          <a:ln w="12700">
            <a:solidFill>
              <a:srgbClr val="FFFFFF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Scen.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4773168" y="1508760"/>
            <a:ext cx="1051560" cy="502920"/>
          </a:xfrm>
          <a:prstGeom prst="rect">
            <a:avLst/>
          </a:prstGeom>
          <a:solidFill>
            <a:srgbClr val="1C2B44"/>
          </a:solidFill>
          <a:ln w="12700">
            <a:solidFill>
              <a:srgbClr val="FFFFFF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Deal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5824727" y="1508760"/>
            <a:ext cx="1051560" cy="502920"/>
          </a:xfrm>
          <a:prstGeom prst="rect">
            <a:avLst/>
          </a:prstGeom>
          <a:solidFill>
            <a:srgbClr val="1C2B44"/>
          </a:solidFill>
          <a:ln w="12700">
            <a:solidFill>
              <a:srgbClr val="FFFFFF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Reward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876288" y="1508760"/>
            <a:ext cx="1143000" cy="502920"/>
          </a:xfrm>
          <a:prstGeom prst="rect">
            <a:avLst/>
          </a:prstGeom>
          <a:solidFill>
            <a:srgbClr val="1C2B44"/>
          </a:solidFill>
          <a:ln w="12700">
            <a:solidFill>
              <a:srgbClr val="FFFFFF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Bargain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8019288" y="1508760"/>
            <a:ext cx="960120" cy="502920"/>
          </a:xfrm>
          <a:prstGeom prst="rect">
            <a:avLst/>
          </a:prstGeom>
          <a:solidFill>
            <a:srgbClr val="1C2B44"/>
          </a:solidFill>
          <a:ln w="12700">
            <a:solidFill>
              <a:srgbClr val="FFFFFF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Over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384048" y="2011680"/>
            <a:ext cx="2788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en-US" sz="1500" b="1">
                <a:solidFill>
                  <a:srgbClr val="1C2B44"/>
                </a:solidFill>
                <a:latin typeface="Aptos"/>
              </a:rPr>
              <a:t>Paper RL Qwen3-30B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3172968" y="2011680"/>
            <a:ext cx="777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512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3950207" y="2011680"/>
            <a:ext cx="822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128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4773168" y="2011680"/>
            <a:ext cx="1051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92.0%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5824727" y="2011680"/>
            <a:ext cx="1051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0.766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6876288" y="2011680"/>
            <a:ext cx="1143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0.839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8019288" y="2011680"/>
            <a:ext cx="960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0.1%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384048" y="2542032"/>
            <a:ext cx="2788920" cy="530352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en-US" sz="1500" b="1">
                <a:solidFill>
                  <a:srgbClr val="1C2B44"/>
                </a:solidFill>
                <a:latin typeface="Aptos"/>
              </a:rPr>
              <a:t>Direct prompt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3172968" y="2542032"/>
            <a:ext cx="777240" cy="530352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45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3950207" y="2542032"/>
            <a:ext cx="822960" cy="530352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12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4773168" y="2542032"/>
            <a:ext cx="1051560" cy="530352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57.8%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5824727" y="2542032"/>
            <a:ext cx="1051560" cy="530352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0.042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6876288" y="2542032"/>
            <a:ext cx="1143000" cy="530352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0.073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8019288" y="2542032"/>
            <a:ext cx="960120" cy="530352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0.0%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384048" y="3072384"/>
            <a:ext cx="2788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en-US" sz="1500" b="1">
                <a:solidFill>
                  <a:srgbClr val="1C2B44"/>
                </a:solidFill>
                <a:latin typeface="Aptos"/>
              </a:rPr>
              <a:t>Full framework</a:t>
            </a:r>
          </a:p>
        </p:txBody>
      </p:sp>
      <p:sp>
        <p:nvSpPr>
          <p:cNvPr id="27" name="Shape 27"/>
          <p:cNvSpPr txBox="1"/>
          <p:nvPr/>
        </p:nvSpPr>
        <p:spPr>
          <a:xfrm>
            <a:off x="3172968" y="3072384"/>
            <a:ext cx="777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44</a:t>
            </a:r>
          </a:p>
        </p:txBody>
      </p:sp>
      <p:sp>
        <p:nvSpPr>
          <p:cNvPr id="28" name="Shape 28"/>
          <p:cNvSpPr txBox="1"/>
          <p:nvPr/>
        </p:nvSpPr>
        <p:spPr>
          <a:xfrm>
            <a:off x="3950207" y="3072384"/>
            <a:ext cx="822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11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4773168" y="3072384"/>
            <a:ext cx="1051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93.2%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5824727" y="3072384"/>
            <a:ext cx="1051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0.450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6876288" y="3072384"/>
            <a:ext cx="1143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0.483</a:t>
            </a:r>
          </a:p>
        </p:txBody>
      </p:sp>
      <p:sp>
        <p:nvSpPr>
          <p:cNvPr id="32" name="Shape 32"/>
          <p:cNvSpPr txBox="1"/>
          <p:nvPr/>
        </p:nvSpPr>
        <p:spPr>
          <a:xfrm>
            <a:off x="8019288" y="3072384"/>
            <a:ext cx="960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0.0%</a:t>
            </a:r>
          </a:p>
        </p:txBody>
      </p:sp>
      <p:sp>
        <p:nvSpPr>
          <p:cNvPr id="33" name="Shape 33"/>
          <p:cNvSpPr txBox="1"/>
          <p:nvPr/>
        </p:nvSpPr>
        <p:spPr>
          <a:xfrm>
            <a:off x="384048" y="3602736"/>
            <a:ext cx="2788920" cy="530352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en-US" sz="1500" b="1">
                <a:solidFill>
                  <a:srgbClr val="1C2B44"/>
                </a:solidFill>
                <a:latin typeface="Aptos"/>
              </a:rPr>
              <a:t>Typed belief fixed</a:t>
            </a:r>
          </a:p>
        </p:txBody>
      </p:sp>
      <p:sp>
        <p:nvSpPr>
          <p:cNvPr id="34" name="Shape 34"/>
          <p:cNvSpPr txBox="1"/>
          <p:nvPr/>
        </p:nvSpPr>
        <p:spPr>
          <a:xfrm>
            <a:off x="3172968" y="3602736"/>
            <a:ext cx="777240" cy="530352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157</a:t>
            </a:r>
          </a:p>
        </p:txBody>
      </p:sp>
      <p:sp>
        <p:nvSpPr>
          <p:cNvPr id="35" name="Shape 35"/>
          <p:cNvSpPr txBox="1"/>
          <p:nvPr/>
        </p:nvSpPr>
        <p:spPr>
          <a:xfrm>
            <a:off x="3950207" y="3602736"/>
            <a:ext cx="822960" cy="530352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40</a:t>
            </a:r>
          </a:p>
        </p:txBody>
      </p:sp>
      <p:sp>
        <p:nvSpPr>
          <p:cNvPr id="36" name="Shape 36"/>
          <p:cNvSpPr txBox="1"/>
          <p:nvPr/>
        </p:nvSpPr>
        <p:spPr>
          <a:xfrm>
            <a:off x="4773168" y="3602736"/>
            <a:ext cx="1051560" cy="530352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84.7%</a:t>
            </a:r>
          </a:p>
        </p:txBody>
      </p:sp>
      <p:sp>
        <p:nvSpPr>
          <p:cNvPr id="37" name="Shape 37"/>
          <p:cNvSpPr txBox="1"/>
          <p:nvPr/>
        </p:nvSpPr>
        <p:spPr>
          <a:xfrm>
            <a:off x="5824727" y="3602736"/>
            <a:ext cx="1051560" cy="530352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0.352</a:t>
            </a:r>
          </a:p>
        </p:txBody>
      </p:sp>
      <p:sp>
        <p:nvSpPr>
          <p:cNvPr id="38" name="Shape 38"/>
          <p:cNvSpPr txBox="1"/>
          <p:nvPr/>
        </p:nvSpPr>
        <p:spPr>
          <a:xfrm>
            <a:off x="6876288" y="3602736"/>
            <a:ext cx="1143000" cy="530352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0.416</a:t>
            </a:r>
          </a:p>
        </p:txBody>
      </p:sp>
      <p:sp>
        <p:nvSpPr>
          <p:cNvPr id="39" name="Shape 39"/>
          <p:cNvSpPr txBox="1"/>
          <p:nvPr/>
        </p:nvSpPr>
        <p:spPr>
          <a:xfrm>
            <a:off x="8019288" y="3602736"/>
            <a:ext cx="960120" cy="530352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0.0%</a:t>
            </a:r>
          </a:p>
        </p:txBody>
      </p:sp>
      <p:sp>
        <p:nvSpPr>
          <p:cNvPr id="40" name="Shape 40"/>
          <p:cNvSpPr txBox="1"/>
          <p:nvPr/>
        </p:nvSpPr>
        <p:spPr>
          <a:xfrm>
            <a:off x="384048" y="4133087"/>
            <a:ext cx="2788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en-US" sz="1500" b="1">
                <a:solidFill>
                  <a:srgbClr val="1C2B44"/>
                </a:solidFill>
                <a:latin typeface="Aptos"/>
              </a:rPr>
              <a:t>CF reranker current</a:t>
            </a:r>
          </a:p>
        </p:txBody>
      </p:sp>
      <p:sp>
        <p:nvSpPr>
          <p:cNvPr id="41" name="Shape 41"/>
          <p:cNvSpPr txBox="1"/>
          <p:nvPr/>
        </p:nvSpPr>
        <p:spPr>
          <a:xfrm>
            <a:off x="3172968" y="4133087"/>
            <a:ext cx="777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156</a:t>
            </a:r>
          </a:p>
        </p:txBody>
      </p:sp>
      <p:sp>
        <p:nvSpPr>
          <p:cNvPr id="42" name="Shape 42"/>
          <p:cNvSpPr txBox="1"/>
          <p:nvPr/>
        </p:nvSpPr>
        <p:spPr>
          <a:xfrm>
            <a:off x="3950207" y="4133087"/>
            <a:ext cx="822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39</a:t>
            </a:r>
          </a:p>
        </p:txBody>
      </p:sp>
      <p:sp>
        <p:nvSpPr>
          <p:cNvPr id="43" name="Shape 43"/>
          <p:cNvSpPr txBox="1"/>
          <p:nvPr/>
        </p:nvSpPr>
        <p:spPr>
          <a:xfrm>
            <a:off x="4773168" y="4133087"/>
            <a:ext cx="1051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83.3%</a:t>
            </a:r>
          </a:p>
        </p:txBody>
      </p:sp>
      <p:sp>
        <p:nvSpPr>
          <p:cNvPr id="44" name="Shape 44"/>
          <p:cNvSpPr txBox="1"/>
          <p:nvPr/>
        </p:nvSpPr>
        <p:spPr>
          <a:xfrm>
            <a:off x="5824727" y="4133087"/>
            <a:ext cx="1051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0.350</a:t>
            </a:r>
          </a:p>
        </p:txBody>
      </p:sp>
      <p:sp>
        <p:nvSpPr>
          <p:cNvPr id="45" name="Shape 45"/>
          <p:cNvSpPr txBox="1"/>
          <p:nvPr/>
        </p:nvSpPr>
        <p:spPr>
          <a:xfrm>
            <a:off x="6876288" y="4133087"/>
            <a:ext cx="1143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0.420</a:t>
            </a:r>
          </a:p>
        </p:txBody>
      </p:sp>
      <p:sp>
        <p:nvSpPr>
          <p:cNvPr id="46" name="Shape 46"/>
          <p:cNvSpPr txBox="1"/>
          <p:nvPr/>
        </p:nvSpPr>
        <p:spPr>
          <a:xfrm>
            <a:off x="8019288" y="4133087"/>
            <a:ext cx="960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0.0%</a:t>
            </a:r>
          </a:p>
        </p:txBody>
      </p:sp>
      <p:sp>
        <p:nvSpPr>
          <p:cNvPr id="47" name="Shape 47"/>
          <p:cNvSpPr txBox="1"/>
          <p:nvPr/>
        </p:nvSpPr>
        <p:spPr>
          <a:xfrm>
            <a:off x="384048" y="4663440"/>
            <a:ext cx="2788920" cy="530352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en-US" sz="1500" b="1">
                <a:solidFill>
                  <a:srgbClr val="1C2B44"/>
                </a:solidFill>
                <a:latin typeface="Aptos"/>
              </a:rPr>
              <a:t>CF reranker v2</a:t>
            </a:r>
          </a:p>
        </p:txBody>
      </p:sp>
      <p:sp>
        <p:nvSpPr>
          <p:cNvPr id="48" name="Shape 48"/>
          <p:cNvSpPr txBox="1"/>
          <p:nvPr/>
        </p:nvSpPr>
        <p:spPr>
          <a:xfrm>
            <a:off x="3172968" y="4663440"/>
            <a:ext cx="777240" cy="530352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80</a:t>
            </a:r>
          </a:p>
        </p:txBody>
      </p:sp>
      <p:sp>
        <p:nvSpPr>
          <p:cNvPr id="49" name="Shape 49"/>
          <p:cNvSpPr txBox="1"/>
          <p:nvPr/>
        </p:nvSpPr>
        <p:spPr>
          <a:xfrm>
            <a:off x="3950207" y="4663440"/>
            <a:ext cx="822960" cy="530352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20</a:t>
            </a:r>
          </a:p>
        </p:txBody>
      </p:sp>
      <p:sp>
        <p:nvSpPr>
          <p:cNvPr id="50" name="Shape 50"/>
          <p:cNvSpPr txBox="1"/>
          <p:nvPr/>
        </p:nvSpPr>
        <p:spPr>
          <a:xfrm>
            <a:off x="4773168" y="4663440"/>
            <a:ext cx="1051560" cy="530352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82.5%</a:t>
            </a:r>
          </a:p>
        </p:txBody>
      </p:sp>
      <p:sp>
        <p:nvSpPr>
          <p:cNvPr id="51" name="Shape 51"/>
          <p:cNvSpPr txBox="1"/>
          <p:nvPr/>
        </p:nvSpPr>
        <p:spPr>
          <a:xfrm>
            <a:off x="5824727" y="4663440"/>
            <a:ext cx="1051560" cy="530352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0.405</a:t>
            </a:r>
          </a:p>
        </p:txBody>
      </p:sp>
      <p:sp>
        <p:nvSpPr>
          <p:cNvPr id="52" name="Shape 52"/>
          <p:cNvSpPr txBox="1"/>
          <p:nvPr/>
        </p:nvSpPr>
        <p:spPr>
          <a:xfrm>
            <a:off x="6876288" y="4663440"/>
            <a:ext cx="1143000" cy="530352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0.491</a:t>
            </a:r>
          </a:p>
        </p:txBody>
      </p:sp>
      <p:sp>
        <p:nvSpPr>
          <p:cNvPr id="53" name="Shape 53"/>
          <p:cNvSpPr txBox="1"/>
          <p:nvPr/>
        </p:nvSpPr>
        <p:spPr>
          <a:xfrm>
            <a:off x="8019288" y="4663440"/>
            <a:ext cx="960120" cy="530352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0.0%</a:t>
            </a:r>
          </a:p>
        </p:txBody>
      </p:sp>
      <p:sp>
        <p:nvSpPr>
          <p:cNvPr id="54" name="Shape 54"/>
          <p:cNvSpPr txBox="1"/>
          <p:nvPr/>
        </p:nvSpPr>
        <p:spPr>
          <a:xfrm>
            <a:off x="594360" y="5897880"/>
            <a:ext cx="1078992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700">
                <a:solidFill>
                  <a:srgbClr val="B23F3F"/>
                </a:solidFill>
                <a:latin typeface="Aptos"/>
              </a:rPr>
              <a:t>Note: CF reranker v2 is currently partial coverage; full paired evaluation is still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Shape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3200" b="1">
                <a:solidFill>
                  <a:srgbClr val="1C2B44"/>
                </a:solidFill>
                <a:latin typeface="Aptos"/>
              </a:rPr>
              <a:t>Typed Evidence-Grounded Belief: Implementation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500">
                <a:solidFill>
                  <a:srgbClr val="566374"/>
                </a:solidFill>
                <a:latin typeface="Aptos"/>
              </a:rPr>
              <a:t>Opponent model with structured ranges, evidence, and calibrated accept probabilities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ED8E4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94360" y="1417320"/>
            <a:ext cx="34290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6" name="Shape 6"/>
          <p:cNvSpPr txBox="1"/>
          <p:nvPr/>
        </p:nvSpPr>
        <p:spPr>
          <a:xfrm>
            <a:off x="777240" y="1581912"/>
            <a:ext cx="3063240" cy="347472"/>
          </a:xfrm>
          <a:prstGeom prst="roundRect">
            <a:avLst/>
          </a:prstGeom>
          <a:solidFill>
            <a:srgbClr val="2D60AA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Inputs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822960" y="2130552"/>
            <a:ext cx="2971800" cy="3703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Scenario: title, reference price, buyer budget.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Dialogue history: buyer offers, seller formal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SELL/REJECT/QUIT actions.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Concession schedule: target, min offer, max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offer, accept cap.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Candidate prices for accept-probability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calibration.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4343400" y="1417320"/>
            <a:ext cx="35204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4526280" y="1581912"/>
            <a:ext cx="3154680" cy="347472"/>
          </a:xfrm>
          <a:prstGeom prst="roundRect">
            <a:avLst/>
          </a:prstGeom>
          <a:solidFill>
            <a:srgbClr val="10827C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Belief Output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4572000" y="2130552"/>
            <a:ext cx="3063240" cy="3703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seller_reservation_range + confidence.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likely_acceptable_price_range.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seller flexibility / patience ranges.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walkaway risk and accept_probability_curve.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Evidence spans and uncertainty notes.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8229600" y="1417320"/>
            <a:ext cx="34290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12" name="Shape 12"/>
          <p:cNvSpPr txBox="1"/>
          <p:nvPr/>
        </p:nvSpPr>
        <p:spPr>
          <a:xfrm>
            <a:off x="8412480" y="1581912"/>
            <a:ext cx="3063240" cy="347472"/>
          </a:xfrm>
          <a:prstGeom prst="roundRect">
            <a:avLst/>
          </a:prstGeom>
          <a:solidFill>
            <a:srgbClr val="368453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Calibration / Action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8458200" y="2130552"/>
            <a:ext cx="2971800" cy="3703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Formal SELL offer is strong evidence of near-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term acceptability.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Rejected buyer offers cap accept probability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below that price.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Late-round budget-safe SELL can trigger accept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plan.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Action override converts generator drift into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exact DEAL when plan says accept.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Shape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3200" b="1">
                <a:solidFill>
                  <a:srgbClr val="1C2B44"/>
                </a:solidFill>
                <a:latin typeface="Aptos"/>
              </a:rPr>
              <a:t>Counterfactual Reranker: Implementation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500">
                <a:solidFill>
                  <a:srgbClr val="566374"/>
                </a:solidFill>
                <a:latin typeface="Aptos"/>
              </a:rPr>
              <a:t>Full framework plus candidate-offer response prediction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ED8E4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94360" y="1417320"/>
            <a:ext cx="34290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6" name="Shape 6"/>
          <p:cNvSpPr txBox="1"/>
          <p:nvPr/>
        </p:nvSpPr>
        <p:spPr>
          <a:xfrm>
            <a:off x="777240" y="1581912"/>
            <a:ext cx="3063240" cy="347472"/>
          </a:xfrm>
          <a:prstGeom prst="roundRect">
            <a:avLst/>
          </a:prstGeom>
          <a:solidFill>
            <a:srgbClr val="2D60AA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Base Framework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822960" y="2130552"/>
            <a:ext cx="2971800" cy="3703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First run normal belief and full-framework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planner.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Keep the base target as the default safe action.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Generate nearby candidate offers: lower probe,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base target, safer concession, seller-offer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neighborhood.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4343400" y="1417320"/>
            <a:ext cx="35204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4526280" y="1581912"/>
            <a:ext cx="3154680" cy="347472"/>
          </a:xfrm>
          <a:prstGeom prst="roundRect">
            <a:avLst/>
          </a:prstGeom>
          <a:solidFill>
            <a:srgbClr val="10827C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Response Model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4572000" y="2130552"/>
            <a:ext cx="3063240" cy="3703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Predict seller accept probability for each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candidate.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Predict likely counter price distribution.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Predict seller walkaway probability.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Store scored candidates in trajectory traces.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8229600" y="1417320"/>
            <a:ext cx="34290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12" name="Shape 12"/>
          <p:cNvSpPr txBox="1"/>
          <p:nvPr/>
        </p:nvSpPr>
        <p:spPr>
          <a:xfrm>
            <a:off x="8412480" y="1581912"/>
            <a:ext cx="3063240" cy="347472"/>
          </a:xfrm>
          <a:prstGeom prst="roundRect">
            <a:avLst/>
          </a:prstGeom>
          <a:solidFill>
            <a:srgbClr val="CA6F2B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v2 Guardrails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8458200" y="2130552"/>
            <a:ext cx="2971800" cy="3703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Late-round lower offer requires high accept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probability and low walkaway risk.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Repeated/final formal seller offers create a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protected floor.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Reranker cannot undercut protected floor with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weak evidence.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Objective approximates expected episode reward,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not raw deal probability.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Shape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3200" b="1">
                <a:solidFill>
                  <a:srgbClr val="1C2B44"/>
                </a:solidFill>
                <a:latin typeface="Aptos"/>
              </a:rPr>
              <a:t>Trajectory Findings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500">
                <a:solidFill>
                  <a:srgbClr val="566374"/>
                </a:solidFill>
                <a:latin typeface="Aptos"/>
              </a:rPr>
              <a:t>What the saved dialogues reveal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ED8E4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94360" y="1417320"/>
            <a:ext cx="34290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6" name="Shape 6"/>
          <p:cNvSpPr txBox="1"/>
          <p:nvPr/>
        </p:nvSpPr>
        <p:spPr>
          <a:xfrm>
            <a:off x="777240" y="1581912"/>
            <a:ext cx="3063240" cy="347472"/>
          </a:xfrm>
          <a:prstGeom prst="roundRect">
            <a:avLst/>
          </a:prstGeom>
          <a:solidFill>
            <a:srgbClr val="2D60AA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Typed Belief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822960" y="2130552"/>
            <a:ext cx="2971800" cy="3703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Earlier failures: belief identified floor, but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generator still shaved below formal SELL.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Fix improved budget-safe acceptance behavior.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Expanded run shows scenario sensitivity remains.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4343400" y="1417320"/>
            <a:ext cx="35204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4526280" y="1581912"/>
            <a:ext cx="3154680" cy="347472"/>
          </a:xfrm>
          <a:prstGeom prst="roundRect">
            <a:avLst/>
          </a:prstGeom>
          <a:solidFill>
            <a:srgbClr val="10827C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CF Reranker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4572000" y="2130552"/>
            <a:ext cx="3063240" cy="3703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Earlier failures: weak low-price candidates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overrode full-framework target.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v2 reduces risky lower changes and protects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seller floors.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Current v2 reward improves, but sample remains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partial.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8229600" y="1417320"/>
            <a:ext cx="34290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12" name="Shape 12"/>
          <p:cNvSpPr txBox="1"/>
          <p:nvPr/>
        </p:nvSpPr>
        <p:spPr>
          <a:xfrm>
            <a:off x="8412480" y="1581912"/>
            <a:ext cx="3063240" cy="347472"/>
          </a:xfrm>
          <a:prstGeom prst="roundRect">
            <a:avLst/>
          </a:prstGeom>
          <a:solidFill>
            <a:srgbClr val="B23F3F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Remaining Gap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8458200" y="2130552"/>
            <a:ext cx="2971800" cy="3703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Paper RL buyer still much higher reward and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bargained ratio.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Need paired full-coverage evaluation before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final claims.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Training should target decision calibration.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Shape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3200" b="1">
                <a:solidFill>
                  <a:srgbClr val="1C2B44"/>
                </a:solidFill>
                <a:latin typeface="Aptos"/>
              </a:rPr>
              <a:t>Next Experiments: Multi-Agent Benchmark Expansion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500">
                <a:solidFill>
                  <a:srgbClr val="566374"/>
                </a:solidFill>
                <a:latin typeface="Aptos"/>
              </a:rPr>
              <a:t>Test whether belief/planner improvements generalize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ED8E4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94360" y="1417320"/>
            <a:ext cx="52120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6" name="Shape 6"/>
          <p:cNvSpPr txBox="1"/>
          <p:nvPr/>
        </p:nvSpPr>
        <p:spPr>
          <a:xfrm>
            <a:off x="777240" y="1581912"/>
            <a:ext cx="3200400" cy="347472"/>
          </a:xfrm>
          <a:prstGeom prst="roundRect">
            <a:avLst/>
          </a:prstGeom>
          <a:solidFill>
            <a:srgbClr val="2D60AA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Benchmarks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822960" y="2130552"/>
            <a:ext cx="4754880" cy="3703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RLVR negotiation: verifiable single-item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bargaining.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Terms-Bench / unified terms benchmark: multi-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issue contracts and belief calibration.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ASTRA/CasiNo: multi-issue camping-resource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negotiation with partner personas.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AgenticPay: fixed-seller buyer-side comparison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across 28 tasks.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6172200" y="1417320"/>
            <a:ext cx="52120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6355080" y="1581912"/>
            <a:ext cx="3200400" cy="347472"/>
          </a:xfrm>
          <a:prstGeom prst="roundRect">
            <a:avLst/>
          </a:prstGeom>
          <a:solidFill>
            <a:srgbClr val="368453"/>
          </a:solidFill>
          <a:ln>
            <a:noFill/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Baseline Matrix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400800" y="2130552"/>
            <a:ext cx="4754880" cy="3703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Direct prompt, CoT prompt, belief prompt.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Full A+B+C framework.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Typed evidence-grounded belief.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Full framework + counterfactual reranker.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• ASTRA-style, BOND-style, preference-estimation</a:t>
            </a:r>
          </a:p>
          <a:p>
            <a:pPr algn="l"/>
            <a:r>
              <a:rPr lang="en-US" sz="1400">
                <a:solidFill>
                  <a:srgbClr val="1C2B44"/>
                </a:solidFill>
                <a:latin typeface="Aptos"/>
              </a:rPr>
              <a:t>  belief baselines.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Shape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3200" b="1">
                <a:solidFill>
                  <a:srgbClr val="1C2B44"/>
                </a:solidFill>
                <a:latin typeface="Aptos"/>
              </a:rPr>
              <a:t>SFT / RL Plan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500">
                <a:solidFill>
                  <a:srgbClr val="566374"/>
                </a:solidFill>
                <a:latin typeface="Aptos"/>
              </a:rPr>
              <a:t>Train structured decision modules before training the whole dialogue agent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ED8E4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94360" y="1508760"/>
            <a:ext cx="685800" cy="502920"/>
          </a:xfrm>
          <a:prstGeom prst="rect">
            <a:avLst/>
          </a:prstGeom>
          <a:solidFill>
            <a:srgbClr val="1C2B44"/>
          </a:solidFill>
          <a:ln w="12700">
            <a:solidFill>
              <a:srgbClr val="FFFFFF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Stage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1280160" y="1508760"/>
            <a:ext cx="1600200" cy="502920"/>
          </a:xfrm>
          <a:prstGeom prst="rect">
            <a:avLst/>
          </a:prstGeom>
          <a:solidFill>
            <a:srgbClr val="1C2B44"/>
          </a:solidFill>
          <a:ln w="12700">
            <a:solidFill>
              <a:srgbClr val="FFFFFF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Method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2880360" y="1508760"/>
            <a:ext cx="2743200" cy="502920"/>
          </a:xfrm>
          <a:prstGeom prst="rect">
            <a:avLst/>
          </a:prstGeom>
          <a:solidFill>
            <a:srgbClr val="1C2B44"/>
          </a:solidFill>
          <a:ln w="12700">
            <a:solidFill>
              <a:srgbClr val="FFFFFF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5623560" y="1508760"/>
            <a:ext cx="4572000" cy="502920"/>
          </a:xfrm>
          <a:prstGeom prst="rect">
            <a:avLst/>
          </a:prstGeom>
          <a:solidFill>
            <a:srgbClr val="1C2B44"/>
          </a:solidFill>
          <a:ln w="12700">
            <a:solidFill>
              <a:srgbClr val="FFFFFF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/>
              </a:rPr>
              <a:t>Target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594360" y="2011680"/>
            <a:ext cx="685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en-US" sz="1500" b="1">
                <a:solidFill>
                  <a:srgbClr val="1C2B44"/>
                </a:solidFill>
                <a:latin typeface="Aptos"/>
              </a:rPr>
              <a:t>1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1280160" y="2011680"/>
            <a:ext cx="1600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Planner SFT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2880360" y="201168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Top-reward trajectories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5623560" y="2011680"/>
            <a:ext cx="4572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target price, accept/continue, concession size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594360" y="2697480"/>
            <a:ext cx="685800" cy="685800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en-US" sz="1500" b="1">
                <a:solidFill>
                  <a:srgbClr val="1C2B44"/>
                </a:solidFill>
                <a:latin typeface="Aptos"/>
              </a:rPr>
              <a:t>2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1280160" y="2697480"/>
            <a:ext cx="1600200" cy="685800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Reranker Pref.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2880360" y="2697480"/>
            <a:ext cx="2743200" cy="685800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Candidate comparisons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5623560" y="2697480"/>
            <a:ext cx="4572000" cy="685800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preferred offer under expected reward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594360" y="3383280"/>
            <a:ext cx="685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en-US" sz="1500" b="1">
                <a:solidFill>
                  <a:srgbClr val="1C2B44"/>
                </a:solidFill>
                <a:latin typeface="Aptos"/>
              </a:rPr>
              <a:t>3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1280160" y="3383280"/>
            <a:ext cx="1600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Belief Calib.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2880360" y="338328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Predicted vs actual responses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5623560" y="3383280"/>
            <a:ext cx="4572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accept/walkaway calibration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594360" y="4069080"/>
            <a:ext cx="685800" cy="685800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en-US" sz="1500" b="1">
                <a:solidFill>
                  <a:srgbClr val="1C2B44"/>
                </a:solidFill>
                <a:latin typeface="Aptos"/>
              </a:rPr>
              <a:t>4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1280160" y="4069080"/>
            <a:ext cx="1600200" cy="685800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RL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2880360" y="4069080"/>
            <a:ext cx="2743200" cy="685800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RLVR + multi-agent rollouts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5623560" y="4069080"/>
            <a:ext cx="4572000" cy="685800"/>
          </a:xfrm>
          <a:prstGeom prst="rect">
            <a:avLst/>
          </a:prstGeom>
          <a:solidFill>
            <a:srgbClr val="F1F6FB"/>
          </a:solidFill>
          <a:ln w="12700">
            <a:solidFill>
              <a:srgbClr val="CED8E4"/>
            </a:solidFill>
          </a:ln>
        </p:spPr>
        <p:txBody>
          <a:bodyPr wrap="square" lIns="91440" rIns="91440" tIns="45720" bIns="45720"/>
          <a:lstStyle/>
          <a:p>
            <a:pPr algn="ctr"/>
            <a:r>
              <a:rPr lang="en-US" sz="1500">
                <a:solidFill>
                  <a:srgbClr val="1C2B44"/>
                </a:solidFill>
                <a:latin typeface="Aptos"/>
              </a:rPr>
              <a:t>structured planner action policy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777240" y="5029200"/>
            <a:ext cx="10332720" cy="9144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900">
                <a:solidFill>
                  <a:srgbClr val="1C2B44"/>
                </a:solidFill>
                <a:latin typeface="Aptos"/>
              </a:rPr>
              <a:t>• Keep the generator mostly fixed to preserve format and interpretability.</a:t>
            </a:r>
          </a:p>
          <a:p>
            <a:pPr algn="l"/>
            <a:r>
              <a:rPr lang="en-US" sz="1900">
                <a:solidFill>
                  <a:srgbClr val="1C2B44"/>
                </a:solidFill>
                <a:latin typeface="Aptos"/>
              </a:rPr>
              <a:t>• Train planner/reranker decisions from paired rollouts over the same scenario and seed.</a:t>
            </a:r>
          </a:p>
          <a:p>
            <a:pPr algn="l"/>
            <a:r>
              <a:rPr lang="en-US" sz="1900">
                <a:solidFill>
                  <a:srgbClr val="1C2B44"/>
                </a:solidFill>
                <a:latin typeface="Aptos"/>
              </a:rPr>
              <a:t>• Use reward, deal outcome, bargained ratio, and overshoot as supervision signals.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" name="Shape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3200" b="1">
                <a:solidFill>
                  <a:srgbClr val="1C2B44"/>
                </a:solidFill>
                <a:latin typeface="Aptos"/>
              </a:rPr>
              <a:t>Immediate Action Items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1500">
                <a:solidFill>
                  <a:srgbClr val="566374"/>
                </a:solidFill>
                <a:latin typeface="Aptos"/>
              </a:rPr>
              <a:t>Before the next meeting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ED8E4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822960" y="1508760"/>
            <a:ext cx="10515600" cy="42062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en-US" sz="2200">
                <a:solidFill>
                  <a:srgbClr val="1C2B44"/>
                </a:solidFill>
                <a:latin typeface="Aptos"/>
              </a:rPr>
              <a:t>• Finish CF reranker v2 to 128 scenarios x 4 rollouts in a separate output directory.</a:t>
            </a:r>
          </a:p>
          <a:p>
            <a:pPr algn="l"/>
            <a:r>
              <a:rPr lang="en-US" sz="2200">
                <a:solidFill>
                  <a:srgbClr val="1C2B44"/>
                </a:solidFill>
                <a:latin typeface="Aptos"/>
              </a:rPr>
              <a:t>• Run paired comparison: full_framework vs typed_belief_fixed vs CF_reranker_v2 on identical</a:t>
            </a:r>
          </a:p>
          <a:p>
            <a:pPr algn="l"/>
            <a:r>
              <a:rPr lang="en-US" sz="2200">
                <a:solidFill>
                  <a:srgbClr val="1C2B44"/>
                </a:solidFill>
                <a:latin typeface="Aptos"/>
              </a:rPr>
              <a:t>  scenario/rollout schedule.</a:t>
            </a:r>
          </a:p>
          <a:p>
            <a:pPr algn="l"/>
            <a:r>
              <a:rPr lang="en-US" sz="2200">
                <a:solidFill>
                  <a:srgbClr val="1C2B44"/>
                </a:solidFill>
                <a:latin typeface="Aptos"/>
              </a:rPr>
              <a:t>• Export decision-level data: history, belief JSON, plan JSON, candidates, selected action, seller</a:t>
            </a:r>
          </a:p>
          <a:p>
            <a:pPr algn="l"/>
            <a:r>
              <a:rPr lang="en-US" sz="2200">
                <a:solidFill>
                  <a:srgbClr val="1C2B44"/>
                </a:solidFill>
                <a:latin typeface="Aptos"/>
              </a:rPr>
              <a:t>  response, final reward.</a:t>
            </a:r>
          </a:p>
          <a:p>
            <a:pPr algn="l"/>
            <a:r>
              <a:rPr lang="en-US" sz="2200">
                <a:solidFill>
                  <a:srgbClr val="1C2B44"/>
                </a:solidFill>
                <a:latin typeface="Aptos"/>
              </a:rPr>
              <a:t>• Port strongest variants to Terms-Bench and ASTRA.</a:t>
            </a:r>
          </a:p>
          <a:p>
            <a:pPr algn="l"/>
            <a:r>
              <a:rPr lang="en-US" sz="2200">
                <a:solidFill>
                  <a:srgbClr val="1C2B44"/>
                </a:solidFill>
                <a:latin typeface="Aptos"/>
              </a:rPr>
              <a:t>• Prepare planner SFT and reranker preference datasets.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LVR">
  <a:themeElements>
    <a:clrScheme name="RLVR">
      <a:dk1>
        <a:srgbClr val="1C2B44"/>
      </a:dk1>
      <a:lt1>
        <a:srgbClr val="FFFFFF"/>
      </a:lt1>
      <a:dk2>
        <a:srgbClr val="2D60AA"/>
      </a:dk2>
      <a:lt2>
        <a:srgbClr val="F7F9FC"/>
      </a:lt2>
      <a:accent1>
        <a:srgbClr val="2D60AA"/>
      </a:accent1>
      <a:accent2>
        <a:srgbClr val="10827C"/>
      </a:accent2>
      <a:accent3>
        <a:srgbClr val="368453"/>
      </a:accent3>
      <a:accent4>
        <a:srgbClr val="CA6F2B"/>
      </a:accent4>
      <a:accent5>
        <a:srgbClr val="B23F3F"/>
      </a:accent5>
      <a:accent6>
        <a:srgbClr val="566374"/>
      </a:accent6>
      <a:hlink>
        <a:srgbClr val="2D60AA"/>
      </a:hlink>
      <a:folHlink>
        <a:srgbClr val="10827C"/>
      </a:folHlink>
    </a:clrScheme>
    <a:fontScheme name="Aptos">
      <a:majorFont>
        <a:latin typeface="Aptos"/>
      </a:majorFont>
      <a:minorFont>
        <a:latin typeface="Aptos"/>
      </a:minorFont>
    </a:fontScheme>
    <a:fmtScheme name="RLVR"/>
  </a:themeElements>
</a:theme>
</file>