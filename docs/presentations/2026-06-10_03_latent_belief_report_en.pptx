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500" b="1">
                <a:solidFill>
                  <a:srgbClr val="141C2C"/>
                </a:solidFill>
                <a:latin typeface="Arial"/>
              </a:defRPr>
            </a:pPr>
            <a:r>
              <a:t>Negotiation as Planning under Latent Beliefs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1060704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0">
                <a:solidFill>
                  <a:srgbClr val="5B677C"/>
                </a:solidFill>
                <a:latin typeface="Arial"/>
              </a:defRPr>
            </a:pPr>
            <a:r>
              <a:t>AgenticPay preliminary experiments, modular buyer framework, and RL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862072"/>
            <a:ext cx="495604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Arial"/>
              </a:defRPr>
            </a:pPr>
            <a:r>
              <a:t>Research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73552"/>
            <a:ext cx="4956048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0">
                <a:solidFill>
                  <a:srgbClr val="141C2C"/>
                </a:solidFill>
                <a:latin typeface="Arial"/>
              </a:defRPr>
            </a:pPr>
            <a:r>
              <a:t>LLM negotiation should be modeled as sequential planning under hidden opponent beliefs, not as a single prompt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74320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743200"/>
            <a:ext cx="73152" cy="14173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2862072"/>
            <a:ext cx="491032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00897B"/>
                </a:solidFill>
                <a:latin typeface="Arial"/>
              </a:defRPr>
            </a:pPr>
            <a:r>
              <a:t>Current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3273552"/>
            <a:ext cx="4910328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0">
                <a:solidFill>
                  <a:srgbClr val="141C2C"/>
                </a:solidFill>
                <a:latin typeface="Arial"/>
              </a:defRPr>
            </a:pPr>
            <a:r>
              <a:t>Prompt-only belief model, strategic planner, and parser-safe naturalizer on AgenticPay Single28.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80760"/>
            <a:ext cx="107899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5B677C"/>
                </a:solidFill>
                <a:latin typeface="Arial"/>
              </a:defRPr>
            </a:pPr>
            <a:r>
              <a:t>Qwen3-14B • fixed repo-native SellerAgent • latest partial results updated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One-slide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What we can safely claim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4069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36192"/>
            <a:ext cx="317296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Arial"/>
              </a:defRPr>
            </a:pPr>
            <a: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47672"/>
            <a:ext cx="3172968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0">
                <a:solidFill>
                  <a:srgbClr val="141C2C"/>
                </a:solidFill>
                <a:latin typeface="Arial"/>
              </a:defRPr>
            </a:pPr>
            <a:r>
              <a:t>High deal rate can hide low utility, timeout risk, invalid contracts, and language-action mismatch.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747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4069080"/>
          </a:xfrm>
          <a:prstGeom prst="rect">
            <a:avLst/>
          </a:prstGeom>
          <a:solidFill>
            <a:srgbClr val="67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536192"/>
            <a:ext cx="317296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6752BE"/>
                </a:solidFill>
                <a:latin typeface="Arial"/>
              </a:defRPr>
            </a:pPr>
            <a: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47672"/>
            <a:ext cx="3172968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0">
                <a:solidFill>
                  <a:srgbClr val="141C2C"/>
                </a:solidFill>
                <a:latin typeface="Arial"/>
              </a:defRPr>
            </a:pPr>
            <a:r>
              <a:t>BeliefState → StrategicPlan → Naturalized buyer message. Each component can later be trained separately.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4747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73152" cy="4069080"/>
          </a:xfrm>
          <a:prstGeom prst="rect">
            <a:avLst/>
          </a:prstGeom>
          <a:solidFill>
            <a:srgbClr val="EA7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36192"/>
            <a:ext cx="317296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EA7C24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947672"/>
            <a:ext cx="3172968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0">
                <a:solidFill>
                  <a:srgbClr val="141C2C"/>
                </a:solidFill>
                <a:latin typeface="Arial"/>
              </a:defRPr>
            </a:pPr>
            <a:r>
              <a:t>Common-16 comparison: full framework improves deal rate and rounds, but mismatch/IR violations remain high.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6272784"/>
            <a:ext cx="2148840" cy="310896"/>
          </a:xfrm>
          <a:prstGeom prst="roundRect">
            <a:avLst/>
          </a:prstGeom>
          <a:solidFill>
            <a:srgbClr val="14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31850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Why Negotiation Is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The benchmark is partially observable, strategic, and language-mediated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Private information: buyer value, seller cost, and issue weights are hidden.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Long-horizon control: anchoring, concession timing, patience, and exit matter.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Multi-issue utility: price is only one part of the feasible agreement.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Language-action consistency: parser output and natural-language intent can diverge.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Robustness: seller persona, product value, and scenario changes break fixed templates.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600200"/>
            <a:ext cx="3749039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600200"/>
            <a:ext cx="73152" cy="1691640"/>
          </a:xfrm>
          <a:prstGeom prst="rect">
            <a:avLst/>
          </a:prstGeom>
          <a:solidFill>
            <a:srgbClr val="C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62671" y="1719072"/>
            <a:ext cx="3447287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C83E3E"/>
                </a:solidFill>
                <a:latin typeface="Arial"/>
              </a:defRPr>
            </a:pPr>
            <a:r>
              <a:t>Observed locally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1" y="2130552"/>
            <a:ext cx="3447287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t>Task2 times out at buyer $85 vs seller $86. Contract-mode tasks may show success=true but score failure due to IR violations.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657600"/>
            <a:ext cx="374903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3657600"/>
            <a:ext cx="73152" cy="13258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1" y="3776472"/>
            <a:ext cx="3447287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00897B"/>
                </a:solidFill>
                <a:latin typeface="Arial"/>
              </a:defRPr>
            </a:pPr>
            <a:r>
              <a:t>Metric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1" y="4187952"/>
            <a:ext cx="3447287" cy="73151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t>We must report score, utility, timeout, rounds, mismatch, and contract feasibility, not deal rate alone.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6272784"/>
            <a:ext cx="2148840" cy="310896"/>
          </a:xfrm>
          <a:prstGeom prst="roundRect">
            <a:avLst/>
          </a:prstGeom>
          <a:solidFill>
            <a:srgbClr val="14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31850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1.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Main Research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Positioning relative to recent LLM negotiation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937760"/>
              </a:tblGrid>
              <a:tr h="6553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Line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Relation to us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Prompt / CoT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Advancing AI Negotiations, NegotiationArena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Strong baseline, weak strategic discipline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Benchmarks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AgenticPay, MERIT, PrefBench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Expose utility, private info, and human preference gaps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External planners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ASTRA, OG-Narrator, 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Separate action from language, but belief coupling is 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End-to-end RL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RLVR, Bilateral Trade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Optimizes reward, but beliefs remain implicit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Belief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BOND, Preference Estimation, 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Auditable posterior, weaker planning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532120"/>
            <a:ext cx="10515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532120"/>
            <a:ext cx="73152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650992"/>
            <a:ext cx="1021384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Arial"/>
              </a:defRPr>
            </a:pPr>
            <a:r>
              <a:t>Our novelty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6062472"/>
            <a:ext cx="10213848" cy="914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141C2C"/>
                </a:solidFill>
                <a:latin typeface="Arial"/>
              </a:defRPr>
            </a:pPr>
            <a:r>
              <a:t>A negotiation-specific pipeline that couples explicit latent belief to typed planning and constrained naturalization, with a path to component-wise RL.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6272784"/>
            <a:ext cx="2148840" cy="310896"/>
          </a:xfrm>
          <a:prstGeom prst="roundRect">
            <a:avLst/>
          </a:prstGeom>
          <a:solidFill>
            <a:srgbClr val="14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31850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1. Related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Framework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Prompt-only prototype today; trainable modules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47672"/>
            <a:ext cx="184708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Arial"/>
              </a:defRPr>
            </a:pPr>
            <a:r>
              <a:t>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59152"/>
            <a:ext cx="1847088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141C2C"/>
                </a:solidFill>
                <a:latin typeface="Arial"/>
              </a:defRPr>
            </a:pPr>
            <a:r>
              <a:t>product</a:t>
            </a:r>
            <a:br/>
            <a:r>
              <a:t>history</a:t>
            </a:r>
            <a:br/>
            <a:r>
              <a:t>private max</a:t>
            </a:r>
            <a:br/>
            <a:r>
              <a:t>current offers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55448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3240" y="1554480"/>
            <a:ext cx="73152" cy="1965960"/>
          </a:xfrm>
          <a:prstGeom prst="rect">
            <a:avLst/>
          </a:prstGeom>
          <a:solidFill>
            <a:srgbClr val="67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673352"/>
            <a:ext cx="193852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6752BE"/>
                </a:solidFill>
                <a:latin typeface="Arial"/>
              </a:defRPr>
            </a:pPr>
            <a:r>
              <a:t>Belief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2084831"/>
            <a:ext cx="1938528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141C2C"/>
                </a:solidFill>
                <a:latin typeface="Arial"/>
              </a:defRPr>
            </a:pPr>
            <a:r>
              <a:t>reservation range</a:t>
            </a:r>
            <a:br/>
            <a:r>
              <a:t>trait intervals</a:t>
            </a:r>
            <a:br/>
            <a:r>
              <a:t>acceptable range</a:t>
            </a:r>
            <a:br/>
            <a:r>
              <a:t>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55448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1554480"/>
            <a:ext cx="73152" cy="1965960"/>
          </a:xfrm>
          <a:prstGeom prst="rect">
            <a:avLst/>
          </a:prstGeom>
          <a:solidFill>
            <a:srgbClr val="EA7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1673352"/>
            <a:ext cx="193852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EA7C24"/>
                </a:solidFill>
                <a:latin typeface="Arial"/>
              </a:defRPr>
            </a:pPr>
            <a:r>
              <a:t>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2084831"/>
            <a:ext cx="1938528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141C2C"/>
                </a:solidFill>
                <a:latin typeface="Arial"/>
              </a:defRPr>
            </a:pPr>
            <a:r>
              <a:t>strategic act</a:t>
            </a:r>
            <a:br/>
            <a:r>
              <a:t>target price</a:t>
            </a:r>
            <a:br/>
            <a:r>
              <a:t>guardrail</a:t>
            </a:r>
            <a:br/>
            <a:r>
              <a:t>priorities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554480"/>
            <a:ext cx="2331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554480"/>
            <a:ext cx="73152" cy="19659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2" y="1673352"/>
            <a:ext cx="2029967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00897B"/>
                </a:solidFill>
                <a:latin typeface="Arial"/>
              </a:defRPr>
            </a:pPr>
            <a:r>
              <a:t>Naturalizer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084831"/>
            <a:ext cx="2029967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141C2C"/>
                </a:solidFill>
                <a:latin typeface="Arial"/>
              </a:defRPr>
            </a:pPr>
            <a:r>
              <a:t>native BuyerAgent</a:t>
            </a:r>
            <a:br/>
            <a:r>
              <a:t>valid tags</a:t>
            </a:r>
            <a:br/>
            <a:r>
              <a:t>valid contract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429768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4297680"/>
            <a:ext cx="73152" cy="1143000"/>
          </a:xfrm>
          <a:prstGeom prst="rect">
            <a:avLst/>
          </a:prstGeom>
          <a:solidFill>
            <a:srgbClr val="35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4416552"/>
            <a:ext cx="267004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358B56"/>
                </a:solidFill>
                <a:latin typeface="Arial"/>
              </a:defRPr>
            </a:pPr>
            <a:r>
              <a:t>Fixed seller + Env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4828032"/>
            <a:ext cx="26700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141C2C"/>
                </a:solidFill>
                <a:latin typeface="Arial"/>
              </a:defRPr>
            </a:pPr>
            <a:r>
              <a:t>repo-native SellerAgent</a:t>
            </a:r>
            <a:br/>
            <a:r>
              <a:t>score, reward, trajectory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97480" y="2542032"/>
            <a:ext cx="365760" cy="0"/>
          </a:xfrm>
          <a:prstGeom prst="line">
            <a:avLst/>
          </a:prstGeom>
          <a:ln w="2794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03520" y="2542032"/>
            <a:ext cx="365760" cy="0"/>
          </a:xfrm>
          <a:prstGeom prst="line">
            <a:avLst/>
          </a:prstGeom>
          <a:ln w="2794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09560" y="2542032"/>
            <a:ext cx="365760" cy="0"/>
          </a:xfrm>
          <a:prstGeom prst="line">
            <a:avLst/>
          </a:prstGeom>
          <a:ln w="2794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858000" y="3547872"/>
            <a:ext cx="2560320" cy="749808"/>
          </a:xfrm>
          <a:prstGeom prst="line">
            <a:avLst/>
          </a:prstGeom>
          <a:ln w="2794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5806440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141C2C"/>
                </a:solidFill>
                <a:latin typeface="Arial"/>
              </a:defRPr>
            </a:pPr>
            <a:r>
              <a:t>Variants: repo_native / belief_prompt / planner_generator / full_framework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6272784"/>
            <a:ext cx="2148840" cy="310896"/>
          </a:xfrm>
          <a:prstGeom prst="roundRect">
            <a:avLst/>
          </a:prstGeom>
          <a:solidFill>
            <a:srgbClr val="14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31850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2.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Belief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Uncertainty-aware opponent state, not a hard seller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seller_reservation_range + confidence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likely_acceptable_price_range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seller_flexibility_range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seller_patience_range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seller_dominance_range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seller_friendliness_range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contract_term_preferences +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4663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73152" cy="1234440"/>
          </a:xfrm>
          <a:prstGeom prst="rect">
            <a:avLst/>
          </a:prstGeom>
          <a:solidFill>
            <a:srgbClr val="67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73352"/>
            <a:ext cx="436168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6752BE"/>
                </a:solidFill>
                <a:latin typeface="Arial"/>
              </a:defRPr>
            </a:pPr>
            <a:r>
              <a:t>Why intervals?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84831"/>
            <a:ext cx="4361688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t>A seller's private reservation value cannot usually be inferred as one exact number from a short dialogue.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154680"/>
            <a:ext cx="4663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3154680"/>
            <a:ext cx="73152" cy="12344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273552"/>
            <a:ext cx="436168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00897B"/>
                </a:solidFill>
                <a:latin typeface="Arial"/>
              </a:defRPr>
            </a:pPr>
            <a:r>
              <a:t>Why traits?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685032"/>
            <a:ext cx="4361688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t>Continuous trait intervals avoid premature labels such as greedy or warm, and give the planner calibrated uncertainty.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754880"/>
            <a:ext cx="4663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754880"/>
            <a:ext cx="73152" cy="960120"/>
          </a:xfrm>
          <a:prstGeom prst="rect">
            <a:avLst/>
          </a:prstGeom>
          <a:solidFill>
            <a:srgbClr val="EA7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873752"/>
            <a:ext cx="436168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EA7C24"/>
                </a:solidFill>
                <a:latin typeface="Arial"/>
              </a:defRPr>
            </a:pPr>
            <a:r>
              <a:t>Training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5285232"/>
            <a:ext cx="43616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t>Later: belief calibration and belief-policy coupling, not just final reward.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6272784"/>
            <a:ext cx="2148840" cy="310896"/>
          </a:xfrm>
          <a:prstGeom prst="roundRect">
            <a:avLst/>
          </a:prstGeom>
          <a:solidFill>
            <a:srgbClr val="14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31850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2. Belief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Strategic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Current action space is a prototype abstraction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55778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3154680"/>
              </a:tblGrid>
              <a:tr h="4963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anchor_low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buyer-favorable opening or re-anchor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hold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keep current offer when seller may concede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concede_small / 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controlled concession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ask_info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request evidence or clarify terms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accept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accept only if utility-safe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walk_away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avoid negative utility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0" y="1417320"/>
            <a:ext cx="4480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4173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536192"/>
            <a:ext cx="417880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Arial"/>
              </a:defRPr>
            </a:pPr>
            <a:r>
              <a:t>Grounding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1947672"/>
            <a:ext cx="4178808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141C2C"/>
                </a:solidFill>
                <a:latin typeface="Arial"/>
              </a:defRPr>
            </a:pPr>
            <a:r>
              <a:t>Inspired by anchoring, concession strategy, information exchange, reservation value/BATNA, and accept/walk-away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246120"/>
            <a:ext cx="4480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3246120"/>
            <a:ext cx="73152" cy="1325880"/>
          </a:xfrm>
          <a:prstGeom prst="rect">
            <a:avLst/>
          </a:prstGeom>
          <a:solidFill>
            <a:srgbClr val="35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3364991"/>
            <a:ext cx="417880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1">
                <a:solidFill>
                  <a:srgbClr val="358B56"/>
                </a:solidFill>
                <a:latin typeface="Arial"/>
              </a:defRPr>
            </a:pPr>
            <a:r>
              <a:t>Next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3776472"/>
            <a:ext cx="4178808" cy="73151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141C2C"/>
                </a:solidFill>
                <a:latin typeface="Arial"/>
              </a:defRPr>
            </a:pPr>
            <a:r>
              <a:t>Factorized schema: price_action + concession_level + info_action + contract_action + deal_action.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4241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C83E3E"/>
                </a:solidFill>
                <a:latin typeface="Arial"/>
              </a:defRPr>
            </a:pPr>
            <a:r>
              <a:t>Important: this is not claimed as a final literature-standard taxonomy.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6272784"/>
            <a:ext cx="2148840" cy="310896"/>
          </a:xfrm>
          <a:prstGeom prst="roundRect">
            <a:avLst/>
          </a:prstGeom>
          <a:solidFill>
            <a:srgbClr val="14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31850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2. Planner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Experiment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AgenticPay Single Buyer + Product + Seller subset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41732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321040"/>
              </a:tblGrid>
              <a:tr h="56170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AgenticPay Single28 subset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Qwen3-14B, BF16, seed=0, max_new_tokens=1024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Seller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Fixed repo-native SellerAgent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Buyer variants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repo_native, belief_prompt, planner_generator, full_framework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summary.json, task_results.jsonl, per-task logs, FRAMEWORK_TRACE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Caveat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Subset experiment; not full 111-task Table 1 reproduction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687568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Primary metrics: Deal, Timeout, GlobalScore, BuyerScore, SellerScore, BuyerReward, AvgRounds, Mismatch, Contract feasibility.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6272784"/>
            <a:ext cx="2148840" cy="310896"/>
          </a:xfrm>
          <a:prstGeom prst="roundRect">
            <a:avLst/>
          </a:prstGeom>
          <a:solidFill>
            <a:srgbClr val="14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1850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3. Setup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Latest Run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Resume runs are still partial for native and belief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417320"/>
          <a:ext cx="99669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554480"/>
                <a:gridCol w="1828800"/>
                <a:gridCol w="4069080"/>
              </a:tblGrid>
              <a:tr h="46634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Records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repo_native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26/28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resume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belief_prompt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16/28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resume run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planner_generator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28/28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full 28-task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full_framework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28/28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full 28-task run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16052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160520"/>
            <a:ext cx="73152" cy="1005840"/>
          </a:xfrm>
          <a:prstGeom prst="rect">
            <a:avLst/>
          </a:prstGeom>
          <a:solidFill>
            <a:srgbClr val="EA7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279392"/>
            <a:ext cx="449884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EA7C24"/>
                </a:solidFill>
                <a:latin typeface="Arial"/>
              </a:defRPr>
            </a:pPr>
            <a:r>
              <a:t>Comparable subset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690872"/>
            <a:ext cx="4498848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t>All four variants share Task1-Task16 results. This is the current fair comparison 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160520"/>
            <a:ext cx="4754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4160520"/>
            <a:ext cx="73152" cy="1005840"/>
          </a:xfrm>
          <a:prstGeom prst="rect">
            <a:avLst/>
          </a:prstGeom>
          <a:solidFill>
            <a:srgbClr val="C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4279392"/>
            <a:ext cx="445312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C83E3E"/>
                </a:solidFill>
                <a:latin typeface="Arial"/>
              </a:defRPr>
            </a:pPr>
            <a:r>
              <a:t>Use with caution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4690872"/>
            <a:ext cx="4453128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141C2C"/>
                </a:solidFill>
                <a:latin typeface="Arial"/>
              </a:defRPr>
            </a:pPr>
            <a:r>
              <a:t>Do not report the full 28-task four-way table until native and belief complete.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6272784"/>
            <a:ext cx="2148840" cy="310896"/>
          </a:xfrm>
          <a:prstGeom prst="roundRect">
            <a:avLst/>
          </a:prstGeom>
          <a:solidFill>
            <a:srgbClr val="14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31850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3.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Preliminary Common-16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Latest fair comparison across all four variants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98755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51560"/>
                <a:gridCol w="1143000"/>
                <a:gridCol w="1234440"/>
                <a:gridCol w="1143000"/>
                <a:gridCol w="1097280"/>
                <a:gridCol w="1280160"/>
                <a:gridCol w="1005840"/>
              </a:tblGrid>
              <a:tr h="44805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Deal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Timeout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Mismatch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Buyer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B.Reward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Rounds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31.98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35.85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10.88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Belief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0.69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18.68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25.57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8.62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Planner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20.93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20.33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5.75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Full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23.84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29.67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1.78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3.94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1605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160520"/>
            <a:ext cx="73152" cy="1143000"/>
          </a:xfrm>
          <a:prstGeom prst="rect">
            <a:avLst/>
          </a:prstGeom>
          <a:solidFill>
            <a:srgbClr val="358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279392"/>
            <a:ext cx="317296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1">
                <a:solidFill>
                  <a:srgbClr val="358B56"/>
                </a:solidFill>
                <a:latin typeface="Arial"/>
              </a:defRPr>
            </a:pPr>
            <a:r>
              <a:t>Current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690872"/>
            <a:ext cx="317296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141C2C"/>
                </a:solidFill>
                <a:latin typeface="Arial"/>
              </a:defRPr>
            </a:pPr>
            <a:r>
              <a:t>Full framework has the highest deal rate and lowest rounds on the comparable subset.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41605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4160520"/>
            <a:ext cx="73152" cy="1143000"/>
          </a:xfrm>
          <a:prstGeom prst="rect">
            <a:avLst/>
          </a:prstGeom>
          <a:solidFill>
            <a:srgbClr val="C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4279392"/>
            <a:ext cx="317296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1">
                <a:solidFill>
                  <a:srgbClr val="C83E3E"/>
                </a:solidFill>
                <a:latin typeface="Arial"/>
              </a:defRPr>
            </a:pPr>
            <a:r>
              <a:t>Current weakness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4690872"/>
            <a:ext cx="317296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141C2C"/>
                </a:solidFill>
                <a:latin typeface="Arial"/>
              </a:defRPr>
            </a:pPr>
            <a:r>
              <a:t>Mismatch and IR violations remain high, especially for planner/full on contract-mode tasks.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41605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416052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4279392"/>
            <a:ext cx="294436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Arial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4690872"/>
            <a:ext cx="294436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400" b="0">
                <a:solidFill>
                  <a:srgbClr val="141C2C"/>
                </a:solidFill>
                <a:latin typeface="Arial"/>
              </a:defRPr>
            </a:pPr>
            <a:r>
              <a:t>This supports feasibility, not final superiority. We need complete 28-task results and multi-seed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6272784"/>
            <a:ext cx="2148840" cy="310896"/>
          </a:xfrm>
          <a:prstGeom prst="roundRect">
            <a:avLst/>
          </a:prstGeom>
          <a:solidFill>
            <a:srgbClr val="14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31850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3.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What the Results Suggest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Prompt-only modularity is useful, but RL should target 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Full framework improves completion and efficiency on the shared partial set.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Planner-only closes many deals but often produces score-infeasible contracts.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Belief-only does not yet outperform the native prompt baseline.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The main bottleneck is not language fluency; it is utility-aware planning under latent beliefs.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The next research step is feasibility-aware RL over a typed planner, not just larger prompts.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6272784"/>
            <a:ext cx="2148840" cy="310896"/>
          </a:xfrm>
          <a:prstGeom prst="roundRect">
            <a:avLst/>
          </a:prstGeom>
          <a:solidFill>
            <a:srgbClr val="14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1850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3. Interpretation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Next To-do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From prompt-only prototype to RL-backed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107899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321040"/>
              </a:tblGrid>
              <a:tr h="6335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Concrete action</a:t>
                      </a:r>
                    </a:p>
                  </a:txBody>
                  <a:tcPr>
                    <a:solidFill>
                      <a:srgbClr val="141C2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Complete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Finish native and belief to 28/28; regenerate final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Diagnostics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Post-process all JSONL with contract utility and IR feasibility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Planner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Upgrade to factorized multi-issue strategic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RL objective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Optimize BuyerScore + IR feasibility - mismatch - timeout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SFT/RL typed planner; belief calibration; naturalizer consistency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Robustness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1C2C"/>
                          </a:solidFill>
                          <a:latin typeface="Arial"/>
                        </a:defRPr>
                      </a:pPr>
                      <a:r>
                        <a:t>Selected tasks × 5 seeds; seller personas; eventually full 111 tasks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897880"/>
            <a:ext cx="10424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</a:defRPr>
            </a:pPr>
            <a:r>
              <a:t>Core hypothesis: explicit belief + RL-trained typed planning can improve utility and feasibility more reliably than prompt-only scaffolding.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6272784"/>
            <a:ext cx="2148840" cy="310896"/>
          </a:xfrm>
          <a:prstGeom prst="roundRect">
            <a:avLst/>
          </a:prstGeom>
          <a:solidFill>
            <a:srgbClr val="14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1850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Plan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Meeting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How to frame the preliminary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The challenge is not negotiation success in the loose sense, but economically valid and robust agreement.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Our framework is best positioned against ASTRA, BOND, RLVR, Bilateral Trade, DAT, and Cicero-style strategic dialogue.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Current results show a real mechanism: modular planning changes deal rate and rounds.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Current failure modes are equally informative: fast agreement can be economically invalid.</a:t>
            </a:r>
          </a:p>
          <a:p>
            <a:pPr>
              <a:spcAft>
                <a:spcPts val="800"/>
              </a:spcAft>
              <a:defRPr sz="2000">
                <a:solidFill>
                  <a:srgbClr val="141C2C"/>
                </a:solidFill>
                <a:latin typeface="Arial"/>
              </a:defRPr>
            </a:pPr>
            <a:r>
              <a:t>Ask for feedback: should the next contribution focus on belief calibration, RL planner training, or feasibility-aware control?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6272784"/>
            <a:ext cx="2148840" cy="310896"/>
          </a:xfrm>
          <a:prstGeom prst="roundRect">
            <a:avLst/>
          </a:prstGeom>
          <a:solidFill>
            <a:srgbClr val="14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1850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Narrative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100" b="1">
                <a:solidFill>
                  <a:srgbClr val="141C2C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77C"/>
                </a:solidFill>
                <a:latin typeface="Arial"/>
              </a:defRPr>
            </a:pPr>
            <a:r>
              <a:t>Representative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41C2C"/>
                </a:solidFill>
                <a:latin typeface="Arial"/>
              </a:defRPr>
            </a:pPr>
            <a:r>
              <a:t>AgenticPay: A Multi-Agent LLM Negotiation System for Buyer-Seller Transactions, arXiv:2602.06008</a:t>
            </a:r>
          </a:p>
          <a:p>
            <a:pPr>
              <a:spcAft>
                <a:spcPts val="800"/>
              </a:spcAft>
              <a:defRPr sz="1600">
                <a:solidFill>
                  <a:srgbClr val="141C2C"/>
                </a:solidFill>
                <a:latin typeface="Arial"/>
              </a:defRPr>
            </a:pPr>
            <a:r>
              <a:t>ASTRA: Adaptive and Strategic Reasoning through Action in Dynamic Offer Optimization, arXiv:2503.07129</a:t>
            </a:r>
          </a:p>
          <a:p>
            <a:pPr>
              <a:spcAft>
                <a:spcPts val="800"/>
              </a:spcAft>
              <a:defRPr sz="1600">
                <a:solidFill>
                  <a:srgbClr val="141C2C"/>
                </a:solidFill>
                <a:latin typeface="Arial"/>
              </a:defRPr>
            </a:pPr>
            <a:r>
              <a:t>MERIT Feedback Elicits Better Bargaining in LLM Negotiators, arXiv:2602.10467</a:t>
            </a:r>
          </a:p>
          <a:p>
            <a:pPr>
              <a:spcAft>
                <a:spcPts val="800"/>
              </a:spcAft>
              <a:defRPr sz="1600">
                <a:solidFill>
                  <a:srgbClr val="141C2C"/>
                </a:solidFill>
                <a:latin typeface="Arial"/>
              </a:defRPr>
            </a:pPr>
            <a:r>
              <a:t>Instructing LLMs to Negotiate using RLVR, arXiv:2604.09855</a:t>
            </a:r>
          </a:p>
          <a:p>
            <a:pPr>
              <a:spcAft>
                <a:spcPts val="800"/>
              </a:spcAft>
              <a:defRPr sz="1600">
                <a:solidFill>
                  <a:srgbClr val="141C2C"/>
                </a:solidFill>
                <a:latin typeface="Arial"/>
              </a:defRPr>
            </a:pPr>
            <a:r>
              <a:t>Training Language Models for Bilateral Trade with Private Information, arXiv:2604.16472</a:t>
            </a:r>
          </a:p>
          <a:p>
            <a:pPr>
              <a:spcAft>
                <a:spcPts val="800"/>
              </a:spcAft>
              <a:defRPr sz="1600">
                <a:solidFill>
                  <a:srgbClr val="141C2C"/>
                </a:solidFill>
                <a:latin typeface="Arial"/>
              </a:defRPr>
            </a:pPr>
            <a:r>
              <a:t>BOND: Distilling Bayesian Belief States into LMs for Auditable Negotiation, arXiv:2605.04507</a:t>
            </a:r>
          </a:p>
          <a:p>
            <a:pPr>
              <a:spcAft>
                <a:spcPts val="800"/>
              </a:spcAft>
              <a:defRPr sz="1600">
                <a:solidFill>
                  <a:srgbClr val="141C2C"/>
                </a:solidFill>
                <a:latin typeface="Arial"/>
              </a:defRPr>
            </a:pPr>
            <a:r>
              <a:t>Preference Estimation via Opponent Modeling in Multi-Agent Negotiation, arXiv:2604.15687</a:t>
            </a:r>
          </a:p>
          <a:p>
            <a:pPr>
              <a:spcAft>
                <a:spcPts val="800"/>
              </a:spcAft>
              <a:defRPr sz="1600">
                <a:solidFill>
                  <a:srgbClr val="141C2C"/>
                </a:solidFill>
                <a:latin typeface="Arial"/>
              </a:defRPr>
            </a:pPr>
            <a:r>
              <a:t>Dialogue Action Tokens, arXiv:2406.11978; Cicero / Diplomacy, Science 2022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6272784"/>
            <a:ext cx="2148840" cy="310896"/>
          </a:xfrm>
          <a:prstGeom prst="roundRect">
            <a:avLst/>
          </a:prstGeom>
          <a:solidFill>
            <a:srgbClr val="14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1850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