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Negotiation Experiments and Belief-Centric Next Steps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6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600">
                <a:solidFill>
                  <a:srgbClr val="4B5563"/>
                </a:solidFill>
              </a:rPr>
              <a:t>AgenticPay, RLVR Negotiation, ASTRA, and a novelty roadmap for opponent modeling</a:t>
            </a:r>
          </a:p>
        </p:txBody>
      </p:sp>
      <p:sp>
        <p:nvSpPr>
          <p:cNvPr id="10" name="Rect"/>
          <p:cNvSpPr/>
          <p:nvPr/>
        </p:nvSpPr>
        <p:spPr>
          <a:xfrm>
            <a:off x="670000" y="1730000"/>
            <a:ext cx="10180000" cy="79000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</p:sp>
      <p:sp>
        <p:nvSpPr>
          <p:cNvPr id="11" name="TextBox"/>
          <p:cNvSpPr txBox="1"/>
          <p:nvPr/>
        </p:nvSpPr>
        <p:spPr>
          <a:xfrm>
            <a:off x="760000" y="1800000"/>
            <a:ext cx="10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800" b="1">
                <a:solidFill>
                  <a:srgbClr val="1F2937"/>
                </a:solidFill>
              </a:rPr>
              <a:t>Key question: does A+B+C improve negotiation, and where should novelty live beyond modular prompting?</a:t>
            </a:r>
          </a:p>
        </p:txBody>
      </p:sp>
      <p:sp>
        <p:nvSpPr>
          <p:cNvPr id="12" name="Rect"/>
          <p:cNvSpPr/>
          <p:nvPr/>
        </p:nvSpPr>
        <p:spPr>
          <a:xfrm>
            <a:off x="670000" y="2730000"/>
            <a:ext cx="10180000" cy="124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760000" y="2800000"/>
            <a:ext cx="10000000" cy="11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550">
                <a:solidFill>
                  <a:srgbClr val="1F2937"/>
                </a:solidFill>
              </a:rPr>
              <a:t>Short answer: the framework improves constraint discipline and robustness, but naive planner/generator can over-close or walk away. The next contribution should be a typed, evidence-grounded, counterfactual opponent belief model that the planner can actually optimize against.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Executive Takeaways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0000" y="160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AgenticPay: full framework improves deal rate vs CoT/direct and removes many seller-error artifacts, but belief-only has higher fixed-seller score and planner-generator often closes too cheaply for the buyer.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RLVR: prompt-only looks bad mainly because of budget overshoot penalties; after removing overshoot, reward is near zero. Full framework largely prevents overshoot and preserves slightly more buyer surplus.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ASTRA: rich belief version is much more stable than standard belief, with lower walk-away and higher joint score in early macro averages.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Cross-environment lesson: belief helps, but the planner must consume uncertainty and candidate-response predictions rather than just read a long belief JSON.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Experiment Coverage</a:t>
            </a:r>
          </a:p>
        </p:txBody>
      </p:sp>
      <p:sp>
        <p:nvSpPr>
          <p:cNvPr id="10" name="Rect"/>
          <p:cNvSpPr/>
          <p:nvPr/>
        </p:nvSpPr>
        <p:spPr>
          <a:xfrm>
            <a:off x="550000" y="1500000"/>
            <a:ext cx="1900000" cy="5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1" name="TextBox"/>
          <p:cNvSpPr txBox="1"/>
          <p:nvPr/>
        </p:nvSpPr>
        <p:spPr>
          <a:xfrm>
            <a:off x="610000" y="1550000"/>
            <a:ext cx="17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 b="1">
                <a:solidFill>
                  <a:srgbClr val="111827"/>
                </a:solidFill>
              </a:rPr>
              <a:t>Environment</a:t>
            </a:r>
          </a:p>
        </p:txBody>
      </p:sp>
      <p:sp>
        <p:nvSpPr>
          <p:cNvPr id="12" name="Rect"/>
          <p:cNvSpPr/>
          <p:nvPr/>
        </p:nvSpPr>
        <p:spPr>
          <a:xfrm>
            <a:off x="2450000" y="1500000"/>
            <a:ext cx="2350000" cy="5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2510000" y="1550000"/>
            <a:ext cx="223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 b="1">
                <a:solidFill>
                  <a:srgbClr val="111827"/>
                </a:solidFill>
              </a:rPr>
              <a:t>What is fixed</a:t>
            </a:r>
          </a:p>
        </p:txBody>
      </p:sp>
      <p:sp>
        <p:nvSpPr>
          <p:cNvPr id="14" name="Rect"/>
          <p:cNvSpPr/>
          <p:nvPr/>
        </p:nvSpPr>
        <p:spPr>
          <a:xfrm>
            <a:off x="4800000" y="1500000"/>
            <a:ext cx="2500000" cy="5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5" name="TextBox"/>
          <p:cNvSpPr txBox="1"/>
          <p:nvPr/>
        </p:nvSpPr>
        <p:spPr>
          <a:xfrm>
            <a:off x="4860000" y="1550000"/>
            <a:ext cx="23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 b="1">
                <a:solidFill>
                  <a:srgbClr val="111827"/>
                </a:solidFill>
              </a:rPr>
              <a:t>Buyer variants</a:t>
            </a:r>
          </a:p>
        </p:txBody>
      </p:sp>
      <p:sp>
        <p:nvSpPr>
          <p:cNvPr id="16" name="Rect"/>
          <p:cNvSpPr/>
          <p:nvPr/>
        </p:nvSpPr>
        <p:spPr>
          <a:xfrm>
            <a:off x="7300000" y="1500000"/>
            <a:ext cx="2500000" cy="5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7" name="TextBox"/>
          <p:cNvSpPr txBox="1"/>
          <p:nvPr/>
        </p:nvSpPr>
        <p:spPr>
          <a:xfrm>
            <a:off x="7360000" y="1550000"/>
            <a:ext cx="23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 b="1">
                <a:solidFill>
                  <a:srgbClr val="111827"/>
                </a:solidFill>
              </a:rPr>
              <a:t>Primary metrics</a:t>
            </a:r>
          </a:p>
        </p:txBody>
      </p:sp>
      <p:sp>
        <p:nvSpPr>
          <p:cNvPr id="18" name="Rect"/>
          <p:cNvSpPr/>
          <p:nvPr/>
        </p:nvSpPr>
        <p:spPr>
          <a:xfrm>
            <a:off x="9800000" y="1500000"/>
            <a:ext cx="2500000" cy="5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9" name="TextBox"/>
          <p:cNvSpPr txBox="1"/>
          <p:nvPr/>
        </p:nvSpPr>
        <p:spPr>
          <a:xfrm>
            <a:off x="9860000" y="1550000"/>
            <a:ext cx="23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 b="1">
                <a:solidFill>
                  <a:srgbClr val="111827"/>
                </a:solidFill>
              </a:rPr>
              <a:t>Current status</a:t>
            </a:r>
          </a:p>
        </p:txBody>
      </p:sp>
      <p:sp>
        <p:nvSpPr>
          <p:cNvPr id="20" name="Rect"/>
          <p:cNvSpPr/>
          <p:nvPr/>
        </p:nvSpPr>
        <p:spPr>
          <a:xfrm>
            <a:off x="550000" y="2020000"/>
            <a:ext cx="19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1" name="TextBox"/>
          <p:cNvSpPr txBox="1"/>
          <p:nvPr/>
        </p:nvSpPr>
        <p:spPr>
          <a:xfrm>
            <a:off x="610000" y="2070000"/>
            <a:ext cx="17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AgenticPay Single28</a:t>
            </a:r>
          </a:p>
        </p:txBody>
      </p:sp>
      <p:sp>
        <p:nvSpPr>
          <p:cNvPr id="22" name="Rect"/>
          <p:cNvSpPr/>
          <p:nvPr/>
        </p:nvSpPr>
        <p:spPr>
          <a:xfrm>
            <a:off x="2450000" y="2020000"/>
            <a:ext cx="235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3" name="TextBox"/>
          <p:cNvSpPr txBox="1"/>
          <p:nvPr/>
        </p:nvSpPr>
        <p:spPr>
          <a:xfrm>
            <a:off x="2510000" y="2070000"/>
            <a:ext cx="223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Native seller; 28 tasks</a:t>
            </a:r>
          </a:p>
        </p:txBody>
      </p:sp>
      <p:sp>
        <p:nvSpPr>
          <p:cNvPr id="24" name="Rect"/>
          <p:cNvSpPr/>
          <p:nvPr/>
        </p:nvSpPr>
        <p:spPr>
          <a:xfrm>
            <a:off x="4800000" y="2020000"/>
            <a:ext cx="25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5" name="TextBox"/>
          <p:cNvSpPr txBox="1"/>
          <p:nvPr/>
        </p:nvSpPr>
        <p:spPr>
          <a:xfrm>
            <a:off x="4860000" y="2070000"/>
            <a:ext cx="23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belief, CoT, full, planner-generator</a:t>
            </a:r>
          </a:p>
        </p:txBody>
      </p:sp>
      <p:sp>
        <p:nvSpPr>
          <p:cNvPr id="26" name="Rect"/>
          <p:cNvSpPr/>
          <p:nvPr/>
        </p:nvSpPr>
        <p:spPr>
          <a:xfrm>
            <a:off x="7300000" y="2020000"/>
            <a:ext cx="25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7" name="TextBox"/>
          <p:cNvSpPr txBox="1"/>
          <p:nvPr/>
        </p:nvSpPr>
        <p:spPr>
          <a:xfrm>
            <a:off x="7360000" y="2070000"/>
            <a:ext cx="23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fixed-seller buyer score, deal rate, IR violations</a:t>
            </a:r>
          </a:p>
        </p:txBody>
      </p:sp>
      <p:sp>
        <p:nvSpPr>
          <p:cNvPr id="28" name="Rect"/>
          <p:cNvSpPr/>
          <p:nvPr/>
        </p:nvSpPr>
        <p:spPr>
          <a:xfrm>
            <a:off x="9800000" y="2020000"/>
            <a:ext cx="25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9" name="TextBox"/>
          <p:cNvSpPr txBox="1"/>
          <p:nvPr/>
        </p:nvSpPr>
        <p:spPr>
          <a:xfrm>
            <a:off x="9860000" y="2070000"/>
            <a:ext cx="23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Qwen14 complete</a:t>
            </a:r>
          </a:p>
        </p:txBody>
      </p:sp>
      <p:sp>
        <p:nvSpPr>
          <p:cNvPr id="30" name="Rect"/>
          <p:cNvSpPr/>
          <p:nvPr/>
        </p:nvSpPr>
        <p:spPr>
          <a:xfrm>
            <a:off x="550000" y="2540000"/>
            <a:ext cx="190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31" name="TextBox"/>
          <p:cNvSpPr txBox="1"/>
          <p:nvPr/>
        </p:nvSpPr>
        <p:spPr>
          <a:xfrm>
            <a:off x="610000" y="2590000"/>
            <a:ext cx="17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RLVR Negotiation</a:t>
            </a:r>
          </a:p>
        </p:txBody>
      </p:sp>
      <p:sp>
        <p:nvSpPr>
          <p:cNvPr id="32" name="Rect"/>
          <p:cNvSpPr/>
          <p:nvPr/>
        </p:nvSpPr>
        <p:spPr>
          <a:xfrm>
            <a:off x="2450000" y="2540000"/>
            <a:ext cx="235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33" name="TextBox"/>
          <p:cNvSpPr txBox="1"/>
          <p:nvPr/>
        </p:nvSpPr>
        <p:spPr>
          <a:xfrm>
            <a:off x="2510000" y="2590000"/>
            <a:ext cx="223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Qwen3-30B seller; AmazonHistoryPrice</a:t>
            </a:r>
          </a:p>
        </p:txBody>
      </p:sp>
      <p:sp>
        <p:nvSpPr>
          <p:cNvPr id="34" name="Rect"/>
          <p:cNvSpPr/>
          <p:nvPr/>
        </p:nvSpPr>
        <p:spPr>
          <a:xfrm>
            <a:off x="4800000" y="2540000"/>
            <a:ext cx="250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35" name="TextBox"/>
          <p:cNvSpPr txBox="1"/>
          <p:nvPr/>
        </p:nvSpPr>
        <p:spPr>
          <a:xfrm>
            <a:off x="4860000" y="2590000"/>
            <a:ext cx="23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prompt, belief, full</a:t>
            </a:r>
          </a:p>
        </p:txBody>
      </p:sp>
      <p:sp>
        <p:nvSpPr>
          <p:cNvPr id="36" name="Rect"/>
          <p:cNvSpPr/>
          <p:nvPr/>
        </p:nvSpPr>
        <p:spPr>
          <a:xfrm>
            <a:off x="7300000" y="2540000"/>
            <a:ext cx="250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37" name="TextBox"/>
          <p:cNvSpPr txBox="1"/>
          <p:nvPr/>
        </p:nvSpPr>
        <p:spPr>
          <a:xfrm>
            <a:off x="7360000" y="2590000"/>
            <a:ext cx="23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reward, deal rate, bargain ratio, overshoot</a:t>
            </a:r>
          </a:p>
        </p:txBody>
      </p:sp>
      <p:sp>
        <p:nvSpPr>
          <p:cNvPr id="38" name="Rect"/>
          <p:cNvSpPr/>
          <p:nvPr/>
        </p:nvSpPr>
        <p:spPr>
          <a:xfrm>
            <a:off x="9800000" y="2540000"/>
            <a:ext cx="250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39" name="TextBox"/>
          <p:cNvSpPr txBox="1"/>
          <p:nvPr/>
        </p:nvSpPr>
        <p:spPr>
          <a:xfrm>
            <a:off x="9860000" y="2590000"/>
            <a:ext cx="23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strict run in progress</a:t>
            </a:r>
          </a:p>
        </p:txBody>
      </p:sp>
      <p:sp>
        <p:nvSpPr>
          <p:cNvPr id="40" name="Rect"/>
          <p:cNvSpPr/>
          <p:nvPr/>
        </p:nvSpPr>
        <p:spPr>
          <a:xfrm>
            <a:off x="550000" y="3060000"/>
            <a:ext cx="19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1" name="TextBox"/>
          <p:cNvSpPr txBox="1"/>
          <p:nvPr/>
        </p:nvSpPr>
        <p:spPr>
          <a:xfrm>
            <a:off x="610000" y="3110000"/>
            <a:ext cx="17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ASTRA / CaSiNo</a:t>
            </a:r>
          </a:p>
        </p:txBody>
      </p:sp>
      <p:sp>
        <p:nvSpPr>
          <p:cNvPr id="42" name="Rect"/>
          <p:cNvSpPr/>
          <p:nvPr/>
        </p:nvSpPr>
        <p:spPr>
          <a:xfrm>
            <a:off x="2450000" y="3060000"/>
            <a:ext cx="235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3" name="TextBox"/>
          <p:cNvSpPr txBox="1"/>
          <p:nvPr/>
        </p:nvSpPr>
        <p:spPr>
          <a:xfrm>
            <a:off x="2510000" y="3110000"/>
            <a:ext cx="223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Partner types: base/procot/greedy/fair</a:t>
            </a:r>
          </a:p>
        </p:txBody>
      </p:sp>
      <p:sp>
        <p:nvSpPr>
          <p:cNvPr id="44" name="Rect"/>
          <p:cNvSpPr/>
          <p:nvPr/>
        </p:nvSpPr>
        <p:spPr>
          <a:xfrm>
            <a:off x="4800000" y="3060000"/>
            <a:ext cx="25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5" name="TextBox"/>
          <p:cNvSpPr txBox="1"/>
          <p:nvPr/>
        </p:nvSpPr>
        <p:spPr>
          <a:xfrm>
            <a:off x="4860000" y="3110000"/>
            <a:ext cx="23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ASTRA ref, standard, rich belief</a:t>
            </a:r>
          </a:p>
        </p:txBody>
      </p:sp>
      <p:sp>
        <p:nvSpPr>
          <p:cNvPr id="46" name="Rect"/>
          <p:cNvSpPr/>
          <p:nvPr/>
        </p:nvSpPr>
        <p:spPr>
          <a:xfrm>
            <a:off x="7300000" y="3060000"/>
            <a:ext cx="25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7" name="TextBox"/>
          <p:cNvSpPr txBox="1"/>
          <p:nvPr/>
        </p:nvSpPr>
        <p:spPr>
          <a:xfrm>
            <a:off x="7360000" y="3110000"/>
            <a:ext cx="23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P1/P2 score, agreement, walk-away</a:t>
            </a:r>
          </a:p>
        </p:txBody>
      </p:sp>
      <p:sp>
        <p:nvSpPr>
          <p:cNvPr id="48" name="Rect"/>
          <p:cNvSpPr/>
          <p:nvPr/>
        </p:nvSpPr>
        <p:spPr>
          <a:xfrm>
            <a:off x="9800000" y="3060000"/>
            <a:ext cx="25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9" name="TextBox"/>
          <p:cNvSpPr txBox="1"/>
          <p:nvPr/>
        </p:nvSpPr>
        <p:spPr>
          <a:xfrm>
            <a:off x="9860000" y="3110000"/>
            <a:ext cx="23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80">
                <a:solidFill>
                  <a:srgbClr val="111827"/>
                </a:solidFill>
              </a:rPr>
              <a:t>in progress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AgenticPay Metrics: Qwen-14B, 28 Tasks</a:t>
            </a:r>
          </a:p>
        </p:txBody>
      </p:sp>
      <p:sp>
        <p:nvSpPr>
          <p:cNvPr id="10" name="Rect"/>
          <p:cNvSpPr/>
          <p:nvPr/>
        </p:nvSpPr>
        <p:spPr>
          <a:xfrm>
            <a:off x="610000" y="3980000"/>
            <a:ext cx="10580000" cy="9900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CD34D"/>
            </a:solidFill>
          </a:ln>
        </p:spPr>
      </p:sp>
      <p:sp>
        <p:nvSpPr>
          <p:cNvPr id="11" name="TextBox"/>
          <p:cNvSpPr txBox="1"/>
          <p:nvPr/>
        </p:nvSpPr>
        <p:spPr>
          <a:xfrm>
            <a:off x="700000" y="4050000"/>
            <a:ext cx="104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250">
                <a:solidFill>
                  <a:srgbClr val="1F2937"/>
                </a:solidFill>
              </a:rPr>
              <a:t>Interpretation: full framework is more efficient and closes more often, but its buyer score is not best. Planner-generator maximizes agreement speed but often gives too much seller surplus. Belief prompt remains strong on fixed-seller score, suggesting belief quality matters more than decomposition alone.</a:t>
            </a:r>
          </a:p>
        </p:txBody>
      </p:sp>
      <p:sp>
        <p:nvSpPr>
          <p:cNvPr id="12" name="Rect"/>
          <p:cNvSpPr/>
          <p:nvPr/>
        </p:nvSpPr>
        <p:spPr>
          <a:xfrm>
            <a:off x="400000" y="1450000"/>
            <a:ext cx="175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460000" y="1500000"/>
            <a:ext cx="16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Buyer</a:t>
            </a:r>
          </a:p>
        </p:txBody>
      </p:sp>
      <p:sp>
        <p:nvSpPr>
          <p:cNvPr id="14" name="Rect"/>
          <p:cNvSpPr/>
          <p:nvPr/>
        </p:nvSpPr>
        <p:spPr>
          <a:xfrm>
            <a:off x="2150000" y="1450000"/>
            <a:ext cx="75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5" name="TextBox"/>
          <p:cNvSpPr txBox="1"/>
          <p:nvPr/>
        </p:nvSpPr>
        <p:spPr>
          <a:xfrm>
            <a:off x="2210000" y="1500000"/>
            <a:ext cx="6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n</a:t>
            </a:r>
          </a:p>
        </p:txBody>
      </p:sp>
      <p:sp>
        <p:nvSpPr>
          <p:cNvPr id="16" name="Rect"/>
          <p:cNvSpPr/>
          <p:nvPr/>
        </p:nvSpPr>
        <p:spPr>
          <a:xfrm>
            <a:off x="2900000" y="1450000"/>
            <a:ext cx="95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7" name="TextBox"/>
          <p:cNvSpPr txBox="1"/>
          <p:nvPr/>
        </p:nvSpPr>
        <p:spPr>
          <a:xfrm>
            <a:off x="2960000" y="150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Deal</a:t>
            </a:r>
          </a:p>
        </p:txBody>
      </p:sp>
      <p:sp>
        <p:nvSpPr>
          <p:cNvPr id="18" name="Rect"/>
          <p:cNvSpPr/>
          <p:nvPr/>
        </p:nvSpPr>
        <p:spPr>
          <a:xfrm>
            <a:off x="3850000" y="1450000"/>
            <a:ext cx="145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9" name="TextBox"/>
          <p:cNvSpPr txBox="1"/>
          <p:nvPr/>
        </p:nvSpPr>
        <p:spPr>
          <a:xfrm>
            <a:off x="3910000" y="150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Fixed-seller</a:t>
            </a:r>
          </a:p>
        </p:txBody>
      </p:sp>
      <p:sp>
        <p:nvSpPr>
          <p:cNvPr id="20" name="Rect"/>
          <p:cNvSpPr/>
          <p:nvPr/>
        </p:nvSpPr>
        <p:spPr>
          <a:xfrm>
            <a:off x="5300000" y="1450000"/>
            <a:ext cx="145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1" name="TextBox"/>
          <p:cNvSpPr txBox="1"/>
          <p:nvPr/>
        </p:nvSpPr>
        <p:spPr>
          <a:xfrm>
            <a:off x="5360000" y="150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No-seller-error</a:t>
            </a:r>
          </a:p>
        </p:txBody>
      </p:sp>
      <p:sp>
        <p:nvSpPr>
          <p:cNvPr id="22" name="Rect"/>
          <p:cNvSpPr/>
          <p:nvPr/>
        </p:nvSpPr>
        <p:spPr>
          <a:xfrm>
            <a:off x="6750000" y="1450000"/>
            <a:ext cx="145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3" name="TextBox"/>
          <p:cNvSpPr txBox="1"/>
          <p:nvPr/>
        </p:nvSpPr>
        <p:spPr>
          <a:xfrm>
            <a:off x="6810000" y="150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Deals-only</a:t>
            </a:r>
          </a:p>
        </p:txBody>
      </p:sp>
      <p:sp>
        <p:nvSpPr>
          <p:cNvPr id="24" name="Rect"/>
          <p:cNvSpPr/>
          <p:nvPr/>
        </p:nvSpPr>
        <p:spPr>
          <a:xfrm>
            <a:off x="8200000" y="1450000"/>
            <a:ext cx="120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5" name="TextBox"/>
          <p:cNvSpPr txBox="1"/>
          <p:nvPr/>
        </p:nvSpPr>
        <p:spPr>
          <a:xfrm>
            <a:off x="8260000" y="150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IR viol.</a:t>
            </a:r>
          </a:p>
        </p:txBody>
      </p:sp>
      <p:sp>
        <p:nvSpPr>
          <p:cNvPr id="26" name="Rect"/>
          <p:cNvSpPr/>
          <p:nvPr/>
        </p:nvSpPr>
        <p:spPr>
          <a:xfrm>
            <a:off x="9400000" y="1450000"/>
            <a:ext cx="95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7" name="TextBox"/>
          <p:cNvSpPr txBox="1"/>
          <p:nvPr/>
        </p:nvSpPr>
        <p:spPr>
          <a:xfrm>
            <a:off x="9460000" y="150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Rounds</a:t>
            </a:r>
          </a:p>
        </p:txBody>
      </p:sp>
      <p:sp>
        <p:nvSpPr>
          <p:cNvPr id="28" name="Rect"/>
          <p:cNvSpPr/>
          <p:nvPr/>
        </p:nvSpPr>
        <p:spPr>
          <a:xfrm>
            <a:off x="400000" y="1870000"/>
            <a:ext cx="17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9" name="TextBox"/>
          <p:cNvSpPr txBox="1"/>
          <p:nvPr/>
        </p:nvSpPr>
        <p:spPr>
          <a:xfrm>
            <a:off x="460000" y="1920000"/>
            <a:ext cx="16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belief_prompt</a:t>
            </a:r>
          </a:p>
        </p:txBody>
      </p:sp>
      <p:sp>
        <p:nvSpPr>
          <p:cNvPr id="30" name="Rect"/>
          <p:cNvSpPr/>
          <p:nvPr/>
        </p:nvSpPr>
        <p:spPr>
          <a:xfrm>
            <a:off x="2150000" y="1870000"/>
            <a:ext cx="7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1" name="TextBox"/>
          <p:cNvSpPr txBox="1"/>
          <p:nvPr/>
        </p:nvSpPr>
        <p:spPr>
          <a:xfrm>
            <a:off x="2210000" y="1920000"/>
            <a:ext cx="6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28</a:t>
            </a:r>
          </a:p>
        </p:txBody>
      </p:sp>
      <p:sp>
        <p:nvSpPr>
          <p:cNvPr id="32" name="Rect"/>
          <p:cNvSpPr/>
          <p:nvPr/>
        </p:nvSpPr>
        <p:spPr>
          <a:xfrm>
            <a:off x="2900000" y="1870000"/>
            <a:ext cx="9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3" name="TextBox"/>
          <p:cNvSpPr txBox="1"/>
          <p:nvPr/>
        </p:nvSpPr>
        <p:spPr>
          <a:xfrm>
            <a:off x="2960000" y="192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0.714</a:t>
            </a:r>
          </a:p>
        </p:txBody>
      </p:sp>
      <p:sp>
        <p:nvSpPr>
          <p:cNvPr id="34" name="Rect"/>
          <p:cNvSpPr/>
          <p:nvPr/>
        </p:nvSpPr>
        <p:spPr>
          <a:xfrm>
            <a:off x="3850000" y="1870000"/>
            <a:ext cx="14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5" name="TextBox"/>
          <p:cNvSpPr txBox="1"/>
          <p:nvPr/>
        </p:nvSpPr>
        <p:spPr>
          <a:xfrm>
            <a:off x="3910000" y="192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31.91</a:t>
            </a:r>
          </a:p>
        </p:txBody>
      </p:sp>
      <p:sp>
        <p:nvSpPr>
          <p:cNvPr id="36" name="Rect"/>
          <p:cNvSpPr/>
          <p:nvPr/>
        </p:nvSpPr>
        <p:spPr>
          <a:xfrm>
            <a:off x="5300000" y="1870000"/>
            <a:ext cx="14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7" name="TextBox"/>
          <p:cNvSpPr txBox="1"/>
          <p:nvPr/>
        </p:nvSpPr>
        <p:spPr>
          <a:xfrm>
            <a:off x="5360000" y="192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24.59</a:t>
            </a:r>
          </a:p>
        </p:txBody>
      </p:sp>
      <p:sp>
        <p:nvSpPr>
          <p:cNvPr id="38" name="Rect"/>
          <p:cNvSpPr/>
          <p:nvPr/>
        </p:nvSpPr>
        <p:spPr>
          <a:xfrm>
            <a:off x="6750000" y="1870000"/>
            <a:ext cx="14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9" name="TextBox"/>
          <p:cNvSpPr txBox="1"/>
          <p:nvPr/>
        </p:nvSpPr>
        <p:spPr>
          <a:xfrm>
            <a:off x="6810000" y="192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30.05</a:t>
            </a:r>
          </a:p>
        </p:txBody>
      </p:sp>
      <p:sp>
        <p:nvSpPr>
          <p:cNvPr id="40" name="Rect"/>
          <p:cNvSpPr/>
          <p:nvPr/>
        </p:nvSpPr>
        <p:spPr>
          <a:xfrm>
            <a:off x="8200000" y="1870000"/>
            <a:ext cx="12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1" name="TextBox"/>
          <p:cNvSpPr txBox="1"/>
          <p:nvPr/>
        </p:nvSpPr>
        <p:spPr>
          <a:xfrm>
            <a:off x="8260000" y="192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0.500</a:t>
            </a:r>
          </a:p>
        </p:txBody>
      </p:sp>
      <p:sp>
        <p:nvSpPr>
          <p:cNvPr id="42" name="Rect"/>
          <p:cNvSpPr/>
          <p:nvPr/>
        </p:nvSpPr>
        <p:spPr>
          <a:xfrm>
            <a:off x="9400000" y="1870000"/>
            <a:ext cx="9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3" name="TextBox"/>
          <p:cNvSpPr txBox="1"/>
          <p:nvPr/>
        </p:nvSpPr>
        <p:spPr>
          <a:xfrm>
            <a:off x="9460000" y="192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9.29</a:t>
            </a:r>
          </a:p>
        </p:txBody>
      </p:sp>
      <p:sp>
        <p:nvSpPr>
          <p:cNvPr id="44" name="Rect"/>
          <p:cNvSpPr/>
          <p:nvPr/>
        </p:nvSpPr>
        <p:spPr>
          <a:xfrm>
            <a:off x="400000" y="2290000"/>
            <a:ext cx="17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5" name="TextBox"/>
          <p:cNvSpPr txBox="1"/>
          <p:nvPr/>
        </p:nvSpPr>
        <p:spPr>
          <a:xfrm>
            <a:off x="460000" y="2340000"/>
            <a:ext cx="16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cot_prompt</a:t>
            </a:r>
          </a:p>
        </p:txBody>
      </p:sp>
      <p:sp>
        <p:nvSpPr>
          <p:cNvPr id="46" name="Rect"/>
          <p:cNvSpPr/>
          <p:nvPr/>
        </p:nvSpPr>
        <p:spPr>
          <a:xfrm>
            <a:off x="2150000" y="2290000"/>
            <a:ext cx="7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7" name="TextBox"/>
          <p:cNvSpPr txBox="1"/>
          <p:nvPr/>
        </p:nvSpPr>
        <p:spPr>
          <a:xfrm>
            <a:off x="2210000" y="2340000"/>
            <a:ext cx="6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28</a:t>
            </a:r>
          </a:p>
        </p:txBody>
      </p:sp>
      <p:sp>
        <p:nvSpPr>
          <p:cNvPr id="48" name="Rect"/>
          <p:cNvSpPr/>
          <p:nvPr/>
        </p:nvSpPr>
        <p:spPr>
          <a:xfrm>
            <a:off x="2900000" y="2290000"/>
            <a:ext cx="9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9" name="TextBox"/>
          <p:cNvSpPr txBox="1"/>
          <p:nvPr/>
        </p:nvSpPr>
        <p:spPr>
          <a:xfrm>
            <a:off x="2960000" y="234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0.607</a:t>
            </a:r>
          </a:p>
        </p:txBody>
      </p:sp>
      <p:sp>
        <p:nvSpPr>
          <p:cNvPr id="50" name="Rect"/>
          <p:cNvSpPr/>
          <p:nvPr/>
        </p:nvSpPr>
        <p:spPr>
          <a:xfrm>
            <a:off x="3850000" y="2290000"/>
            <a:ext cx="14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1" name="TextBox"/>
          <p:cNvSpPr txBox="1"/>
          <p:nvPr/>
        </p:nvSpPr>
        <p:spPr>
          <a:xfrm>
            <a:off x="3910000" y="234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26.86</a:t>
            </a:r>
          </a:p>
        </p:txBody>
      </p:sp>
      <p:sp>
        <p:nvSpPr>
          <p:cNvPr id="52" name="Rect"/>
          <p:cNvSpPr/>
          <p:nvPr/>
        </p:nvSpPr>
        <p:spPr>
          <a:xfrm>
            <a:off x="5300000" y="2290000"/>
            <a:ext cx="14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3" name="TextBox"/>
          <p:cNvSpPr txBox="1"/>
          <p:nvPr/>
        </p:nvSpPr>
        <p:spPr>
          <a:xfrm>
            <a:off x="5360000" y="234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23.02</a:t>
            </a:r>
          </a:p>
        </p:txBody>
      </p:sp>
      <p:sp>
        <p:nvSpPr>
          <p:cNvPr id="54" name="Rect"/>
          <p:cNvSpPr/>
          <p:nvPr/>
        </p:nvSpPr>
        <p:spPr>
          <a:xfrm>
            <a:off x="6750000" y="2290000"/>
            <a:ext cx="14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5" name="TextBox"/>
          <p:cNvSpPr txBox="1"/>
          <p:nvPr/>
        </p:nvSpPr>
        <p:spPr>
          <a:xfrm>
            <a:off x="6810000" y="234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35.14</a:t>
            </a:r>
          </a:p>
        </p:txBody>
      </p:sp>
      <p:sp>
        <p:nvSpPr>
          <p:cNvPr id="56" name="Rect"/>
          <p:cNvSpPr/>
          <p:nvPr/>
        </p:nvSpPr>
        <p:spPr>
          <a:xfrm>
            <a:off x="8200000" y="2290000"/>
            <a:ext cx="120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7" name="TextBox"/>
          <p:cNvSpPr txBox="1"/>
          <p:nvPr/>
        </p:nvSpPr>
        <p:spPr>
          <a:xfrm>
            <a:off x="8260000" y="234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0.455</a:t>
            </a:r>
          </a:p>
        </p:txBody>
      </p:sp>
      <p:sp>
        <p:nvSpPr>
          <p:cNvPr id="58" name="Rect"/>
          <p:cNvSpPr/>
          <p:nvPr/>
        </p:nvSpPr>
        <p:spPr>
          <a:xfrm>
            <a:off x="9400000" y="2290000"/>
            <a:ext cx="9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9" name="TextBox"/>
          <p:cNvSpPr txBox="1"/>
          <p:nvPr/>
        </p:nvSpPr>
        <p:spPr>
          <a:xfrm>
            <a:off x="9460000" y="234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10.11</a:t>
            </a:r>
          </a:p>
        </p:txBody>
      </p:sp>
      <p:sp>
        <p:nvSpPr>
          <p:cNvPr id="60" name="Rect"/>
          <p:cNvSpPr/>
          <p:nvPr/>
        </p:nvSpPr>
        <p:spPr>
          <a:xfrm>
            <a:off x="400000" y="2710000"/>
            <a:ext cx="17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1" name="TextBox"/>
          <p:cNvSpPr txBox="1"/>
          <p:nvPr/>
        </p:nvSpPr>
        <p:spPr>
          <a:xfrm>
            <a:off x="460000" y="2760000"/>
            <a:ext cx="16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full_framework</a:t>
            </a:r>
          </a:p>
        </p:txBody>
      </p:sp>
      <p:sp>
        <p:nvSpPr>
          <p:cNvPr id="62" name="Rect"/>
          <p:cNvSpPr/>
          <p:nvPr/>
        </p:nvSpPr>
        <p:spPr>
          <a:xfrm>
            <a:off x="2150000" y="2710000"/>
            <a:ext cx="7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3" name="TextBox"/>
          <p:cNvSpPr txBox="1"/>
          <p:nvPr/>
        </p:nvSpPr>
        <p:spPr>
          <a:xfrm>
            <a:off x="2210000" y="2760000"/>
            <a:ext cx="6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28</a:t>
            </a:r>
          </a:p>
        </p:txBody>
      </p:sp>
      <p:sp>
        <p:nvSpPr>
          <p:cNvPr id="64" name="Rect"/>
          <p:cNvSpPr/>
          <p:nvPr/>
        </p:nvSpPr>
        <p:spPr>
          <a:xfrm>
            <a:off x="2900000" y="2710000"/>
            <a:ext cx="9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5" name="TextBox"/>
          <p:cNvSpPr txBox="1"/>
          <p:nvPr/>
        </p:nvSpPr>
        <p:spPr>
          <a:xfrm>
            <a:off x="2960000" y="276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0.821</a:t>
            </a:r>
          </a:p>
        </p:txBody>
      </p:sp>
      <p:sp>
        <p:nvSpPr>
          <p:cNvPr id="66" name="Rect"/>
          <p:cNvSpPr/>
          <p:nvPr/>
        </p:nvSpPr>
        <p:spPr>
          <a:xfrm>
            <a:off x="3850000" y="2710000"/>
            <a:ext cx="14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7" name="TextBox"/>
          <p:cNvSpPr txBox="1"/>
          <p:nvPr/>
        </p:nvSpPr>
        <p:spPr>
          <a:xfrm>
            <a:off x="3910000" y="276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23.61</a:t>
            </a:r>
          </a:p>
        </p:txBody>
      </p:sp>
      <p:sp>
        <p:nvSpPr>
          <p:cNvPr id="68" name="Rect"/>
          <p:cNvSpPr/>
          <p:nvPr/>
        </p:nvSpPr>
        <p:spPr>
          <a:xfrm>
            <a:off x="5300000" y="2710000"/>
            <a:ext cx="14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9" name="TextBox"/>
          <p:cNvSpPr txBox="1"/>
          <p:nvPr/>
        </p:nvSpPr>
        <p:spPr>
          <a:xfrm>
            <a:off x="5360000" y="276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23.71</a:t>
            </a:r>
          </a:p>
        </p:txBody>
      </p:sp>
      <p:sp>
        <p:nvSpPr>
          <p:cNvPr id="70" name="Rect"/>
          <p:cNvSpPr/>
          <p:nvPr/>
        </p:nvSpPr>
        <p:spPr>
          <a:xfrm>
            <a:off x="6750000" y="2710000"/>
            <a:ext cx="14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1" name="TextBox"/>
          <p:cNvSpPr txBox="1"/>
          <p:nvPr/>
        </p:nvSpPr>
        <p:spPr>
          <a:xfrm>
            <a:off x="6810000" y="276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28.31</a:t>
            </a:r>
          </a:p>
        </p:txBody>
      </p:sp>
      <p:sp>
        <p:nvSpPr>
          <p:cNvPr id="72" name="Rect"/>
          <p:cNvSpPr/>
          <p:nvPr/>
        </p:nvSpPr>
        <p:spPr>
          <a:xfrm>
            <a:off x="8200000" y="2710000"/>
            <a:ext cx="12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3" name="TextBox"/>
          <p:cNvSpPr txBox="1"/>
          <p:nvPr/>
        </p:nvSpPr>
        <p:spPr>
          <a:xfrm>
            <a:off x="8260000" y="276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0.563</a:t>
            </a:r>
          </a:p>
        </p:txBody>
      </p:sp>
      <p:sp>
        <p:nvSpPr>
          <p:cNvPr id="74" name="Rect"/>
          <p:cNvSpPr/>
          <p:nvPr/>
        </p:nvSpPr>
        <p:spPr>
          <a:xfrm>
            <a:off x="9400000" y="2710000"/>
            <a:ext cx="9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5" name="TextBox"/>
          <p:cNvSpPr txBox="1"/>
          <p:nvPr/>
        </p:nvSpPr>
        <p:spPr>
          <a:xfrm>
            <a:off x="9460000" y="276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6.46</a:t>
            </a:r>
          </a:p>
        </p:txBody>
      </p:sp>
      <p:sp>
        <p:nvSpPr>
          <p:cNvPr id="76" name="Rect"/>
          <p:cNvSpPr/>
          <p:nvPr/>
        </p:nvSpPr>
        <p:spPr>
          <a:xfrm>
            <a:off x="400000" y="3130000"/>
            <a:ext cx="17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77" name="TextBox"/>
          <p:cNvSpPr txBox="1"/>
          <p:nvPr/>
        </p:nvSpPr>
        <p:spPr>
          <a:xfrm>
            <a:off x="460000" y="3180000"/>
            <a:ext cx="16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planner_generator</a:t>
            </a:r>
          </a:p>
        </p:txBody>
      </p:sp>
      <p:sp>
        <p:nvSpPr>
          <p:cNvPr id="78" name="Rect"/>
          <p:cNvSpPr/>
          <p:nvPr/>
        </p:nvSpPr>
        <p:spPr>
          <a:xfrm>
            <a:off x="2150000" y="3130000"/>
            <a:ext cx="7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79" name="TextBox"/>
          <p:cNvSpPr txBox="1"/>
          <p:nvPr/>
        </p:nvSpPr>
        <p:spPr>
          <a:xfrm>
            <a:off x="2210000" y="3180000"/>
            <a:ext cx="6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28</a:t>
            </a:r>
          </a:p>
        </p:txBody>
      </p:sp>
      <p:sp>
        <p:nvSpPr>
          <p:cNvPr id="80" name="Rect"/>
          <p:cNvSpPr/>
          <p:nvPr/>
        </p:nvSpPr>
        <p:spPr>
          <a:xfrm>
            <a:off x="2900000" y="3130000"/>
            <a:ext cx="9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81" name="TextBox"/>
          <p:cNvSpPr txBox="1"/>
          <p:nvPr/>
        </p:nvSpPr>
        <p:spPr>
          <a:xfrm>
            <a:off x="2960000" y="318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0.929</a:t>
            </a:r>
          </a:p>
        </p:txBody>
      </p:sp>
      <p:sp>
        <p:nvSpPr>
          <p:cNvPr id="82" name="Rect"/>
          <p:cNvSpPr/>
          <p:nvPr/>
        </p:nvSpPr>
        <p:spPr>
          <a:xfrm>
            <a:off x="3850000" y="3130000"/>
            <a:ext cx="14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83" name="TextBox"/>
          <p:cNvSpPr txBox="1"/>
          <p:nvPr/>
        </p:nvSpPr>
        <p:spPr>
          <a:xfrm>
            <a:off x="3910000" y="318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18.90</a:t>
            </a:r>
          </a:p>
        </p:txBody>
      </p:sp>
      <p:sp>
        <p:nvSpPr>
          <p:cNvPr id="84" name="Rect"/>
          <p:cNvSpPr/>
          <p:nvPr/>
        </p:nvSpPr>
        <p:spPr>
          <a:xfrm>
            <a:off x="5300000" y="3130000"/>
            <a:ext cx="14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85" name="TextBox"/>
          <p:cNvSpPr txBox="1"/>
          <p:nvPr/>
        </p:nvSpPr>
        <p:spPr>
          <a:xfrm>
            <a:off x="5360000" y="318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18.86</a:t>
            </a:r>
          </a:p>
        </p:txBody>
      </p:sp>
      <p:sp>
        <p:nvSpPr>
          <p:cNvPr id="86" name="Rect"/>
          <p:cNvSpPr/>
          <p:nvPr/>
        </p:nvSpPr>
        <p:spPr>
          <a:xfrm>
            <a:off x="6750000" y="3130000"/>
            <a:ext cx="14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87" name="TextBox"/>
          <p:cNvSpPr txBox="1"/>
          <p:nvPr/>
        </p:nvSpPr>
        <p:spPr>
          <a:xfrm>
            <a:off x="6810000" y="3180000"/>
            <a:ext cx="13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19.69</a:t>
            </a:r>
          </a:p>
        </p:txBody>
      </p:sp>
      <p:sp>
        <p:nvSpPr>
          <p:cNvPr id="88" name="Rect"/>
          <p:cNvSpPr/>
          <p:nvPr/>
        </p:nvSpPr>
        <p:spPr>
          <a:xfrm>
            <a:off x="8200000" y="3130000"/>
            <a:ext cx="120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89" name="TextBox"/>
          <p:cNvSpPr txBox="1"/>
          <p:nvPr/>
        </p:nvSpPr>
        <p:spPr>
          <a:xfrm>
            <a:off x="8260000" y="318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0.778</a:t>
            </a:r>
          </a:p>
        </p:txBody>
      </p:sp>
      <p:sp>
        <p:nvSpPr>
          <p:cNvPr id="90" name="Rect"/>
          <p:cNvSpPr/>
          <p:nvPr/>
        </p:nvSpPr>
        <p:spPr>
          <a:xfrm>
            <a:off x="9400000" y="3130000"/>
            <a:ext cx="9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91" name="TextBox"/>
          <p:cNvSpPr txBox="1"/>
          <p:nvPr/>
        </p:nvSpPr>
        <p:spPr>
          <a:xfrm>
            <a:off x="9460000" y="318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4.04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AgenticPay Trajectory Lessons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0000" y="160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Advantage: belief-style buyers identify feasible seller ranges and can recover cases where the seller missed a feasible buyer offer; this motivated fixed-seller and no-seller-error metrics.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Advantage: full framework reduces long timeouts and reaches agreements faster than belief/CoT variants.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Problem: planner-generator often over-prioritizes closing; high deal rate comes with low buyer score and high contract IR violation rate.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Problem: full framework can be too procedural: plan/generator separation does not guarantee the final action maximizes buyer utility.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Implication: the planner needs explicit candidate valuation, risk, and constraint checks, not just a natural-language strategic act.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RLVR Metrics: Strict AmazonHistoryPrice Run</a:t>
            </a:r>
          </a:p>
        </p:txBody>
      </p:sp>
      <p:sp>
        <p:nvSpPr>
          <p:cNvPr id="10" name="Rect"/>
          <p:cNvSpPr/>
          <p:nvPr/>
        </p:nvSpPr>
        <p:spPr>
          <a:xfrm>
            <a:off x="610000" y="3480000"/>
            <a:ext cx="10580000" cy="10900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</p:spPr>
      </p:sp>
      <p:sp>
        <p:nvSpPr>
          <p:cNvPr id="11" name="TextBox"/>
          <p:cNvSpPr txBox="1"/>
          <p:nvPr/>
        </p:nvSpPr>
        <p:spPr>
          <a:xfrm>
            <a:off x="700000" y="3550000"/>
            <a:ext cx="10400000" cy="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250">
                <a:solidFill>
                  <a:srgbClr val="1F2937"/>
                </a:solidFill>
              </a:rPr>
              <a:t>Interpretation: prompt-only is not intrinsically very negative; invalid budget overshoot drives the low reward. Full framework nearly eliminates overshoot and keeps reward positive, though it currently walks away more often than prompt-only.</a:t>
            </a:r>
          </a:p>
        </p:txBody>
      </p:sp>
      <p:sp>
        <p:nvSpPr>
          <p:cNvPr id="12" name="Rect"/>
          <p:cNvSpPr/>
          <p:nvPr/>
        </p:nvSpPr>
        <p:spPr>
          <a:xfrm>
            <a:off x="400000" y="1400000"/>
            <a:ext cx="160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460000" y="1450000"/>
            <a:ext cx="14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Buyer</a:t>
            </a:r>
          </a:p>
        </p:txBody>
      </p:sp>
      <p:sp>
        <p:nvSpPr>
          <p:cNvPr id="14" name="Rect"/>
          <p:cNvSpPr/>
          <p:nvPr/>
        </p:nvSpPr>
        <p:spPr>
          <a:xfrm>
            <a:off x="2000000" y="1400000"/>
            <a:ext cx="65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5" name="TextBox"/>
          <p:cNvSpPr txBox="1"/>
          <p:nvPr/>
        </p:nvSpPr>
        <p:spPr>
          <a:xfrm>
            <a:off x="2060000" y="1450000"/>
            <a:ext cx="5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n</a:t>
            </a:r>
          </a:p>
        </p:txBody>
      </p:sp>
      <p:sp>
        <p:nvSpPr>
          <p:cNvPr id="16" name="Rect"/>
          <p:cNvSpPr/>
          <p:nvPr/>
        </p:nvSpPr>
        <p:spPr>
          <a:xfrm>
            <a:off x="2650000" y="1400000"/>
            <a:ext cx="110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7" name="TextBox"/>
          <p:cNvSpPr txBox="1"/>
          <p:nvPr/>
        </p:nvSpPr>
        <p:spPr>
          <a:xfrm>
            <a:off x="2710000" y="1450000"/>
            <a:ext cx="9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Reward</a:t>
            </a:r>
          </a:p>
        </p:txBody>
      </p:sp>
      <p:sp>
        <p:nvSpPr>
          <p:cNvPr id="18" name="Rect"/>
          <p:cNvSpPr/>
          <p:nvPr/>
        </p:nvSpPr>
        <p:spPr>
          <a:xfrm>
            <a:off x="3750000" y="1400000"/>
            <a:ext cx="95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9" name="TextBox"/>
          <p:cNvSpPr txBox="1"/>
          <p:nvPr/>
        </p:nvSpPr>
        <p:spPr>
          <a:xfrm>
            <a:off x="3810000" y="145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Deal</a:t>
            </a:r>
          </a:p>
        </p:txBody>
      </p:sp>
      <p:sp>
        <p:nvSpPr>
          <p:cNvPr id="20" name="Rect"/>
          <p:cNvSpPr/>
          <p:nvPr/>
        </p:nvSpPr>
        <p:spPr>
          <a:xfrm>
            <a:off x="4700000" y="1400000"/>
            <a:ext cx="110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1" name="TextBox"/>
          <p:cNvSpPr txBox="1"/>
          <p:nvPr/>
        </p:nvSpPr>
        <p:spPr>
          <a:xfrm>
            <a:off x="4760000" y="1450000"/>
            <a:ext cx="9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Bargain</a:t>
            </a:r>
          </a:p>
        </p:txBody>
      </p:sp>
      <p:sp>
        <p:nvSpPr>
          <p:cNvPr id="22" name="Rect"/>
          <p:cNvSpPr/>
          <p:nvPr/>
        </p:nvSpPr>
        <p:spPr>
          <a:xfrm>
            <a:off x="5800000" y="1400000"/>
            <a:ext cx="110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3" name="TextBox"/>
          <p:cNvSpPr txBox="1"/>
          <p:nvPr/>
        </p:nvSpPr>
        <p:spPr>
          <a:xfrm>
            <a:off x="5860000" y="1450000"/>
            <a:ext cx="9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Overshoot</a:t>
            </a:r>
          </a:p>
        </p:txBody>
      </p:sp>
      <p:sp>
        <p:nvSpPr>
          <p:cNvPr id="24" name="Rect"/>
          <p:cNvSpPr/>
          <p:nvPr/>
        </p:nvSpPr>
        <p:spPr>
          <a:xfrm>
            <a:off x="6900000" y="1400000"/>
            <a:ext cx="120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5" name="TextBox"/>
          <p:cNvSpPr txBox="1"/>
          <p:nvPr/>
        </p:nvSpPr>
        <p:spPr>
          <a:xfrm>
            <a:off x="6960000" y="145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Reward no-over</a:t>
            </a:r>
          </a:p>
        </p:txBody>
      </p:sp>
      <p:sp>
        <p:nvSpPr>
          <p:cNvPr id="26" name="Rect"/>
          <p:cNvSpPr/>
          <p:nvPr/>
        </p:nvSpPr>
        <p:spPr>
          <a:xfrm>
            <a:off x="8100000" y="1400000"/>
            <a:ext cx="115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7" name="TextBox"/>
          <p:cNvSpPr txBox="1"/>
          <p:nvPr/>
        </p:nvSpPr>
        <p:spPr>
          <a:xfrm>
            <a:off x="8160000" y="1450000"/>
            <a:ext cx="10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Deal no-over</a:t>
            </a:r>
          </a:p>
        </p:txBody>
      </p:sp>
      <p:sp>
        <p:nvSpPr>
          <p:cNvPr id="28" name="Rect"/>
          <p:cNvSpPr/>
          <p:nvPr/>
        </p:nvSpPr>
        <p:spPr>
          <a:xfrm>
            <a:off x="9250000" y="1400000"/>
            <a:ext cx="1200000" cy="4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9" name="TextBox"/>
          <p:cNvSpPr txBox="1"/>
          <p:nvPr/>
        </p:nvSpPr>
        <p:spPr>
          <a:xfrm>
            <a:off x="9310000" y="145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Bargain no-over</a:t>
            </a:r>
          </a:p>
        </p:txBody>
      </p:sp>
      <p:sp>
        <p:nvSpPr>
          <p:cNvPr id="30" name="Rect"/>
          <p:cNvSpPr/>
          <p:nvPr/>
        </p:nvSpPr>
        <p:spPr>
          <a:xfrm>
            <a:off x="400000" y="1820000"/>
            <a:ext cx="16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1" name="TextBox"/>
          <p:cNvSpPr txBox="1"/>
          <p:nvPr/>
        </p:nvSpPr>
        <p:spPr>
          <a:xfrm>
            <a:off x="460000" y="1870000"/>
            <a:ext cx="14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prompt_only</a:t>
            </a:r>
          </a:p>
        </p:txBody>
      </p:sp>
      <p:sp>
        <p:nvSpPr>
          <p:cNvPr id="32" name="Rect"/>
          <p:cNvSpPr/>
          <p:nvPr/>
        </p:nvSpPr>
        <p:spPr>
          <a:xfrm>
            <a:off x="2000000" y="1820000"/>
            <a:ext cx="6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3" name="TextBox"/>
          <p:cNvSpPr txBox="1"/>
          <p:nvPr/>
        </p:nvSpPr>
        <p:spPr>
          <a:xfrm>
            <a:off x="2060000" y="1870000"/>
            <a:ext cx="5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90</a:t>
            </a:r>
          </a:p>
        </p:txBody>
      </p:sp>
      <p:sp>
        <p:nvSpPr>
          <p:cNvPr id="34" name="Rect"/>
          <p:cNvSpPr/>
          <p:nvPr/>
        </p:nvSpPr>
        <p:spPr>
          <a:xfrm>
            <a:off x="2650000" y="1820000"/>
            <a:ext cx="11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5" name="TextBox"/>
          <p:cNvSpPr txBox="1"/>
          <p:nvPr/>
        </p:nvSpPr>
        <p:spPr>
          <a:xfrm>
            <a:off x="2710000" y="1870000"/>
            <a:ext cx="9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-0.231</a:t>
            </a:r>
          </a:p>
        </p:txBody>
      </p:sp>
      <p:sp>
        <p:nvSpPr>
          <p:cNvPr id="36" name="Rect"/>
          <p:cNvSpPr/>
          <p:nvPr/>
        </p:nvSpPr>
        <p:spPr>
          <a:xfrm>
            <a:off x="3750000" y="1820000"/>
            <a:ext cx="9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7" name="TextBox"/>
          <p:cNvSpPr txBox="1"/>
          <p:nvPr/>
        </p:nvSpPr>
        <p:spPr>
          <a:xfrm>
            <a:off x="3810000" y="187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0.500</a:t>
            </a:r>
          </a:p>
        </p:txBody>
      </p:sp>
      <p:sp>
        <p:nvSpPr>
          <p:cNvPr id="38" name="Rect"/>
          <p:cNvSpPr/>
          <p:nvPr/>
        </p:nvSpPr>
        <p:spPr>
          <a:xfrm>
            <a:off x="4700000" y="1820000"/>
            <a:ext cx="11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9" name="TextBox"/>
          <p:cNvSpPr txBox="1"/>
          <p:nvPr/>
        </p:nvSpPr>
        <p:spPr>
          <a:xfrm>
            <a:off x="4760000" y="1870000"/>
            <a:ext cx="9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0.093</a:t>
            </a:r>
          </a:p>
        </p:txBody>
      </p:sp>
      <p:sp>
        <p:nvSpPr>
          <p:cNvPr id="40" name="Rect"/>
          <p:cNvSpPr/>
          <p:nvPr/>
        </p:nvSpPr>
        <p:spPr>
          <a:xfrm>
            <a:off x="5800000" y="1820000"/>
            <a:ext cx="11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1" name="TextBox"/>
          <p:cNvSpPr txBox="1"/>
          <p:nvPr/>
        </p:nvSpPr>
        <p:spPr>
          <a:xfrm>
            <a:off x="5860000" y="1870000"/>
            <a:ext cx="9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0.267</a:t>
            </a:r>
          </a:p>
        </p:txBody>
      </p:sp>
      <p:sp>
        <p:nvSpPr>
          <p:cNvPr id="42" name="Rect"/>
          <p:cNvSpPr/>
          <p:nvPr/>
        </p:nvSpPr>
        <p:spPr>
          <a:xfrm>
            <a:off x="6900000" y="1820000"/>
            <a:ext cx="12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3" name="TextBox"/>
          <p:cNvSpPr txBox="1"/>
          <p:nvPr/>
        </p:nvSpPr>
        <p:spPr>
          <a:xfrm>
            <a:off x="6960000" y="187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0.049</a:t>
            </a:r>
          </a:p>
        </p:txBody>
      </p:sp>
      <p:sp>
        <p:nvSpPr>
          <p:cNvPr id="44" name="Rect"/>
          <p:cNvSpPr/>
          <p:nvPr/>
        </p:nvSpPr>
        <p:spPr>
          <a:xfrm>
            <a:off x="8100000" y="1820000"/>
            <a:ext cx="11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5" name="TextBox"/>
          <p:cNvSpPr txBox="1"/>
          <p:nvPr/>
        </p:nvSpPr>
        <p:spPr>
          <a:xfrm>
            <a:off x="8160000" y="1870000"/>
            <a:ext cx="10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0.682</a:t>
            </a:r>
          </a:p>
        </p:txBody>
      </p:sp>
      <p:sp>
        <p:nvSpPr>
          <p:cNvPr id="46" name="Rect"/>
          <p:cNvSpPr/>
          <p:nvPr/>
        </p:nvSpPr>
        <p:spPr>
          <a:xfrm>
            <a:off x="9250000" y="1820000"/>
            <a:ext cx="12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7" name="TextBox"/>
          <p:cNvSpPr txBox="1"/>
          <p:nvPr/>
        </p:nvSpPr>
        <p:spPr>
          <a:xfrm>
            <a:off x="9310000" y="187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0.093</a:t>
            </a:r>
          </a:p>
        </p:txBody>
      </p:sp>
      <p:sp>
        <p:nvSpPr>
          <p:cNvPr id="48" name="Rect"/>
          <p:cNvSpPr/>
          <p:nvPr/>
        </p:nvSpPr>
        <p:spPr>
          <a:xfrm>
            <a:off x="400000" y="2240000"/>
            <a:ext cx="160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9" name="TextBox"/>
          <p:cNvSpPr txBox="1"/>
          <p:nvPr/>
        </p:nvSpPr>
        <p:spPr>
          <a:xfrm>
            <a:off x="460000" y="2290000"/>
            <a:ext cx="14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belief_only</a:t>
            </a:r>
          </a:p>
        </p:txBody>
      </p:sp>
      <p:sp>
        <p:nvSpPr>
          <p:cNvPr id="50" name="Rect"/>
          <p:cNvSpPr/>
          <p:nvPr/>
        </p:nvSpPr>
        <p:spPr>
          <a:xfrm>
            <a:off x="2000000" y="2240000"/>
            <a:ext cx="6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1" name="TextBox"/>
          <p:cNvSpPr txBox="1"/>
          <p:nvPr/>
        </p:nvSpPr>
        <p:spPr>
          <a:xfrm>
            <a:off x="2060000" y="2290000"/>
            <a:ext cx="5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89</a:t>
            </a:r>
          </a:p>
        </p:txBody>
      </p:sp>
      <p:sp>
        <p:nvSpPr>
          <p:cNvPr id="52" name="Rect"/>
          <p:cNvSpPr/>
          <p:nvPr/>
        </p:nvSpPr>
        <p:spPr>
          <a:xfrm>
            <a:off x="2650000" y="2240000"/>
            <a:ext cx="110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3" name="TextBox"/>
          <p:cNvSpPr txBox="1"/>
          <p:nvPr/>
        </p:nvSpPr>
        <p:spPr>
          <a:xfrm>
            <a:off x="2710000" y="2290000"/>
            <a:ext cx="9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-0.169</a:t>
            </a:r>
          </a:p>
        </p:txBody>
      </p:sp>
      <p:sp>
        <p:nvSpPr>
          <p:cNvPr id="54" name="Rect"/>
          <p:cNvSpPr/>
          <p:nvPr/>
        </p:nvSpPr>
        <p:spPr>
          <a:xfrm>
            <a:off x="3750000" y="2240000"/>
            <a:ext cx="9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5" name="TextBox"/>
          <p:cNvSpPr txBox="1"/>
          <p:nvPr/>
        </p:nvSpPr>
        <p:spPr>
          <a:xfrm>
            <a:off x="3810000" y="229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0.461</a:t>
            </a:r>
          </a:p>
        </p:txBody>
      </p:sp>
      <p:sp>
        <p:nvSpPr>
          <p:cNvPr id="56" name="Rect"/>
          <p:cNvSpPr/>
          <p:nvPr/>
        </p:nvSpPr>
        <p:spPr>
          <a:xfrm>
            <a:off x="4700000" y="2240000"/>
            <a:ext cx="110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7" name="TextBox"/>
          <p:cNvSpPr txBox="1"/>
          <p:nvPr/>
        </p:nvSpPr>
        <p:spPr>
          <a:xfrm>
            <a:off x="4760000" y="2290000"/>
            <a:ext cx="9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0.047</a:t>
            </a:r>
          </a:p>
        </p:txBody>
      </p:sp>
      <p:sp>
        <p:nvSpPr>
          <p:cNvPr id="58" name="Rect"/>
          <p:cNvSpPr/>
          <p:nvPr/>
        </p:nvSpPr>
        <p:spPr>
          <a:xfrm>
            <a:off x="5800000" y="2240000"/>
            <a:ext cx="110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9" name="TextBox"/>
          <p:cNvSpPr txBox="1"/>
          <p:nvPr/>
        </p:nvSpPr>
        <p:spPr>
          <a:xfrm>
            <a:off x="5860000" y="2290000"/>
            <a:ext cx="9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0.135</a:t>
            </a:r>
          </a:p>
        </p:txBody>
      </p:sp>
      <p:sp>
        <p:nvSpPr>
          <p:cNvPr id="60" name="Rect"/>
          <p:cNvSpPr/>
          <p:nvPr/>
        </p:nvSpPr>
        <p:spPr>
          <a:xfrm>
            <a:off x="6900000" y="2240000"/>
            <a:ext cx="120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61" name="TextBox"/>
          <p:cNvSpPr txBox="1"/>
          <p:nvPr/>
        </p:nvSpPr>
        <p:spPr>
          <a:xfrm>
            <a:off x="6960000" y="229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-0.040</a:t>
            </a:r>
          </a:p>
        </p:txBody>
      </p:sp>
      <p:sp>
        <p:nvSpPr>
          <p:cNvPr id="62" name="Rect"/>
          <p:cNvSpPr/>
          <p:nvPr/>
        </p:nvSpPr>
        <p:spPr>
          <a:xfrm>
            <a:off x="8100000" y="2240000"/>
            <a:ext cx="115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63" name="TextBox"/>
          <p:cNvSpPr txBox="1"/>
          <p:nvPr/>
        </p:nvSpPr>
        <p:spPr>
          <a:xfrm>
            <a:off x="8160000" y="2290000"/>
            <a:ext cx="10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0.532</a:t>
            </a:r>
          </a:p>
        </p:txBody>
      </p:sp>
      <p:sp>
        <p:nvSpPr>
          <p:cNvPr id="64" name="Rect"/>
          <p:cNvSpPr/>
          <p:nvPr/>
        </p:nvSpPr>
        <p:spPr>
          <a:xfrm>
            <a:off x="9250000" y="2240000"/>
            <a:ext cx="1200000" cy="4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65" name="TextBox"/>
          <p:cNvSpPr txBox="1"/>
          <p:nvPr/>
        </p:nvSpPr>
        <p:spPr>
          <a:xfrm>
            <a:off x="9310000" y="229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0.047</a:t>
            </a:r>
          </a:p>
        </p:txBody>
      </p:sp>
      <p:sp>
        <p:nvSpPr>
          <p:cNvPr id="66" name="Rect"/>
          <p:cNvSpPr/>
          <p:nvPr/>
        </p:nvSpPr>
        <p:spPr>
          <a:xfrm>
            <a:off x="400000" y="2660000"/>
            <a:ext cx="16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7" name="TextBox"/>
          <p:cNvSpPr txBox="1"/>
          <p:nvPr/>
        </p:nvSpPr>
        <p:spPr>
          <a:xfrm>
            <a:off x="460000" y="2710000"/>
            <a:ext cx="14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full_framework</a:t>
            </a:r>
          </a:p>
        </p:txBody>
      </p:sp>
      <p:sp>
        <p:nvSpPr>
          <p:cNvPr id="68" name="Rect"/>
          <p:cNvSpPr/>
          <p:nvPr/>
        </p:nvSpPr>
        <p:spPr>
          <a:xfrm>
            <a:off x="2000000" y="2660000"/>
            <a:ext cx="6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9" name="TextBox"/>
          <p:cNvSpPr txBox="1"/>
          <p:nvPr/>
        </p:nvSpPr>
        <p:spPr>
          <a:xfrm>
            <a:off x="2060000" y="2710000"/>
            <a:ext cx="5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89</a:t>
            </a:r>
          </a:p>
        </p:txBody>
      </p:sp>
      <p:sp>
        <p:nvSpPr>
          <p:cNvPr id="70" name="Rect"/>
          <p:cNvSpPr/>
          <p:nvPr/>
        </p:nvSpPr>
        <p:spPr>
          <a:xfrm>
            <a:off x="2650000" y="2660000"/>
            <a:ext cx="11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1" name="TextBox"/>
          <p:cNvSpPr txBox="1"/>
          <p:nvPr/>
        </p:nvSpPr>
        <p:spPr>
          <a:xfrm>
            <a:off x="2710000" y="2710000"/>
            <a:ext cx="9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0.020</a:t>
            </a:r>
          </a:p>
        </p:txBody>
      </p:sp>
      <p:sp>
        <p:nvSpPr>
          <p:cNvPr id="72" name="Rect"/>
          <p:cNvSpPr/>
          <p:nvPr/>
        </p:nvSpPr>
        <p:spPr>
          <a:xfrm>
            <a:off x="3750000" y="2660000"/>
            <a:ext cx="9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3" name="TextBox"/>
          <p:cNvSpPr txBox="1"/>
          <p:nvPr/>
        </p:nvSpPr>
        <p:spPr>
          <a:xfrm>
            <a:off x="3810000" y="2710000"/>
            <a:ext cx="8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0.506</a:t>
            </a:r>
          </a:p>
        </p:txBody>
      </p:sp>
      <p:sp>
        <p:nvSpPr>
          <p:cNvPr id="74" name="Rect"/>
          <p:cNvSpPr/>
          <p:nvPr/>
        </p:nvSpPr>
        <p:spPr>
          <a:xfrm>
            <a:off x="4700000" y="2660000"/>
            <a:ext cx="11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5" name="TextBox"/>
          <p:cNvSpPr txBox="1"/>
          <p:nvPr/>
        </p:nvSpPr>
        <p:spPr>
          <a:xfrm>
            <a:off x="4760000" y="2710000"/>
            <a:ext cx="9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0.084</a:t>
            </a:r>
          </a:p>
        </p:txBody>
      </p:sp>
      <p:sp>
        <p:nvSpPr>
          <p:cNvPr id="76" name="Rect"/>
          <p:cNvSpPr/>
          <p:nvPr/>
        </p:nvSpPr>
        <p:spPr>
          <a:xfrm>
            <a:off x="5800000" y="2660000"/>
            <a:ext cx="11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7" name="TextBox"/>
          <p:cNvSpPr txBox="1"/>
          <p:nvPr/>
        </p:nvSpPr>
        <p:spPr>
          <a:xfrm>
            <a:off x="5860000" y="2710000"/>
            <a:ext cx="9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0.022</a:t>
            </a:r>
          </a:p>
        </p:txBody>
      </p:sp>
      <p:sp>
        <p:nvSpPr>
          <p:cNvPr id="78" name="Rect"/>
          <p:cNvSpPr/>
          <p:nvPr/>
        </p:nvSpPr>
        <p:spPr>
          <a:xfrm>
            <a:off x="6900000" y="2660000"/>
            <a:ext cx="12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9" name="TextBox"/>
          <p:cNvSpPr txBox="1"/>
          <p:nvPr/>
        </p:nvSpPr>
        <p:spPr>
          <a:xfrm>
            <a:off x="6960000" y="271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0.044</a:t>
            </a:r>
          </a:p>
        </p:txBody>
      </p:sp>
      <p:sp>
        <p:nvSpPr>
          <p:cNvPr id="80" name="Rect"/>
          <p:cNvSpPr/>
          <p:nvPr/>
        </p:nvSpPr>
        <p:spPr>
          <a:xfrm>
            <a:off x="8100000" y="2660000"/>
            <a:ext cx="115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81" name="TextBox"/>
          <p:cNvSpPr txBox="1"/>
          <p:nvPr/>
        </p:nvSpPr>
        <p:spPr>
          <a:xfrm>
            <a:off x="8160000" y="2710000"/>
            <a:ext cx="103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0.517</a:t>
            </a:r>
          </a:p>
        </p:txBody>
      </p:sp>
      <p:sp>
        <p:nvSpPr>
          <p:cNvPr id="82" name="Rect"/>
          <p:cNvSpPr/>
          <p:nvPr/>
        </p:nvSpPr>
        <p:spPr>
          <a:xfrm>
            <a:off x="9250000" y="2660000"/>
            <a:ext cx="1200000" cy="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83" name="TextBox"/>
          <p:cNvSpPr txBox="1"/>
          <p:nvPr/>
        </p:nvSpPr>
        <p:spPr>
          <a:xfrm>
            <a:off x="9310000" y="2710000"/>
            <a:ext cx="10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111827"/>
                </a:solidFill>
              </a:rPr>
              <a:t>0.084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RLVR Trajectory Lessons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0000" y="160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Prompt-only failure mode: the model says “I must stay below my $898.80 budget” but outputs Action: [BUY] $920. This creates a verifiable -1 penalty.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Belief-only failure mode: an estimated reservation range near the buyer budget can pull the buyer above budget; without a hard planner/validator, belief can amplify risk.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Full framework advantage: action discipline. It mostly refuses to exceed budget and preserves buyer surplus under seller anchoring.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Full framework problem: conservative walk-away. When belief estimates seller floor above budget, it may quit early even if more probing could discover flexibility.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Improvement: add a counterfactual response model over candidate offers, then choose the best expected utility under budget and walk-away risk.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ASTRA Metrics: Macro Average over Seller Types</a:t>
            </a:r>
          </a:p>
        </p:txBody>
      </p:sp>
      <p:sp>
        <p:nvSpPr>
          <p:cNvPr id="10" name="Rect"/>
          <p:cNvSpPr/>
          <p:nvPr/>
        </p:nvSpPr>
        <p:spPr>
          <a:xfrm>
            <a:off x="610000" y="3530000"/>
            <a:ext cx="10580000" cy="10400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6EE7B7"/>
            </a:solidFill>
          </a:ln>
        </p:spPr>
      </p:sp>
      <p:sp>
        <p:nvSpPr>
          <p:cNvPr id="11" name="TextBox"/>
          <p:cNvSpPr txBox="1"/>
          <p:nvPr/>
        </p:nvSpPr>
        <p:spPr>
          <a:xfrm>
            <a:off x="700000" y="360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250">
                <a:solidFill>
                  <a:srgbClr val="1F2937"/>
                </a:solidFill>
              </a:rPr>
              <a:t>Interpretation: rich belief currently dominates standard belief in stability and joint score. Standard belief gets high agreement-only P1 when it succeeds, but walk-away is too frequent. Results remain early because our variants have only ~20 episodes each.</a:t>
            </a:r>
          </a:p>
        </p:txBody>
      </p:sp>
      <p:sp>
        <p:nvSpPr>
          <p:cNvPr id="12" name="Rect"/>
          <p:cNvSpPr/>
          <p:nvPr/>
        </p:nvSpPr>
        <p:spPr>
          <a:xfrm>
            <a:off x="450000" y="1450000"/>
            <a:ext cx="1900000" cy="43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510000" y="1500000"/>
            <a:ext cx="17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 b="1">
                <a:solidFill>
                  <a:srgbClr val="111827"/>
                </a:solidFill>
              </a:rPr>
              <a:t>Buyer</a:t>
            </a:r>
          </a:p>
        </p:txBody>
      </p:sp>
      <p:sp>
        <p:nvSpPr>
          <p:cNvPr id="14" name="Rect"/>
          <p:cNvSpPr/>
          <p:nvPr/>
        </p:nvSpPr>
        <p:spPr>
          <a:xfrm>
            <a:off x="2350000" y="1450000"/>
            <a:ext cx="800000" cy="43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5" name="TextBox"/>
          <p:cNvSpPr txBox="1"/>
          <p:nvPr/>
        </p:nvSpPr>
        <p:spPr>
          <a:xfrm>
            <a:off x="2410000" y="1500000"/>
            <a:ext cx="6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 b="1">
                <a:solidFill>
                  <a:srgbClr val="111827"/>
                </a:solidFill>
              </a:rPr>
              <a:t>Total n</a:t>
            </a:r>
          </a:p>
        </p:txBody>
      </p:sp>
      <p:sp>
        <p:nvSpPr>
          <p:cNvPr id="16" name="Rect"/>
          <p:cNvSpPr/>
          <p:nvPr/>
        </p:nvSpPr>
        <p:spPr>
          <a:xfrm>
            <a:off x="3150000" y="1450000"/>
            <a:ext cx="1450000" cy="43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7" name="TextBox"/>
          <p:cNvSpPr txBox="1"/>
          <p:nvPr/>
        </p:nvSpPr>
        <p:spPr>
          <a:xfrm>
            <a:off x="3210000" y="1500000"/>
            <a:ext cx="13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 b="1">
                <a:solidFill>
                  <a:srgbClr val="111827"/>
                </a:solidFill>
              </a:rPr>
              <a:t>P1 all</a:t>
            </a:r>
          </a:p>
        </p:txBody>
      </p:sp>
      <p:sp>
        <p:nvSpPr>
          <p:cNvPr id="18" name="Rect"/>
          <p:cNvSpPr/>
          <p:nvPr/>
        </p:nvSpPr>
        <p:spPr>
          <a:xfrm>
            <a:off x="4600000" y="1450000"/>
            <a:ext cx="1450000" cy="43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9" name="TextBox"/>
          <p:cNvSpPr txBox="1"/>
          <p:nvPr/>
        </p:nvSpPr>
        <p:spPr>
          <a:xfrm>
            <a:off x="4660000" y="1500000"/>
            <a:ext cx="13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 b="1">
                <a:solidFill>
                  <a:srgbClr val="111827"/>
                </a:solidFill>
              </a:rPr>
              <a:t>P2 all</a:t>
            </a:r>
          </a:p>
        </p:txBody>
      </p:sp>
      <p:sp>
        <p:nvSpPr>
          <p:cNvPr id="20" name="Rect"/>
          <p:cNvSpPr/>
          <p:nvPr/>
        </p:nvSpPr>
        <p:spPr>
          <a:xfrm>
            <a:off x="6050000" y="1450000"/>
            <a:ext cx="1450000" cy="43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1" name="TextBox"/>
          <p:cNvSpPr txBox="1"/>
          <p:nvPr/>
        </p:nvSpPr>
        <p:spPr>
          <a:xfrm>
            <a:off x="6110000" y="1500000"/>
            <a:ext cx="13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 b="1">
                <a:solidFill>
                  <a:srgbClr val="111827"/>
                </a:solidFill>
              </a:rPr>
              <a:t>Joint</a:t>
            </a:r>
          </a:p>
        </p:txBody>
      </p:sp>
      <p:sp>
        <p:nvSpPr>
          <p:cNvPr id="22" name="Rect"/>
          <p:cNvSpPr/>
          <p:nvPr/>
        </p:nvSpPr>
        <p:spPr>
          <a:xfrm>
            <a:off x="7500000" y="1450000"/>
            <a:ext cx="1600000" cy="43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3" name="TextBox"/>
          <p:cNvSpPr txBox="1"/>
          <p:nvPr/>
        </p:nvSpPr>
        <p:spPr>
          <a:xfrm>
            <a:off x="7560000" y="1500000"/>
            <a:ext cx="14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 b="1">
                <a:solidFill>
                  <a:srgbClr val="111827"/>
                </a:solidFill>
              </a:rPr>
              <a:t>P1/P2 agreement</a:t>
            </a:r>
          </a:p>
        </p:txBody>
      </p:sp>
      <p:sp>
        <p:nvSpPr>
          <p:cNvPr id="24" name="Rect"/>
          <p:cNvSpPr/>
          <p:nvPr/>
        </p:nvSpPr>
        <p:spPr>
          <a:xfrm>
            <a:off x="9100000" y="1450000"/>
            <a:ext cx="1200000" cy="43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5" name="TextBox"/>
          <p:cNvSpPr txBox="1"/>
          <p:nvPr/>
        </p:nvSpPr>
        <p:spPr>
          <a:xfrm>
            <a:off x="9160000" y="1500000"/>
            <a:ext cx="10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 b="1">
                <a:solidFill>
                  <a:srgbClr val="111827"/>
                </a:solidFill>
              </a:rPr>
              <a:t>Walk-away</a:t>
            </a:r>
          </a:p>
        </p:txBody>
      </p:sp>
      <p:sp>
        <p:nvSpPr>
          <p:cNvPr id="26" name="Rect"/>
          <p:cNvSpPr/>
          <p:nvPr/>
        </p:nvSpPr>
        <p:spPr>
          <a:xfrm>
            <a:off x="10300000" y="1450000"/>
            <a:ext cx="900000" cy="43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27" name="TextBox"/>
          <p:cNvSpPr txBox="1"/>
          <p:nvPr/>
        </p:nvSpPr>
        <p:spPr>
          <a:xfrm>
            <a:off x="10360000" y="1500000"/>
            <a:ext cx="7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 b="1">
                <a:solidFill>
                  <a:srgbClr val="111827"/>
                </a:solidFill>
              </a:rPr>
              <a:t>Agree n</a:t>
            </a:r>
          </a:p>
        </p:txBody>
      </p:sp>
      <p:sp>
        <p:nvSpPr>
          <p:cNvPr id="28" name="Rect"/>
          <p:cNvSpPr/>
          <p:nvPr/>
        </p:nvSpPr>
        <p:spPr>
          <a:xfrm>
            <a:off x="450000" y="1880000"/>
            <a:ext cx="190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9" name="TextBox"/>
          <p:cNvSpPr txBox="1"/>
          <p:nvPr/>
        </p:nvSpPr>
        <p:spPr>
          <a:xfrm>
            <a:off x="510000" y="1930000"/>
            <a:ext cx="17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ASTRA ref</a:t>
            </a:r>
          </a:p>
        </p:txBody>
      </p:sp>
      <p:sp>
        <p:nvSpPr>
          <p:cNvPr id="30" name="Rect"/>
          <p:cNvSpPr/>
          <p:nvPr/>
        </p:nvSpPr>
        <p:spPr>
          <a:xfrm>
            <a:off x="2350000" y="1880000"/>
            <a:ext cx="80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1" name="TextBox"/>
          <p:cNvSpPr txBox="1"/>
          <p:nvPr/>
        </p:nvSpPr>
        <p:spPr>
          <a:xfrm>
            <a:off x="2410000" y="1930000"/>
            <a:ext cx="6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105</a:t>
            </a:r>
          </a:p>
        </p:txBody>
      </p:sp>
      <p:sp>
        <p:nvSpPr>
          <p:cNvPr id="32" name="Rect"/>
          <p:cNvSpPr/>
          <p:nvPr/>
        </p:nvSpPr>
        <p:spPr>
          <a:xfrm>
            <a:off x="3150000" y="1880000"/>
            <a:ext cx="145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3" name="TextBox"/>
          <p:cNvSpPr txBox="1"/>
          <p:nvPr/>
        </p:nvSpPr>
        <p:spPr>
          <a:xfrm>
            <a:off x="3210000" y="1930000"/>
            <a:ext cx="13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17.15</a:t>
            </a:r>
          </a:p>
        </p:txBody>
      </p:sp>
      <p:sp>
        <p:nvSpPr>
          <p:cNvPr id="34" name="Rect"/>
          <p:cNvSpPr/>
          <p:nvPr/>
        </p:nvSpPr>
        <p:spPr>
          <a:xfrm>
            <a:off x="4600000" y="1880000"/>
            <a:ext cx="145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5" name="TextBox"/>
          <p:cNvSpPr txBox="1"/>
          <p:nvPr/>
        </p:nvSpPr>
        <p:spPr>
          <a:xfrm>
            <a:off x="4660000" y="1930000"/>
            <a:ext cx="13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10.82</a:t>
            </a:r>
          </a:p>
        </p:txBody>
      </p:sp>
      <p:sp>
        <p:nvSpPr>
          <p:cNvPr id="36" name="Rect"/>
          <p:cNvSpPr/>
          <p:nvPr/>
        </p:nvSpPr>
        <p:spPr>
          <a:xfrm>
            <a:off x="6050000" y="1880000"/>
            <a:ext cx="145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7" name="TextBox"/>
          <p:cNvSpPr txBox="1"/>
          <p:nvPr/>
        </p:nvSpPr>
        <p:spPr>
          <a:xfrm>
            <a:off x="6110000" y="1930000"/>
            <a:ext cx="13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27.97</a:t>
            </a:r>
          </a:p>
        </p:txBody>
      </p:sp>
      <p:sp>
        <p:nvSpPr>
          <p:cNvPr id="38" name="Rect"/>
          <p:cNvSpPr/>
          <p:nvPr/>
        </p:nvSpPr>
        <p:spPr>
          <a:xfrm>
            <a:off x="7500000" y="1880000"/>
            <a:ext cx="160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9" name="TextBox"/>
          <p:cNvSpPr txBox="1"/>
          <p:nvPr/>
        </p:nvSpPr>
        <p:spPr>
          <a:xfrm>
            <a:off x="7560000" y="1930000"/>
            <a:ext cx="14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24.76 / 15.48</a:t>
            </a:r>
          </a:p>
        </p:txBody>
      </p:sp>
      <p:sp>
        <p:nvSpPr>
          <p:cNvPr id="40" name="Rect"/>
          <p:cNvSpPr/>
          <p:nvPr/>
        </p:nvSpPr>
        <p:spPr>
          <a:xfrm>
            <a:off x="9100000" y="1880000"/>
            <a:ext cx="120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1" name="TextBox"/>
          <p:cNvSpPr txBox="1"/>
          <p:nvPr/>
        </p:nvSpPr>
        <p:spPr>
          <a:xfrm>
            <a:off x="9160000" y="1930000"/>
            <a:ext cx="10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0.304</a:t>
            </a:r>
          </a:p>
        </p:txBody>
      </p:sp>
      <p:sp>
        <p:nvSpPr>
          <p:cNvPr id="42" name="Rect"/>
          <p:cNvSpPr/>
          <p:nvPr/>
        </p:nvSpPr>
        <p:spPr>
          <a:xfrm>
            <a:off x="10300000" y="1880000"/>
            <a:ext cx="90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3" name="TextBox"/>
          <p:cNvSpPr txBox="1"/>
          <p:nvPr/>
        </p:nvSpPr>
        <p:spPr>
          <a:xfrm>
            <a:off x="10360000" y="1930000"/>
            <a:ext cx="7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91</a:t>
            </a:r>
          </a:p>
        </p:txBody>
      </p:sp>
      <p:sp>
        <p:nvSpPr>
          <p:cNvPr id="44" name="Rect"/>
          <p:cNvSpPr/>
          <p:nvPr/>
        </p:nvSpPr>
        <p:spPr>
          <a:xfrm>
            <a:off x="450000" y="2310000"/>
            <a:ext cx="1900000" cy="43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5" name="TextBox"/>
          <p:cNvSpPr txBox="1"/>
          <p:nvPr/>
        </p:nvSpPr>
        <p:spPr>
          <a:xfrm>
            <a:off x="510000" y="2360000"/>
            <a:ext cx="17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Our standard</a:t>
            </a:r>
          </a:p>
        </p:txBody>
      </p:sp>
      <p:sp>
        <p:nvSpPr>
          <p:cNvPr id="46" name="Rect"/>
          <p:cNvSpPr/>
          <p:nvPr/>
        </p:nvSpPr>
        <p:spPr>
          <a:xfrm>
            <a:off x="2350000" y="2310000"/>
            <a:ext cx="800000" cy="43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7" name="TextBox"/>
          <p:cNvSpPr txBox="1"/>
          <p:nvPr/>
        </p:nvSpPr>
        <p:spPr>
          <a:xfrm>
            <a:off x="2410000" y="2360000"/>
            <a:ext cx="6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30</a:t>
            </a:r>
          </a:p>
        </p:txBody>
      </p:sp>
      <p:sp>
        <p:nvSpPr>
          <p:cNvPr id="48" name="Rect"/>
          <p:cNvSpPr/>
          <p:nvPr/>
        </p:nvSpPr>
        <p:spPr>
          <a:xfrm>
            <a:off x="3150000" y="2310000"/>
            <a:ext cx="1450000" cy="43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9" name="TextBox"/>
          <p:cNvSpPr txBox="1"/>
          <p:nvPr/>
        </p:nvSpPr>
        <p:spPr>
          <a:xfrm>
            <a:off x="3210000" y="2360000"/>
            <a:ext cx="13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11.52</a:t>
            </a:r>
          </a:p>
        </p:txBody>
      </p:sp>
      <p:sp>
        <p:nvSpPr>
          <p:cNvPr id="50" name="Rect"/>
          <p:cNvSpPr/>
          <p:nvPr/>
        </p:nvSpPr>
        <p:spPr>
          <a:xfrm>
            <a:off x="4600000" y="2310000"/>
            <a:ext cx="1450000" cy="43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1" name="TextBox"/>
          <p:cNvSpPr txBox="1"/>
          <p:nvPr/>
        </p:nvSpPr>
        <p:spPr>
          <a:xfrm>
            <a:off x="4660000" y="2360000"/>
            <a:ext cx="13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5.94</a:t>
            </a:r>
          </a:p>
        </p:txBody>
      </p:sp>
      <p:sp>
        <p:nvSpPr>
          <p:cNvPr id="52" name="Rect"/>
          <p:cNvSpPr/>
          <p:nvPr/>
        </p:nvSpPr>
        <p:spPr>
          <a:xfrm>
            <a:off x="6050000" y="2310000"/>
            <a:ext cx="1450000" cy="43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3" name="TextBox"/>
          <p:cNvSpPr txBox="1"/>
          <p:nvPr/>
        </p:nvSpPr>
        <p:spPr>
          <a:xfrm>
            <a:off x="6110000" y="2360000"/>
            <a:ext cx="13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17.46</a:t>
            </a:r>
          </a:p>
        </p:txBody>
      </p:sp>
      <p:sp>
        <p:nvSpPr>
          <p:cNvPr id="54" name="Rect"/>
          <p:cNvSpPr/>
          <p:nvPr/>
        </p:nvSpPr>
        <p:spPr>
          <a:xfrm>
            <a:off x="7500000" y="2310000"/>
            <a:ext cx="1600000" cy="43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5" name="TextBox"/>
          <p:cNvSpPr txBox="1"/>
          <p:nvPr/>
        </p:nvSpPr>
        <p:spPr>
          <a:xfrm>
            <a:off x="7560000" y="2360000"/>
            <a:ext cx="14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25.79 / 14.46</a:t>
            </a:r>
          </a:p>
        </p:txBody>
      </p:sp>
      <p:sp>
        <p:nvSpPr>
          <p:cNvPr id="56" name="Rect"/>
          <p:cNvSpPr/>
          <p:nvPr/>
        </p:nvSpPr>
        <p:spPr>
          <a:xfrm>
            <a:off x="9100000" y="2310000"/>
            <a:ext cx="1200000" cy="43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7" name="TextBox"/>
          <p:cNvSpPr txBox="1"/>
          <p:nvPr/>
        </p:nvSpPr>
        <p:spPr>
          <a:xfrm>
            <a:off x="9160000" y="2360000"/>
            <a:ext cx="10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0.562</a:t>
            </a:r>
          </a:p>
        </p:txBody>
      </p:sp>
      <p:sp>
        <p:nvSpPr>
          <p:cNvPr id="58" name="Rect"/>
          <p:cNvSpPr/>
          <p:nvPr/>
        </p:nvSpPr>
        <p:spPr>
          <a:xfrm>
            <a:off x="10300000" y="2310000"/>
            <a:ext cx="900000" cy="43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59" name="TextBox"/>
          <p:cNvSpPr txBox="1"/>
          <p:nvPr/>
        </p:nvSpPr>
        <p:spPr>
          <a:xfrm>
            <a:off x="10360000" y="2360000"/>
            <a:ext cx="7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13</a:t>
            </a:r>
          </a:p>
        </p:txBody>
      </p:sp>
      <p:sp>
        <p:nvSpPr>
          <p:cNvPr id="60" name="Rect"/>
          <p:cNvSpPr/>
          <p:nvPr/>
        </p:nvSpPr>
        <p:spPr>
          <a:xfrm>
            <a:off x="450000" y="2740000"/>
            <a:ext cx="190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1" name="TextBox"/>
          <p:cNvSpPr txBox="1"/>
          <p:nvPr/>
        </p:nvSpPr>
        <p:spPr>
          <a:xfrm>
            <a:off x="510000" y="2790000"/>
            <a:ext cx="17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Our rich</a:t>
            </a:r>
          </a:p>
        </p:txBody>
      </p:sp>
      <p:sp>
        <p:nvSpPr>
          <p:cNvPr id="62" name="Rect"/>
          <p:cNvSpPr/>
          <p:nvPr/>
        </p:nvSpPr>
        <p:spPr>
          <a:xfrm>
            <a:off x="2350000" y="2740000"/>
            <a:ext cx="80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3" name="TextBox"/>
          <p:cNvSpPr txBox="1"/>
          <p:nvPr/>
        </p:nvSpPr>
        <p:spPr>
          <a:xfrm>
            <a:off x="2410000" y="2790000"/>
            <a:ext cx="6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28</a:t>
            </a:r>
          </a:p>
        </p:txBody>
      </p:sp>
      <p:sp>
        <p:nvSpPr>
          <p:cNvPr id="64" name="Rect"/>
          <p:cNvSpPr/>
          <p:nvPr/>
        </p:nvSpPr>
        <p:spPr>
          <a:xfrm>
            <a:off x="3150000" y="2740000"/>
            <a:ext cx="145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5" name="TextBox"/>
          <p:cNvSpPr txBox="1"/>
          <p:nvPr/>
        </p:nvSpPr>
        <p:spPr>
          <a:xfrm>
            <a:off x="3210000" y="2790000"/>
            <a:ext cx="13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20.83</a:t>
            </a:r>
          </a:p>
        </p:txBody>
      </p:sp>
      <p:sp>
        <p:nvSpPr>
          <p:cNvPr id="66" name="Rect"/>
          <p:cNvSpPr/>
          <p:nvPr/>
        </p:nvSpPr>
        <p:spPr>
          <a:xfrm>
            <a:off x="4600000" y="2740000"/>
            <a:ext cx="145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7" name="TextBox"/>
          <p:cNvSpPr txBox="1"/>
          <p:nvPr/>
        </p:nvSpPr>
        <p:spPr>
          <a:xfrm>
            <a:off x="4660000" y="2790000"/>
            <a:ext cx="13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15.25</a:t>
            </a:r>
          </a:p>
        </p:txBody>
      </p:sp>
      <p:sp>
        <p:nvSpPr>
          <p:cNvPr id="68" name="Rect"/>
          <p:cNvSpPr/>
          <p:nvPr/>
        </p:nvSpPr>
        <p:spPr>
          <a:xfrm>
            <a:off x="6050000" y="2740000"/>
            <a:ext cx="145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9" name="TextBox"/>
          <p:cNvSpPr txBox="1"/>
          <p:nvPr/>
        </p:nvSpPr>
        <p:spPr>
          <a:xfrm>
            <a:off x="6110000" y="2790000"/>
            <a:ext cx="13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36.08</a:t>
            </a:r>
          </a:p>
        </p:txBody>
      </p:sp>
      <p:sp>
        <p:nvSpPr>
          <p:cNvPr id="70" name="Rect"/>
          <p:cNvSpPr/>
          <p:nvPr/>
        </p:nvSpPr>
        <p:spPr>
          <a:xfrm>
            <a:off x="7500000" y="2740000"/>
            <a:ext cx="160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1" name="TextBox"/>
          <p:cNvSpPr txBox="1"/>
          <p:nvPr/>
        </p:nvSpPr>
        <p:spPr>
          <a:xfrm>
            <a:off x="7560000" y="2790000"/>
            <a:ext cx="14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23.75 / 17.61</a:t>
            </a:r>
          </a:p>
        </p:txBody>
      </p:sp>
      <p:sp>
        <p:nvSpPr>
          <p:cNvPr id="72" name="Rect"/>
          <p:cNvSpPr/>
          <p:nvPr/>
        </p:nvSpPr>
        <p:spPr>
          <a:xfrm>
            <a:off x="9100000" y="2740000"/>
            <a:ext cx="120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3" name="TextBox"/>
          <p:cNvSpPr txBox="1"/>
          <p:nvPr/>
        </p:nvSpPr>
        <p:spPr>
          <a:xfrm>
            <a:off x="9160000" y="2790000"/>
            <a:ext cx="10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0.130</a:t>
            </a:r>
          </a:p>
        </p:txBody>
      </p:sp>
      <p:sp>
        <p:nvSpPr>
          <p:cNvPr id="74" name="Rect"/>
          <p:cNvSpPr/>
          <p:nvPr/>
        </p:nvSpPr>
        <p:spPr>
          <a:xfrm>
            <a:off x="10300000" y="2740000"/>
            <a:ext cx="900000" cy="4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5" name="TextBox"/>
          <p:cNvSpPr txBox="1"/>
          <p:nvPr/>
        </p:nvSpPr>
        <p:spPr>
          <a:xfrm>
            <a:off x="10360000" y="2790000"/>
            <a:ext cx="78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40">
                <a:solidFill>
                  <a:srgbClr val="111827"/>
                </a:solidFill>
              </a:rPr>
              <a:t>24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ASTRA Trajectory Lessons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0000" y="160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Rich belief helps in CaSiNo because it tracks more than priority: likely flexibility, patience, friendliness, dominance, and evidence signals.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Standard belief often fails through walk-away: it may form a brittle priority/fairness interpretation and choose actions that do not keep the partner engaged.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Rich belief improves joint score and lowers walk-away, suggesting social-behavioral opponent modeling matters in resource-allocation negotiation.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Remaining issue: agreement-only P1 can be lower than standard when rich belief sacrifices some buyer advantage for robustness.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Improvement: planner should use belief uncertainty to decide when to probe, when to concede, and when to prioritize joint feasibility.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Cross-Experiment Diagnosis</a:t>
            </a:r>
          </a:p>
        </p:txBody>
      </p:sp>
      <p:sp>
        <p:nvSpPr>
          <p:cNvPr id="10" name="Rect"/>
          <p:cNvSpPr/>
          <p:nvPr/>
        </p:nvSpPr>
        <p:spPr>
          <a:xfrm>
            <a:off x="450000" y="1350000"/>
            <a:ext cx="1600000" cy="5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1" name="TextBox"/>
          <p:cNvSpPr txBox="1"/>
          <p:nvPr/>
        </p:nvSpPr>
        <p:spPr>
          <a:xfrm>
            <a:off x="510000" y="1400000"/>
            <a:ext cx="14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 b="1">
                <a:solidFill>
                  <a:srgbClr val="111827"/>
                </a:solidFill>
              </a:rPr>
              <a:t>Pattern</a:t>
            </a:r>
          </a:p>
        </p:txBody>
      </p:sp>
      <p:sp>
        <p:nvSpPr>
          <p:cNvPr id="12" name="Rect"/>
          <p:cNvSpPr/>
          <p:nvPr/>
        </p:nvSpPr>
        <p:spPr>
          <a:xfrm>
            <a:off x="2050000" y="1350000"/>
            <a:ext cx="3000000" cy="5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2110000" y="1400000"/>
            <a:ext cx="28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 b="1">
                <a:solidFill>
                  <a:srgbClr val="111827"/>
                </a:solidFill>
              </a:rPr>
              <a:t>Where observed</a:t>
            </a:r>
          </a:p>
        </p:txBody>
      </p:sp>
      <p:sp>
        <p:nvSpPr>
          <p:cNvPr id="14" name="Rect"/>
          <p:cNvSpPr/>
          <p:nvPr/>
        </p:nvSpPr>
        <p:spPr>
          <a:xfrm>
            <a:off x="5050000" y="1350000"/>
            <a:ext cx="3200000" cy="5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5" name="TextBox"/>
          <p:cNvSpPr txBox="1"/>
          <p:nvPr/>
        </p:nvSpPr>
        <p:spPr>
          <a:xfrm>
            <a:off x="5110000" y="1400000"/>
            <a:ext cx="30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 b="1">
                <a:solidFill>
                  <a:srgbClr val="111827"/>
                </a:solidFill>
              </a:rPr>
              <a:t>What it means</a:t>
            </a:r>
          </a:p>
        </p:txBody>
      </p:sp>
      <p:sp>
        <p:nvSpPr>
          <p:cNvPr id="16" name="Rect"/>
          <p:cNvSpPr/>
          <p:nvPr/>
        </p:nvSpPr>
        <p:spPr>
          <a:xfrm>
            <a:off x="8250000" y="1350000"/>
            <a:ext cx="3000000" cy="52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7" name="TextBox"/>
          <p:cNvSpPr txBox="1"/>
          <p:nvPr/>
        </p:nvSpPr>
        <p:spPr>
          <a:xfrm>
            <a:off x="8310000" y="1400000"/>
            <a:ext cx="28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 b="1">
                <a:solidFill>
                  <a:srgbClr val="111827"/>
                </a:solidFill>
              </a:rPr>
              <a:t>Needed fix</a:t>
            </a:r>
          </a:p>
        </p:txBody>
      </p:sp>
      <p:sp>
        <p:nvSpPr>
          <p:cNvPr id="18" name="Rect"/>
          <p:cNvSpPr/>
          <p:nvPr/>
        </p:nvSpPr>
        <p:spPr>
          <a:xfrm>
            <a:off x="450000" y="1870000"/>
            <a:ext cx="16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19" name="TextBox"/>
          <p:cNvSpPr txBox="1"/>
          <p:nvPr/>
        </p:nvSpPr>
        <p:spPr>
          <a:xfrm>
            <a:off x="510000" y="1920000"/>
            <a:ext cx="14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Constraint failures</a:t>
            </a:r>
          </a:p>
        </p:txBody>
      </p:sp>
      <p:sp>
        <p:nvSpPr>
          <p:cNvPr id="20" name="Rect"/>
          <p:cNvSpPr/>
          <p:nvPr/>
        </p:nvSpPr>
        <p:spPr>
          <a:xfrm>
            <a:off x="2050000" y="1870000"/>
            <a:ext cx="30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1" name="TextBox"/>
          <p:cNvSpPr txBox="1"/>
          <p:nvPr/>
        </p:nvSpPr>
        <p:spPr>
          <a:xfrm>
            <a:off x="2110000" y="1920000"/>
            <a:ext cx="28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RLVR prompt/belief</a:t>
            </a:r>
          </a:p>
        </p:txBody>
      </p:sp>
      <p:sp>
        <p:nvSpPr>
          <p:cNvPr id="22" name="Rect"/>
          <p:cNvSpPr/>
          <p:nvPr/>
        </p:nvSpPr>
        <p:spPr>
          <a:xfrm>
            <a:off x="5050000" y="1870000"/>
            <a:ext cx="32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3" name="TextBox"/>
          <p:cNvSpPr txBox="1"/>
          <p:nvPr/>
        </p:nvSpPr>
        <p:spPr>
          <a:xfrm>
            <a:off x="5110000" y="1920000"/>
            <a:ext cx="30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LLMs verbalize constraints but violate numeric budgets</a:t>
            </a:r>
          </a:p>
        </p:txBody>
      </p:sp>
      <p:sp>
        <p:nvSpPr>
          <p:cNvPr id="24" name="Rect"/>
          <p:cNvSpPr/>
          <p:nvPr/>
        </p:nvSpPr>
        <p:spPr>
          <a:xfrm>
            <a:off x="8250000" y="1870000"/>
            <a:ext cx="30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5" name="TextBox"/>
          <p:cNvSpPr txBox="1"/>
          <p:nvPr/>
        </p:nvSpPr>
        <p:spPr>
          <a:xfrm>
            <a:off x="8310000" y="1920000"/>
            <a:ext cx="28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Hard action validator + value-ranked candidates</a:t>
            </a:r>
          </a:p>
        </p:txBody>
      </p:sp>
      <p:sp>
        <p:nvSpPr>
          <p:cNvPr id="26" name="Rect"/>
          <p:cNvSpPr/>
          <p:nvPr/>
        </p:nvSpPr>
        <p:spPr>
          <a:xfrm>
            <a:off x="450000" y="2390000"/>
            <a:ext cx="160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27" name="TextBox"/>
          <p:cNvSpPr txBox="1"/>
          <p:nvPr/>
        </p:nvSpPr>
        <p:spPr>
          <a:xfrm>
            <a:off x="510000" y="2440000"/>
            <a:ext cx="14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Over-closing</a:t>
            </a:r>
          </a:p>
        </p:txBody>
      </p:sp>
      <p:sp>
        <p:nvSpPr>
          <p:cNvPr id="28" name="Rect"/>
          <p:cNvSpPr/>
          <p:nvPr/>
        </p:nvSpPr>
        <p:spPr>
          <a:xfrm>
            <a:off x="2050000" y="2390000"/>
            <a:ext cx="300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29" name="TextBox"/>
          <p:cNvSpPr txBox="1"/>
          <p:nvPr/>
        </p:nvSpPr>
        <p:spPr>
          <a:xfrm>
            <a:off x="2110000" y="2440000"/>
            <a:ext cx="28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AgenticPay planner-generator</a:t>
            </a:r>
          </a:p>
        </p:txBody>
      </p:sp>
      <p:sp>
        <p:nvSpPr>
          <p:cNvPr id="30" name="Rect"/>
          <p:cNvSpPr/>
          <p:nvPr/>
        </p:nvSpPr>
        <p:spPr>
          <a:xfrm>
            <a:off x="5050000" y="2390000"/>
            <a:ext cx="320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31" name="TextBox"/>
          <p:cNvSpPr txBox="1"/>
          <p:nvPr/>
        </p:nvSpPr>
        <p:spPr>
          <a:xfrm>
            <a:off x="5110000" y="2440000"/>
            <a:ext cx="30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Fast agreement can transfer surplus to seller</a:t>
            </a:r>
          </a:p>
        </p:txBody>
      </p:sp>
      <p:sp>
        <p:nvSpPr>
          <p:cNvPr id="32" name="Rect"/>
          <p:cNvSpPr/>
          <p:nvPr/>
        </p:nvSpPr>
        <p:spPr>
          <a:xfrm>
            <a:off x="8250000" y="2390000"/>
            <a:ext cx="300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33" name="TextBox"/>
          <p:cNvSpPr txBox="1"/>
          <p:nvPr/>
        </p:nvSpPr>
        <p:spPr>
          <a:xfrm>
            <a:off x="8310000" y="2440000"/>
            <a:ext cx="28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Utility-aware planner, not agreement-only planner</a:t>
            </a:r>
          </a:p>
        </p:txBody>
      </p:sp>
      <p:sp>
        <p:nvSpPr>
          <p:cNvPr id="34" name="Rect"/>
          <p:cNvSpPr/>
          <p:nvPr/>
        </p:nvSpPr>
        <p:spPr>
          <a:xfrm>
            <a:off x="450000" y="2910000"/>
            <a:ext cx="16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5" name="TextBox"/>
          <p:cNvSpPr txBox="1"/>
          <p:nvPr/>
        </p:nvSpPr>
        <p:spPr>
          <a:xfrm>
            <a:off x="510000" y="2960000"/>
            <a:ext cx="14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Over-walk-away</a:t>
            </a:r>
          </a:p>
        </p:txBody>
      </p:sp>
      <p:sp>
        <p:nvSpPr>
          <p:cNvPr id="36" name="Rect"/>
          <p:cNvSpPr/>
          <p:nvPr/>
        </p:nvSpPr>
        <p:spPr>
          <a:xfrm>
            <a:off x="2050000" y="2910000"/>
            <a:ext cx="30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7" name="TextBox"/>
          <p:cNvSpPr txBox="1"/>
          <p:nvPr/>
        </p:nvSpPr>
        <p:spPr>
          <a:xfrm>
            <a:off x="2110000" y="2960000"/>
            <a:ext cx="28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RLVR full, ASTRA standard</a:t>
            </a:r>
          </a:p>
        </p:txBody>
      </p:sp>
      <p:sp>
        <p:nvSpPr>
          <p:cNvPr id="38" name="Rect"/>
          <p:cNvSpPr/>
          <p:nvPr/>
        </p:nvSpPr>
        <p:spPr>
          <a:xfrm>
            <a:off x="5050000" y="2910000"/>
            <a:ext cx="32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9" name="TextBox"/>
          <p:cNvSpPr txBox="1"/>
          <p:nvPr/>
        </p:nvSpPr>
        <p:spPr>
          <a:xfrm>
            <a:off x="5110000" y="2960000"/>
            <a:ext cx="30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Belief can become too pessimistic or brittle</a:t>
            </a:r>
          </a:p>
        </p:txBody>
      </p:sp>
      <p:sp>
        <p:nvSpPr>
          <p:cNvPr id="40" name="Rect"/>
          <p:cNvSpPr/>
          <p:nvPr/>
        </p:nvSpPr>
        <p:spPr>
          <a:xfrm>
            <a:off x="8250000" y="2910000"/>
            <a:ext cx="30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1" name="TextBox"/>
          <p:cNvSpPr txBox="1"/>
          <p:nvPr/>
        </p:nvSpPr>
        <p:spPr>
          <a:xfrm>
            <a:off x="8310000" y="2960000"/>
            <a:ext cx="28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Uncertainty-aware probing before quitting</a:t>
            </a:r>
          </a:p>
        </p:txBody>
      </p:sp>
      <p:sp>
        <p:nvSpPr>
          <p:cNvPr id="42" name="Rect"/>
          <p:cNvSpPr/>
          <p:nvPr/>
        </p:nvSpPr>
        <p:spPr>
          <a:xfrm>
            <a:off x="450000" y="3430000"/>
            <a:ext cx="160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3" name="TextBox"/>
          <p:cNvSpPr txBox="1"/>
          <p:nvPr/>
        </p:nvSpPr>
        <p:spPr>
          <a:xfrm>
            <a:off x="510000" y="3480000"/>
            <a:ext cx="14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Belief helps robustness</a:t>
            </a:r>
          </a:p>
        </p:txBody>
      </p:sp>
      <p:sp>
        <p:nvSpPr>
          <p:cNvPr id="44" name="Rect"/>
          <p:cNvSpPr/>
          <p:nvPr/>
        </p:nvSpPr>
        <p:spPr>
          <a:xfrm>
            <a:off x="2050000" y="3430000"/>
            <a:ext cx="300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5" name="TextBox"/>
          <p:cNvSpPr txBox="1"/>
          <p:nvPr/>
        </p:nvSpPr>
        <p:spPr>
          <a:xfrm>
            <a:off x="2110000" y="3480000"/>
            <a:ext cx="28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ASTRA rich, AgenticPay belief</a:t>
            </a:r>
          </a:p>
        </p:txBody>
      </p:sp>
      <p:sp>
        <p:nvSpPr>
          <p:cNvPr id="46" name="Rect"/>
          <p:cNvSpPr/>
          <p:nvPr/>
        </p:nvSpPr>
        <p:spPr>
          <a:xfrm>
            <a:off x="5050000" y="3430000"/>
            <a:ext cx="320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7" name="TextBox"/>
          <p:cNvSpPr txBox="1"/>
          <p:nvPr/>
        </p:nvSpPr>
        <p:spPr>
          <a:xfrm>
            <a:off x="5110000" y="3480000"/>
            <a:ext cx="30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More structured opponent state lowers variance</a:t>
            </a:r>
          </a:p>
        </p:txBody>
      </p:sp>
      <p:sp>
        <p:nvSpPr>
          <p:cNvPr id="48" name="Rect"/>
          <p:cNvSpPr/>
          <p:nvPr/>
        </p:nvSpPr>
        <p:spPr>
          <a:xfrm>
            <a:off x="8250000" y="3430000"/>
            <a:ext cx="3000000" cy="52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9" name="TextBox"/>
          <p:cNvSpPr txBox="1"/>
          <p:nvPr/>
        </p:nvSpPr>
        <p:spPr>
          <a:xfrm>
            <a:off x="8310000" y="3480000"/>
            <a:ext cx="288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111827"/>
                </a:solidFill>
              </a:rPr>
              <a:t>Typed belief + evidence + calibration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Immediate Method Improvements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0000" y="160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Separate strategic evaluation from verbal generation: generator should not change price/terms selected by planner.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Add a deterministic budget/contract guardrail before every final action; invalid actions should be repaired, not scored as accidental failures.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Replace single target price with a candidate offer frontier and estimated accept/counter/reject probabilities.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Add belief calibration metrics: coverage of accepted price by predicted range, Brier score for accept probability, and evidence consistency.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Use environment-specific policy gates: price-only RLVR needs surplus discipline; ASTRA needs joint feasibility and priority uncertainty; AgenticPay needs contract IR checks.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Novelty Thesis: Belief Should Be Decision-Theoretic</a:t>
            </a:r>
          </a:p>
        </p:txBody>
      </p:sp>
      <p:sp>
        <p:nvSpPr>
          <p:cNvPr id="10" name="Rect"/>
          <p:cNvSpPr/>
          <p:nvPr/>
        </p:nvSpPr>
        <p:spPr>
          <a:xfrm>
            <a:off x="670000" y="1480000"/>
            <a:ext cx="10380000" cy="890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</p:sp>
      <p:sp>
        <p:nvSpPr>
          <p:cNvPr id="11" name="TextBox"/>
          <p:cNvSpPr txBox="1"/>
          <p:nvPr/>
        </p:nvSpPr>
        <p:spPr>
          <a:xfrm>
            <a:off x="760000" y="1550000"/>
            <a:ext cx="10200000" cy="7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700" b="1">
                <a:solidFill>
                  <a:srgbClr val="1F2937"/>
                </a:solidFill>
              </a:rPr>
              <a:t>Current A+B+C is useful, but novelty is limited if belief is only a prompted summary.</a:t>
            </a:r>
          </a:p>
        </p:txBody>
      </p:sp>
      <p:sp>
        <p:nvSpPr>
          <p:cNvPr id="12" name="Rect"/>
          <p:cNvSpPr/>
          <p:nvPr/>
        </p:nvSpPr>
        <p:spPr>
          <a:xfrm>
            <a:off x="670000" y="2530000"/>
            <a:ext cx="10380000" cy="124000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760000" y="2600000"/>
            <a:ext cx="10200000" cy="11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800" b="1">
                <a:solidFill>
                  <a:srgbClr val="1F2937"/>
                </a:solidFill>
              </a:rPr>
              <a:t>Stronger thesis: negotiation agents need evidence-grounded opponent beliefs that are typed, uncertain, counterfactual, and directly optimized by the planner.</a:t>
            </a:r>
          </a:p>
        </p:txBody>
      </p:sp>
      <p:sp>
        <p:nvSpPr>
          <p:cNvPr id="14" name="Rect"/>
          <p:cNvSpPr/>
          <p:nvPr/>
        </p:nvSpPr>
        <p:spPr>
          <a:xfrm>
            <a:off x="670000" y="4030000"/>
            <a:ext cx="10380000" cy="104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</p:sp>
      <p:sp>
        <p:nvSpPr>
          <p:cNvPr id="15" name="TextBox"/>
          <p:cNvSpPr txBox="1"/>
          <p:nvPr/>
        </p:nvSpPr>
        <p:spPr>
          <a:xfrm>
            <a:off x="760000" y="4100000"/>
            <a:ext cx="102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500">
                <a:solidFill>
                  <a:srgbClr val="1F2937"/>
                </a:solidFill>
              </a:rPr>
              <a:t>This turns belief from “context for the LLM” into a decision object: posterior variables -&gt; candidate response model -&gt; risk-aware plan -&gt; constrained naturalization.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Novel Belief Model: Typed Evidence-Grounded State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0000" y="160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Represent opponent state as typed variables: reservation range, likely acceptable range, flexibility, patience, dominance, friendliness, term preferences, and walk-away risk.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Each variable carries confidence or a distribution, plus evidence snippets from dialogue turns.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For ASTRA/CaSiNo: priority posterior, concession tendency, fairness preference, and walk-away risk replace generic summaries.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For AgenticPay/RLVR: economic reservation and accept-probability beliefs are primary; social traits are secondary but useful under adversarial personas.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Evaluation: price-range coverage, priority posterior Brier score, calibration of accept probability, and downstream buyer score.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Planner Coupling: Counterfactual Response Model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0000" y="160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Planner generates a frontier of candidate offers or contracts rather than one strategic action.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Belief module predicts P(accept), P(counter), P(reject), P(walk-away) for each candidate.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Planner maximizes expected buyer utility minus walk-away risk and violation penalties.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This directly addresses RLVR overshoot and AgenticPay over-closing: actions are ranked by value, not generated from vibes.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Can start as prompted estimation, then become SFT/RL model trained on trajectories.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Planner Coupling: Uncertainty-Aware Policy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0000" y="160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High confidence low seller floor -&gt; anchor or hold firm.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High uncertainty with enough rounds -&gt; probe or ask targeted preference questions.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High walk-away risk -&gt; safer concession or package deal.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High contract-term uncertainty -&gt; propose balanced terms rather than pure price concession.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Planner should expose why an action was selected: expected utility, risk, information gain, and constraint checks.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112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Environment Strategy for Novelty Claims</a:t>
            </a:r>
          </a:p>
        </p:txBody>
      </p:sp>
      <p:sp>
        <p:nvSpPr>
          <p:cNvPr id="10" name="Rect"/>
          <p:cNvSpPr/>
          <p:nvPr/>
        </p:nvSpPr>
        <p:spPr>
          <a:xfrm>
            <a:off x="420000" y="1350000"/>
            <a:ext cx="1850000" cy="50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1" name="TextBox"/>
          <p:cNvSpPr txBox="1"/>
          <p:nvPr/>
        </p:nvSpPr>
        <p:spPr>
          <a:xfrm>
            <a:off x="480000" y="1400000"/>
            <a:ext cx="1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 b="1">
                <a:solidFill>
                  <a:srgbClr val="111827"/>
                </a:solidFill>
              </a:rPr>
              <a:t>Environment</a:t>
            </a:r>
          </a:p>
        </p:txBody>
      </p:sp>
      <p:sp>
        <p:nvSpPr>
          <p:cNvPr id="12" name="Rect"/>
          <p:cNvSpPr/>
          <p:nvPr/>
        </p:nvSpPr>
        <p:spPr>
          <a:xfrm>
            <a:off x="2270000" y="1350000"/>
            <a:ext cx="2700000" cy="50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2330000" y="1400000"/>
            <a:ext cx="258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 b="1">
                <a:solidFill>
                  <a:srgbClr val="111827"/>
                </a:solidFill>
              </a:rPr>
              <a:t>Best claim</a:t>
            </a:r>
          </a:p>
        </p:txBody>
      </p:sp>
      <p:sp>
        <p:nvSpPr>
          <p:cNvPr id="14" name="Rect"/>
          <p:cNvSpPr/>
          <p:nvPr/>
        </p:nvSpPr>
        <p:spPr>
          <a:xfrm>
            <a:off x="4970000" y="1350000"/>
            <a:ext cx="2850000" cy="50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5" name="TextBox"/>
          <p:cNvSpPr txBox="1"/>
          <p:nvPr/>
        </p:nvSpPr>
        <p:spPr>
          <a:xfrm>
            <a:off x="5030000" y="1400000"/>
            <a:ext cx="2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 b="1">
                <a:solidFill>
                  <a:srgbClr val="111827"/>
                </a:solidFill>
              </a:rPr>
              <a:t>Why useful</a:t>
            </a:r>
          </a:p>
        </p:txBody>
      </p:sp>
      <p:sp>
        <p:nvSpPr>
          <p:cNvPr id="16" name="Rect"/>
          <p:cNvSpPr/>
          <p:nvPr/>
        </p:nvSpPr>
        <p:spPr>
          <a:xfrm>
            <a:off x="7820000" y="1350000"/>
            <a:ext cx="2850000" cy="5000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17" name="TextBox"/>
          <p:cNvSpPr txBox="1"/>
          <p:nvPr/>
        </p:nvSpPr>
        <p:spPr>
          <a:xfrm>
            <a:off x="7880000" y="1400000"/>
            <a:ext cx="2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 b="1">
                <a:solidFill>
                  <a:srgbClr val="111827"/>
                </a:solidFill>
              </a:rPr>
              <a:t>Primary metrics</a:t>
            </a:r>
          </a:p>
        </p:txBody>
      </p:sp>
      <p:sp>
        <p:nvSpPr>
          <p:cNvPr id="18" name="Rect"/>
          <p:cNvSpPr/>
          <p:nvPr/>
        </p:nvSpPr>
        <p:spPr>
          <a:xfrm>
            <a:off x="420000" y="1850000"/>
            <a:ext cx="1850000" cy="5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19" name="TextBox"/>
          <p:cNvSpPr txBox="1"/>
          <p:nvPr/>
        </p:nvSpPr>
        <p:spPr>
          <a:xfrm>
            <a:off x="480000" y="1900000"/>
            <a:ext cx="1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RLVR</a:t>
            </a:r>
          </a:p>
        </p:txBody>
      </p:sp>
      <p:sp>
        <p:nvSpPr>
          <p:cNvPr id="20" name="Rect"/>
          <p:cNvSpPr/>
          <p:nvPr/>
        </p:nvSpPr>
        <p:spPr>
          <a:xfrm>
            <a:off x="2270000" y="1850000"/>
            <a:ext cx="2700000" cy="5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1" name="TextBox"/>
          <p:cNvSpPr txBox="1"/>
          <p:nvPr/>
        </p:nvSpPr>
        <p:spPr>
          <a:xfrm>
            <a:off x="2330000" y="1900000"/>
            <a:ext cx="258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Verifiable surplus extraction</a:t>
            </a:r>
          </a:p>
        </p:txBody>
      </p:sp>
      <p:sp>
        <p:nvSpPr>
          <p:cNvPr id="22" name="Rect"/>
          <p:cNvSpPr/>
          <p:nvPr/>
        </p:nvSpPr>
        <p:spPr>
          <a:xfrm>
            <a:off x="4970000" y="1850000"/>
            <a:ext cx="2850000" cy="5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3" name="TextBox"/>
          <p:cNvSpPr txBox="1"/>
          <p:nvPr/>
        </p:nvSpPr>
        <p:spPr>
          <a:xfrm>
            <a:off x="5030000" y="1900000"/>
            <a:ext cx="2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Clean reward, overshoot, accept/reject outcomes</a:t>
            </a:r>
          </a:p>
        </p:txBody>
      </p:sp>
      <p:sp>
        <p:nvSpPr>
          <p:cNvPr id="24" name="Rect"/>
          <p:cNvSpPr/>
          <p:nvPr/>
        </p:nvSpPr>
        <p:spPr>
          <a:xfrm>
            <a:off x="7820000" y="1850000"/>
            <a:ext cx="2850000" cy="5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5" name="TextBox"/>
          <p:cNvSpPr txBox="1"/>
          <p:nvPr/>
        </p:nvSpPr>
        <p:spPr>
          <a:xfrm>
            <a:off x="7880000" y="1900000"/>
            <a:ext cx="2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Reward, bargain ratio, overshoot, calibration</a:t>
            </a:r>
          </a:p>
        </p:txBody>
      </p:sp>
      <p:sp>
        <p:nvSpPr>
          <p:cNvPr id="26" name="Rect"/>
          <p:cNvSpPr/>
          <p:nvPr/>
        </p:nvSpPr>
        <p:spPr>
          <a:xfrm>
            <a:off x="420000" y="2350000"/>
            <a:ext cx="1850000" cy="50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27" name="TextBox"/>
          <p:cNvSpPr txBox="1"/>
          <p:nvPr/>
        </p:nvSpPr>
        <p:spPr>
          <a:xfrm>
            <a:off x="480000" y="2400000"/>
            <a:ext cx="1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AgenticPay</a:t>
            </a:r>
          </a:p>
        </p:txBody>
      </p:sp>
      <p:sp>
        <p:nvSpPr>
          <p:cNvPr id="28" name="Rect"/>
          <p:cNvSpPr/>
          <p:nvPr/>
        </p:nvSpPr>
        <p:spPr>
          <a:xfrm>
            <a:off x="2270000" y="2350000"/>
            <a:ext cx="2700000" cy="50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29" name="TextBox"/>
          <p:cNvSpPr txBox="1"/>
          <p:nvPr/>
        </p:nvSpPr>
        <p:spPr>
          <a:xfrm>
            <a:off x="2330000" y="2400000"/>
            <a:ext cx="258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Contract-aware buyer robustness</a:t>
            </a:r>
          </a:p>
        </p:txBody>
      </p:sp>
      <p:sp>
        <p:nvSpPr>
          <p:cNvPr id="30" name="Rect"/>
          <p:cNvSpPr/>
          <p:nvPr/>
        </p:nvSpPr>
        <p:spPr>
          <a:xfrm>
            <a:off x="4970000" y="2350000"/>
            <a:ext cx="2850000" cy="50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31" name="TextBox"/>
          <p:cNvSpPr txBox="1"/>
          <p:nvPr/>
        </p:nvSpPr>
        <p:spPr>
          <a:xfrm>
            <a:off x="5030000" y="2400000"/>
            <a:ext cx="2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Multi-domain price/contract tasks with seller errors</a:t>
            </a:r>
          </a:p>
        </p:txBody>
      </p:sp>
      <p:sp>
        <p:nvSpPr>
          <p:cNvPr id="32" name="Rect"/>
          <p:cNvSpPr/>
          <p:nvPr/>
        </p:nvSpPr>
        <p:spPr>
          <a:xfrm>
            <a:off x="7820000" y="2350000"/>
            <a:ext cx="2850000" cy="50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33" name="TextBox"/>
          <p:cNvSpPr txBox="1"/>
          <p:nvPr/>
        </p:nvSpPr>
        <p:spPr>
          <a:xfrm>
            <a:off x="7880000" y="2400000"/>
            <a:ext cx="2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fixed-seller, no-error, deals-only, IR violation</a:t>
            </a:r>
          </a:p>
        </p:txBody>
      </p:sp>
      <p:sp>
        <p:nvSpPr>
          <p:cNvPr id="34" name="Rect"/>
          <p:cNvSpPr/>
          <p:nvPr/>
        </p:nvSpPr>
        <p:spPr>
          <a:xfrm>
            <a:off x="420000" y="2850000"/>
            <a:ext cx="1850000" cy="5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5" name="TextBox"/>
          <p:cNvSpPr txBox="1"/>
          <p:nvPr/>
        </p:nvSpPr>
        <p:spPr>
          <a:xfrm>
            <a:off x="480000" y="2900000"/>
            <a:ext cx="1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ASTRA/CaSiNo</a:t>
            </a:r>
          </a:p>
        </p:txBody>
      </p:sp>
      <p:sp>
        <p:nvSpPr>
          <p:cNvPr id="36" name="Rect"/>
          <p:cNvSpPr/>
          <p:nvPr/>
        </p:nvSpPr>
        <p:spPr>
          <a:xfrm>
            <a:off x="2270000" y="2850000"/>
            <a:ext cx="2700000" cy="5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7" name="TextBox"/>
          <p:cNvSpPr txBox="1"/>
          <p:nvPr/>
        </p:nvSpPr>
        <p:spPr>
          <a:xfrm>
            <a:off x="2330000" y="2900000"/>
            <a:ext cx="258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Preference/social belief helps agreement</a:t>
            </a:r>
          </a:p>
        </p:txBody>
      </p:sp>
      <p:sp>
        <p:nvSpPr>
          <p:cNvPr id="38" name="Rect"/>
          <p:cNvSpPr/>
          <p:nvPr/>
        </p:nvSpPr>
        <p:spPr>
          <a:xfrm>
            <a:off x="4970000" y="2850000"/>
            <a:ext cx="2850000" cy="5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9" name="TextBox"/>
          <p:cNvSpPr txBox="1"/>
          <p:nvPr/>
        </p:nvSpPr>
        <p:spPr>
          <a:xfrm>
            <a:off x="5030000" y="2900000"/>
            <a:ext cx="2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Hidden priorities and partner behavior</a:t>
            </a:r>
          </a:p>
        </p:txBody>
      </p:sp>
      <p:sp>
        <p:nvSpPr>
          <p:cNvPr id="40" name="Rect"/>
          <p:cNvSpPr/>
          <p:nvPr/>
        </p:nvSpPr>
        <p:spPr>
          <a:xfrm>
            <a:off x="7820000" y="2850000"/>
            <a:ext cx="2850000" cy="5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41" name="TextBox"/>
          <p:cNvSpPr txBox="1"/>
          <p:nvPr/>
        </p:nvSpPr>
        <p:spPr>
          <a:xfrm>
            <a:off x="7880000" y="2900000"/>
            <a:ext cx="2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score, agreement, walk-away, priority posterior</a:t>
            </a:r>
          </a:p>
        </p:txBody>
      </p:sp>
      <p:sp>
        <p:nvSpPr>
          <p:cNvPr id="42" name="Rect"/>
          <p:cNvSpPr/>
          <p:nvPr/>
        </p:nvSpPr>
        <p:spPr>
          <a:xfrm>
            <a:off x="420000" y="3350000"/>
            <a:ext cx="1850000" cy="50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3" name="TextBox"/>
          <p:cNvSpPr txBox="1"/>
          <p:nvPr/>
        </p:nvSpPr>
        <p:spPr>
          <a:xfrm>
            <a:off x="480000" y="3400000"/>
            <a:ext cx="1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Multi-seller AgenticPay</a:t>
            </a:r>
          </a:p>
        </p:txBody>
      </p:sp>
      <p:sp>
        <p:nvSpPr>
          <p:cNvPr id="44" name="Rect"/>
          <p:cNvSpPr/>
          <p:nvPr/>
        </p:nvSpPr>
        <p:spPr>
          <a:xfrm>
            <a:off x="2270000" y="3350000"/>
            <a:ext cx="2700000" cy="50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5" name="TextBox"/>
          <p:cNvSpPr txBox="1"/>
          <p:nvPr/>
        </p:nvSpPr>
        <p:spPr>
          <a:xfrm>
            <a:off x="2330000" y="3400000"/>
            <a:ext cx="258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Market-level opponent belief</a:t>
            </a:r>
          </a:p>
        </p:txBody>
      </p:sp>
      <p:sp>
        <p:nvSpPr>
          <p:cNvPr id="46" name="Rect"/>
          <p:cNvSpPr/>
          <p:nvPr/>
        </p:nvSpPr>
        <p:spPr>
          <a:xfrm>
            <a:off x="4970000" y="3350000"/>
            <a:ext cx="2850000" cy="50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7" name="TextBox"/>
          <p:cNvSpPr txBox="1"/>
          <p:nvPr/>
        </p:nvSpPr>
        <p:spPr>
          <a:xfrm>
            <a:off x="5030000" y="3400000"/>
            <a:ext cx="2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Outside options and allocation across sellers</a:t>
            </a:r>
          </a:p>
        </p:txBody>
      </p:sp>
      <p:sp>
        <p:nvSpPr>
          <p:cNvPr id="48" name="Rect"/>
          <p:cNvSpPr/>
          <p:nvPr/>
        </p:nvSpPr>
        <p:spPr>
          <a:xfrm>
            <a:off x="7820000" y="3350000"/>
            <a:ext cx="2850000" cy="50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49" name="TextBox"/>
          <p:cNvSpPr txBox="1"/>
          <p:nvPr/>
        </p:nvSpPr>
        <p:spPr>
          <a:xfrm>
            <a:off x="7880000" y="3400000"/>
            <a:ext cx="27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880">
                <a:solidFill>
                  <a:srgbClr val="111827"/>
                </a:solidFill>
              </a:rPr>
              <a:t>regret vs oracle, selected seller optimality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Training Path: From Prompted Belief to Learned Planner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0000" y="160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SFT on belief-plan-action traces: train the model to produce auditable typed belief, candidate values, and constrained actions.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Auxiliary rewards: outcome reward + belief calibration + plan-action consistency - violation penalty.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Counterfactual labels can be generated from completed trajectories: history + candidate offer -&gt; observed accept/counter/reject/walk-away.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A small value/ranking model can sit between belief and generator, avoiding prompt-only planner brittleness.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Start with Qwen14/30B prompt wrappers; later distill into smaller LoRA for repeatable evaluation.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Recommended Paper Direction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0000" y="160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Main contribution: Counterfactual, Evidence-Grounded Opponent Belief for Negotiation Planning.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Method name option: COPE, Counterfactual Opponent Preference Estimation, or CORTEX-Negotiator.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Core modules: typed belief extractor, counterfactual response estimator, risk-aware planner, constrained naturalizer.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Minimum viable experiments: RLVR strict AmazonHistoryPrice + AgenticPay Single28 + ASTRA/CaSiNo belief stress test.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Key story: not just modular A+B+C; the breakthrough is making opponent belief calibrated, testable, and planner-consumable.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4864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Next Steps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0000" y="160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Let current RLVR and ASTRA runs finish; refresh metrics with full n before claiming performance.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Implement deterministic action repair for RLVR and contract guardrails for AgenticPay.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Add candidate-offer frontier and counterfactual response estimation to RLVR first, because metrics are verifiable.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Port typed evidence-grounded belief to ASTRA and compute priority posterior calibration.</a:t>
            </a:r>
          </a:p>
          <a:p>
            <a:pPr marL="0" indent="-171450">
              <a:buChar char="•"/>
            </a:pPr>
            <a:r>
              <a:rPr lang="en-US" sz="1550">
                <a:solidFill>
                  <a:srgbClr val="1F2937"/>
                </a:solidFill>
              </a:rPr>
              <a:t>Prepare one multi-seller AgenticPay experiment to demonstrate market-level belief novelty.</a:t>
            </a:r>
          </a:p>
        </p:txBody>
      </p:sp>
      <p:sp>
        <p:nvSpPr>
          <p:cNvPr id="900" name="TextBox"/>
          <p:cNvSpPr txBox="1"/>
          <p:nvPr/>
        </p:nvSpPr>
        <p:spPr>
          <a:xfrm>
            <a:off x="760000" y="642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</a:rPr>
              <a:t>Current partial runs as of 2026-06-26 17:42 UTC; ASTRA/RLVR are still running, so early metrics should be treated as directional.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111827"/>
      </a:dk1>
      <a:lt1>
        <a:srgbClr val="FFFFFF"/>
      </a:lt1>
      <a:dk2>
        <a:srgbClr val="374151"/>
      </a:dk2>
      <a:lt2>
        <a:srgbClr val="F9FAFB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Simple">
      <a:majorFont>
        <a:latin typeface="Aptos Display"/>
      </a:majorFont>
      <a:minorFont>
        <a:latin typeface="Aptos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Negotiation Experiments and Belief-Centric Novelty</dc:title>
  <dc:creator>Codex</dc:creator>
  <cp:lastModifiedBy>Codex</cp:lastModifiedBy>
  <dcterms:created xsi:type="dcterms:W3CDTF">2026-06-26T16:04:24Z</dcterms:created>
  <dcterms:modified xsi:type="dcterms:W3CDTF">2026-06-26T16:04:24Z</dcterms:modified>
</cp:coreProperties>
</file>