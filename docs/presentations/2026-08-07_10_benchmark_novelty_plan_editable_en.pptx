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56" r:id="rId3"/>
    <p:sldId id="282" r:id="rId4"/>
    <p:sldId id="283" r:id="rId5"/>
    <p:sldId id="284" r:id="rId6"/>
    <p:sldId id="260" r:id="rId7"/>
    <p:sldId id="261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9" y="3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73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61000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Decision-Calibrated Belief-to-Action Planning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10000" y="1809878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Our exploration of OpenReview identified several 2026 studies that apply continuous opponent modeling to negotiation tasks. This overlap reduces the novelty of our work.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B55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</a:rPr>
              <a:t>Explorations on benchmark: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LLM-Deliberation</a:t>
            </a:r>
            <a:r>
              <a:rPr lang="zh-CN" altLang="zh-CN" sz="2000" dirty="0"/>
              <a:t> is a well-known benchmark proposed at NeurIPS 2024 (currently with 154 citations). However, recent studies have shown that the negotiation process in this benchmark is not truly meaningful.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NegotiationArena</a:t>
            </a:r>
            <a:r>
              <a:rPr lang="zh-CN" altLang="zh-CN" sz="2000" dirty="0"/>
              <a:t> can be regarded as a simplified version of </a:t>
            </a:r>
            <a:r>
              <a:rPr lang="zh-CN" altLang="zh-CN" sz="2000" b="1" dirty="0"/>
              <a:t>SimpleEnv/AmazonHistoryPrice</a:t>
            </a:r>
            <a:r>
              <a:rPr lang="zh-CN" altLang="zh-CN" sz="2000" dirty="0"/>
              <a:t> (the environment we tested previously), while still allowing for direct comparisons with existing baselines.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The </a:t>
            </a:r>
            <a:r>
              <a:rPr lang="zh-CN" altLang="zh-CN" sz="2000" b="1" dirty="0"/>
              <a:t>ACL benchmark</a:t>
            </a:r>
            <a:r>
              <a:rPr lang="zh-CN" altLang="zh-CN" sz="2000" dirty="0"/>
              <a:t> uses the </a:t>
            </a:r>
            <a:r>
              <a:rPr lang="zh-CN" altLang="zh-CN" sz="2000" b="1" dirty="0"/>
              <a:t>alternating-offers protocol</a:t>
            </a:r>
            <a:r>
              <a:rPr lang="zh-CN" altLang="zh-CN" sz="2000" dirty="0"/>
              <a:t> for negotiation. It can serve as a benchmark for evaluating </a:t>
            </a:r>
            <a:r>
              <a:rPr lang="zh-CN" altLang="zh-CN" sz="2000" b="1" dirty="0"/>
              <a:t>posterior calibration</a:t>
            </a:r>
            <a:r>
              <a:rPr lang="zh-CN" altLang="zh-CN" sz="2000" dirty="0"/>
              <a:t>, but it is not ideal as the primary benchmark because it does not involve natural language.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altLang="zh-CN" sz="3200" dirty="0"/>
              <a:t>Opponent Simulation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/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4D43B2-AAB5-AAF9-BFA4-B8772C233A53}"/>
              </a:ext>
            </a:extLst>
          </p:cNvPr>
          <p:cNvSpPr txBox="1"/>
          <p:nvPr/>
        </p:nvSpPr>
        <p:spPr>
          <a:xfrm>
            <a:off x="435428" y="1125894"/>
            <a:ext cx="103756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Scaling Inference-Time Computation via Opponent Simulation: Enabling Online</a:t>
            </a:r>
            <a:br>
              <a:rPr lang="zh-CN" altLang="zh-CN" sz="2400" dirty="0"/>
            </a:br>
            <a:r>
              <a:rPr lang="zh-CN" altLang="zh-CN" sz="2400" dirty="0"/>
              <a:t>Strategic Adaptation in Repeated Negotiation</a:t>
            </a:r>
            <a:r>
              <a:rPr lang="en-US" altLang="zh-CN" sz="2400" dirty="0"/>
              <a:t>(ICML2026 Regular): continuous-update belief and belief-usable planner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Use negotiation trajectories to train an auxiliary LLM.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Use auxiliary LLM to simulate the actions of the opponent.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Let the current agent generate several candidate messages.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For each candidate message, continue the rollout with the simulated opponent.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Choose the candidate with the best expected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BA6-379D-D4A6-2347-47725C9B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018AEDD-580B-0327-990A-F03ECE4037FE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altLang="zh-CN" sz="3200" dirty="0"/>
              <a:t>Opponent Simulation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04A45A8-8038-3176-AC39-E1C43971BE69}"/>
              </a:ext>
            </a:extLst>
          </p:cNvPr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F860CF-2925-121A-A88A-DB499F02EEDB}"/>
              </a:ext>
            </a:extLst>
          </p:cNvPr>
          <p:cNvSpPr txBox="1"/>
          <p:nvPr/>
        </p:nvSpPr>
        <p:spPr>
          <a:xfrm>
            <a:off x="435428" y="1125894"/>
            <a:ext cx="1037564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This Opponent Simulation used the auxiliary LLM to simulate the opponents through the process and continuous updated it, which overlaps with our work much.</a:t>
            </a:r>
          </a:p>
          <a:p>
            <a:r>
              <a:rPr lang="en-US" altLang="zh-CN" sz="2400" dirty="0"/>
              <a:t>	However, this method uses a lot of cost and can only simulate simple fixed model on simple environment(Negotiation Arena with single buyer single seller). Our method can focus on a universal </a:t>
            </a:r>
            <a:r>
              <a:rPr lang="zh-CN" altLang="zh-CN" sz="2400" dirty="0"/>
              <a:t>calibrated posterior</a:t>
            </a:r>
            <a:r>
              <a:rPr lang="en-US" altLang="zh-CN" sz="2400" dirty="0"/>
              <a:t> that can be adaptive to opponents with different characters, irrational behaviors, and how can the planner get decision values from the belief.</a:t>
            </a:r>
          </a:p>
          <a:p>
            <a:r>
              <a:rPr lang="en-US" altLang="zh-CN" sz="2400" dirty="0"/>
              <a:t>	I have already done a quick comparison on </a:t>
            </a:r>
            <a:r>
              <a:rPr lang="en-US" altLang="zh-CN" sz="2400" dirty="0" err="1"/>
              <a:t>NegotiationArena</a:t>
            </a:r>
            <a:r>
              <a:rPr lang="en-US" altLang="zh-CN" sz="2400" dirty="0"/>
              <a:t>, but the experiment still not finished.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34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512D-AE4E-F553-FEAC-23C074A7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D8C07517-6D4F-4266-9FFC-F21C8394A803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en-US" altLang="zh-CN" sz="3200" dirty="0"/>
              <a:t>Other exists works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7AFD5C8-A691-E9DA-F373-1576A1914C1C}"/>
              </a:ext>
            </a:extLst>
          </p:cNvPr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6679E9-F72A-FC45-DA42-4820AF7895CC}"/>
              </a:ext>
            </a:extLst>
          </p:cNvPr>
          <p:cNvSpPr txBox="1"/>
          <p:nvPr/>
        </p:nvSpPr>
        <p:spPr>
          <a:xfrm>
            <a:off x="435428" y="1125894"/>
            <a:ext cx="1037564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MIND(ICLR2026</a:t>
            </a:r>
            <a:r>
              <a:rPr lang="zh-CN" altLang="en-US" sz="2400" dirty="0"/>
              <a:t> </a:t>
            </a:r>
            <a:r>
              <a:rPr lang="en-US" altLang="zh-CN" sz="2400" dirty="0"/>
              <a:t>workshop</a:t>
            </a:r>
            <a:r>
              <a:rPr lang="zh-CN" altLang="en-US" sz="2400" dirty="0"/>
              <a:t> </a:t>
            </a:r>
            <a:r>
              <a:rPr lang="en-US" altLang="zh-CN" sz="2400" dirty="0"/>
              <a:t>HCAIR): infer willingness on multi-agent travel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HAR(LLA2026 poster): </a:t>
            </a:r>
            <a:r>
              <a:rPr lang="zh-CN" altLang="zh-CN" sz="2400" dirty="0"/>
              <a:t>hierarchical planning</a:t>
            </a:r>
            <a:r>
              <a:rPr lang="en-US" altLang="zh-CN" sz="2400" dirty="0"/>
              <a:t> on negotiation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GENEGO</a:t>
            </a:r>
            <a:r>
              <a:rPr lang="en-US" altLang="zh-CN" sz="2400" dirty="0"/>
              <a:t>(</a:t>
            </a:r>
            <a:r>
              <a:rPr lang="zh-CN" altLang="zh-CN" sz="2400" dirty="0"/>
              <a:t>ICML 2026 AgenticUQ Workshop</a:t>
            </a:r>
            <a:r>
              <a:rPr lang="en-US" altLang="zh-CN" sz="2400" dirty="0"/>
              <a:t>): structured memory and pairwise preference inference on </a:t>
            </a:r>
            <a:r>
              <a:rPr lang="en-US" altLang="zh-CN" sz="2400" dirty="0" err="1"/>
              <a:t>CaSiNo</a:t>
            </a:r>
            <a:r>
              <a:rPr lang="en-US" altLang="zh-CN" sz="2400" dirty="0"/>
              <a:t> environment. Can be tested as a new baseline</a:t>
            </a:r>
            <a:br>
              <a:rPr lang="zh-CN" altLang="zh-CN" dirty="0"/>
            </a:b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3BD882F-4328-7ADC-4218-78078B608DF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680301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597233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0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07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5C98-28AA-B13A-AC8E-91BC258B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>
            <a:extLst>
              <a:ext uri="{FF2B5EF4-FFF2-40B4-BE49-F238E27FC236}">
                <a16:creationId xmlns:a16="http://schemas.microsoft.com/office/drawing/2014/main" id="{2D8F55B6-E5F4-566D-6A5E-5CCB34D2CC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8FD075-4201-48C8-BAA8-D5D7DA6F5394}"/>
              </a:ext>
            </a:extLst>
          </p:cNvPr>
          <p:cNvSpPr txBox="1"/>
          <p:nvPr/>
        </p:nvSpPr>
        <p:spPr>
          <a:xfrm>
            <a:off x="61000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Benchmarks Exploration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829E3EC-5E20-90C0-DB2B-D0B1756CDBA0}"/>
              </a:ext>
            </a:extLst>
          </p:cNvPr>
          <p:cNvSpPr txBox="1"/>
          <p:nvPr/>
        </p:nvSpPr>
        <p:spPr>
          <a:xfrm>
            <a:off x="610000" y="1809878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From the exploration on </a:t>
            </a:r>
            <a:r>
              <a:rPr lang="en-US" altLang="zh-CN" sz="2400" dirty="0" err="1"/>
              <a:t>openreview</a:t>
            </a:r>
            <a:r>
              <a:rPr lang="en-US" altLang="zh-CN" sz="2400" dirty="0"/>
              <a:t>, our result on </a:t>
            </a:r>
            <a:r>
              <a:rPr lang="en-US" altLang="zh-CN" sz="2400" dirty="0" err="1"/>
              <a:t>AmazonHistoryPrice</a:t>
            </a:r>
            <a:r>
              <a:rPr lang="en-US" altLang="zh-CN" sz="2400" dirty="0"/>
              <a:t>(which is called simple env in before slides) and </a:t>
            </a:r>
            <a:r>
              <a:rPr lang="en-US" altLang="zh-CN" sz="2400" dirty="0" err="1"/>
              <a:t>CaSiNo</a:t>
            </a:r>
            <a:r>
              <a:rPr lang="en-US" altLang="zh-CN" sz="2400" dirty="0"/>
              <a:t> can already be reasonable for a paper, but may require more design for novelty.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B55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</a:rPr>
              <a:t>Explorations on benchmark: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LLM-Deliberation</a:t>
            </a:r>
            <a:r>
              <a:rPr lang="zh-CN" altLang="zh-CN" sz="2000" dirty="0"/>
              <a:t> is a well-known benchmark proposed at NeurIPS 2024 (currently with 154 citations). However, recent studies have shown that the negotiation process in this benchmark is not truly meaningful.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NegotiationArena</a:t>
            </a:r>
            <a:r>
              <a:rPr lang="zh-CN" altLang="zh-CN" sz="2000" dirty="0"/>
              <a:t> can be regarded as a simplified version of </a:t>
            </a:r>
            <a:r>
              <a:rPr lang="zh-CN" altLang="zh-CN" sz="2000" b="1" dirty="0"/>
              <a:t>SimpleEnv/AmazonHistoryPrice</a:t>
            </a:r>
            <a:r>
              <a:rPr lang="zh-CN" altLang="zh-CN" sz="2000" dirty="0"/>
              <a:t> (the environment we tested previously), while still allowing for direct comparisons with existing baselines.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The </a:t>
            </a:r>
            <a:r>
              <a:rPr lang="zh-CN" altLang="zh-CN" sz="2000" b="1" dirty="0"/>
              <a:t>ACL benchmark</a:t>
            </a:r>
            <a:r>
              <a:rPr lang="zh-CN" altLang="zh-CN" sz="2000" dirty="0"/>
              <a:t> uses the </a:t>
            </a:r>
            <a:r>
              <a:rPr lang="zh-CN" altLang="zh-CN" sz="2000" b="1" dirty="0"/>
              <a:t>alternating-offers protocol</a:t>
            </a:r>
            <a:r>
              <a:rPr lang="zh-CN" altLang="zh-CN" sz="2000" dirty="0"/>
              <a:t> for negotiation. It can serve as a benchmark for evaluating </a:t>
            </a:r>
            <a:r>
              <a:rPr lang="zh-CN" altLang="zh-CN" sz="2000" b="1" dirty="0"/>
              <a:t>posterior calibration</a:t>
            </a:r>
            <a:r>
              <a:rPr lang="zh-CN" altLang="zh-CN" sz="2000" dirty="0"/>
              <a:t>, but it is not ideal as the primary benchmark because it does not involve natural language.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B55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29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NegotiationArena: simple tasks, essential direct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Its value rises because Opponent Simulation uses a precise repeated-game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05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6F709CB-C564-2991-5D74-6FC3155C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656134"/>
            <a:ext cx="5626757" cy="25690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CB5B4FE-2265-DDBE-6ABC-86B9F4EAA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466" y="2656134"/>
            <a:ext cx="5605110" cy="2569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ANL: a clean mechanism test, not a language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5D6878"/>
                </a:solidFill>
                <a:latin typeface="Aptos"/>
              </a:rPr>
              <a:t>Can be regard as test for </a:t>
            </a:r>
            <a:r>
              <a:rPr lang="en-US" sz="1300" b="0" i="0" dirty="0" err="1">
                <a:solidFill>
                  <a:srgbClr val="5D6878"/>
                </a:solidFill>
                <a:latin typeface="Aptos"/>
              </a:rPr>
              <a:t>caliberation</a:t>
            </a:r>
            <a:r>
              <a:rPr lang="en-US" sz="1300" b="0" i="0" dirty="0">
                <a:solidFill>
                  <a:srgbClr val="5D6878"/>
                </a:solidFill>
                <a:latin typeface="Aptos"/>
              </a:rPr>
              <a:t> belief</a:t>
            </a:r>
            <a:endParaRPr sz="1300" b="0" i="0" dirty="0">
              <a:solidFill>
                <a:srgbClr val="5D68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656463"/>
              </p:ext>
            </p:extLst>
          </p:nvPr>
        </p:nvGraphicFramePr>
        <p:xfrm>
          <a:off x="603504" y="1847088"/>
          <a:ext cx="10972798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League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Hidden information / structure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Best diagnostic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Paper role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2024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Known utility shape; hidden reservation value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RV posterior, coverage, oracle regret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Calibration sanity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2025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Sequential one-to-many, multi-deal dependency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Continuation value and global planning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Planner mechanism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2026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Unknown utility + reservation; concealment rewarded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Exploration vs self-information leakage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D2738"/>
                          </a:solidFill>
                          <a:latin typeface="Aptos"/>
                        </a:rPr>
                        <a:t>Information-control stress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The research gap becomes a three-link evidence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Accuracy alone is insufficient; reward alone does not prove belief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956816"/>
            <a:ext cx="3383280" cy="2331720"/>
          </a:xfrm>
          <a:prstGeom prst="roundRect">
            <a:avLst/>
          </a:prstGeom>
          <a:solidFill>
            <a:srgbClr val="E7F0FB"/>
          </a:solidFill>
          <a:ln w="1016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2167128"/>
            <a:ext cx="658368" cy="310896"/>
          </a:xfrm>
          <a:prstGeom prst="roundRect">
            <a:avLst/>
          </a:prstGeom>
          <a:solidFill>
            <a:srgbClr val="3578C6"/>
          </a:solidFill>
          <a:ln w="635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71700"/>
            <a:ext cx="65836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60904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2738"/>
                </a:solidFill>
                <a:latin typeface="Aptos"/>
              </a:rPr>
              <a:t>Belief 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63824"/>
            <a:ext cx="292608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878"/>
                </a:solidFill>
                <a:latin typeface="Aptos"/>
              </a:rPr>
              <a:t>Is the posterior accurate, calibrated and aware of uncertainty?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78224" y="2834640"/>
            <a:ext cx="228600" cy="384048"/>
          </a:xfrm>
          <a:prstGeom prst="rightArrow">
            <a:avLst/>
          </a:prstGeom>
          <a:solidFill>
            <a:srgbClr val="5D6878"/>
          </a:solidFill>
          <a:ln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2544" y="1956816"/>
            <a:ext cx="3383280" cy="2331720"/>
          </a:xfrm>
          <a:prstGeom prst="roundRect">
            <a:avLst/>
          </a:prstGeom>
          <a:solidFill>
            <a:srgbClr val="FFF0DE"/>
          </a:solidFill>
          <a:ln w="1016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53712" y="2167128"/>
            <a:ext cx="658368" cy="310896"/>
          </a:xfrm>
          <a:prstGeom prst="roundRect">
            <a:avLst/>
          </a:prstGeom>
          <a:solidFill>
            <a:srgbClr val="F39C3D"/>
          </a:solidFill>
          <a:ln w="635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171700"/>
            <a:ext cx="65836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660904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2738"/>
                </a:solidFill>
                <a:latin typeface="Aptos"/>
              </a:rPr>
              <a:t>Belief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163824"/>
            <a:ext cx="292608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878"/>
                </a:solidFill>
                <a:latin typeface="Aptos"/>
              </a:rPr>
              <a:t>Does changing the posterior predictably change candidate ranking and action?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27263" y="2834640"/>
            <a:ext cx="228600" cy="384048"/>
          </a:xfrm>
          <a:prstGeom prst="rightArrow">
            <a:avLst/>
          </a:prstGeom>
          <a:solidFill>
            <a:srgbClr val="5D6878"/>
          </a:solidFill>
          <a:ln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01583" y="1956816"/>
            <a:ext cx="3383280" cy="2331720"/>
          </a:xfrm>
          <a:prstGeom prst="roundRect">
            <a:avLst/>
          </a:prstGeom>
          <a:solidFill>
            <a:srgbClr val="DDF5F1"/>
          </a:solidFill>
          <a:ln w="1016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02752" y="2167128"/>
            <a:ext cx="658368" cy="310896"/>
          </a:xfrm>
          <a:prstGeom prst="roundRect">
            <a:avLst/>
          </a:prstGeom>
          <a:solidFill>
            <a:srgbClr val="1EA89A"/>
          </a:solidFill>
          <a:ln w="635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2171700"/>
            <a:ext cx="65836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660904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2738"/>
                </a:solidFill>
                <a:latin typeface="Aptos"/>
              </a:rPr>
              <a:t>Decision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163824"/>
            <a:ext cx="292608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878"/>
                </a:solidFill>
                <a:latin typeface="Aptos"/>
              </a:rPr>
              <a:t>Does the correct posterior beat frozen, shuffled and wrong beliefs?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800600"/>
            <a:ext cx="10149840" cy="960120"/>
          </a:xfrm>
          <a:prstGeom prst="roundRect">
            <a:avLst/>
          </a:prstGeom>
          <a:solidFill>
            <a:srgbClr val="10192D"/>
          </a:solidFill>
          <a:ln w="1016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07592" y="5093208"/>
            <a:ext cx="960120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language evidence  →  calibrated posterior  →  counterfactual ranking change  →  reward / regret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274320"/>
            <a:ext cx="1143000" cy="310896"/>
          </a:xfrm>
          <a:prstGeom prst="roundRect">
            <a:avLst/>
          </a:prstGeom>
          <a:solidFill>
            <a:srgbClr val="E7F0FB"/>
          </a:solidFill>
          <a:ln w="635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8892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78C6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Proposed framework: Decision-Calibrated Dual-Timescale Belief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Working name: DC-BAP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965960"/>
            <a:ext cx="1993392" cy="1298448"/>
          </a:xfrm>
          <a:prstGeom prst="roundRect">
            <a:avLst/>
          </a:prstGeom>
          <a:solidFill>
            <a:srgbClr val="E7F0FB"/>
          </a:solidFill>
          <a:ln w="1016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77393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2738"/>
                </a:solidFill>
                <a:latin typeface="Aptos"/>
              </a:rPr>
              <a:t>Evidence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1773936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D6878"/>
                </a:solidFill>
                <a:latin typeface="Aptos"/>
              </a:rPr>
              <a:t>Offers • responses • reasons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78024" y="2414016"/>
            <a:ext cx="228600" cy="365760"/>
          </a:xfrm>
          <a:prstGeom prst="rightArrow">
            <a:avLst/>
          </a:prstGeom>
          <a:solidFill>
            <a:srgbClr val="5D6878"/>
          </a:solidFill>
          <a:ln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70632" y="1965960"/>
            <a:ext cx="1993392" cy="1298448"/>
          </a:xfrm>
          <a:prstGeom prst="roundRect">
            <a:avLst/>
          </a:prstGeom>
          <a:solidFill>
            <a:srgbClr val="EEEAF8"/>
          </a:solidFill>
          <a:ln w="1016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167128"/>
            <a:ext cx="177393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2738"/>
                </a:solidFill>
                <a:latin typeface="Aptos"/>
              </a:rPr>
              <a:t>Belief updater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69464"/>
            <a:ext cx="1773936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D6878"/>
                </a:solidFill>
                <a:latin typeface="Aptos"/>
              </a:rPr>
              <a:t>Posterior + reliability + change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9744" y="2414016"/>
            <a:ext cx="228600" cy="365760"/>
          </a:xfrm>
          <a:prstGeom prst="rightArrow">
            <a:avLst/>
          </a:prstGeom>
          <a:solidFill>
            <a:srgbClr val="5D6878"/>
          </a:solidFill>
          <a:ln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02352" y="1965960"/>
            <a:ext cx="1993392" cy="1298448"/>
          </a:xfrm>
          <a:prstGeom prst="roundRect">
            <a:avLst/>
          </a:prstGeom>
          <a:solidFill>
            <a:srgbClr val="FFF0DE"/>
          </a:solidFill>
          <a:ln w="1016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167128"/>
            <a:ext cx="177393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2738"/>
                </a:solidFill>
                <a:latin typeface="Aptos"/>
              </a:rPr>
              <a:t>Candidate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69464"/>
            <a:ext cx="1773936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D6878"/>
                </a:solidFill>
                <a:latin typeface="Aptos"/>
              </a:rPr>
              <a:t>Exploit • probe • safe • fallback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41464" y="2414016"/>
            <a:ext cx="228600" cy="365760"/>
          </a:xfrm>
          <a:prstGeom prst="rightArrow">
            <a:avLst/>
          </a:prstGeom>
          <a:solidFill>
            <a:srgbClr val="5D6878"/>
          </a:solidFill>
          <a:ln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34071" y="1965960"/>
            <a:ext cx="1993392" cy="1298448"/>
          </a:xfrm>
          <a:prstGeom prst="roundRect">
            <a:avLst/>
          </a:prstGeom>
          <a:solidFill>
            <a:srgbClr val="DDF5F1"/>
          </a:solidFill>
          <a:ln w="1016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799" y="2167128"/>
            <a:ext cx="177393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2738"/>
                </a:solidFill>
                <a:latin typeface="Aptos"/>
              </a:rPr>
              <a:t>Belief-usable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2569464"/>
            <a:ext cx="1773936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D6878"/>
                </a:solidFill>
                <a:latin typeface="Aptos"/>
              </a:rPr>
              <a:t>Payoff • risk • IG • leakage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73184" y="2414016"/>
            <a:ext cx="228600" cy="365760"/>
          </a:xfrm>
          <a:prstGeom prst="rightArrow">
            <a:avLst/>
          </a:prstGeom>
          <a:solidFill>
            <a:srgbClr val="5D6878"/>
          </a:solidFill>
          <a:ln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65792" y="1965960"/>
            <a:ext cx="1993392" cy="1298448"/>
          </a:xfrm>
          <a:prstGeom prst="roundRect">
            <a:avLst/>
          </a:prstGeom>
          <a:solidFill>
            <a:srgbClr val="FBE7E3"/>
          </a:solidFill>
          <a:ln w="1016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19" y="2167128"/>
            <a:ext cx="177393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2738"/>
                </a:solidFill>
                <a:latin typeface="Aptos"/>
              </a:rPr>
              <a:t>Action-locked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569464"/>
            <a:ext cx="1773936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D6878"/>
                </a:solidFill>
                <a:latin typeface="Aptos"/>
              </a:rPr>
              <a:t>Language realization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3886200"/>
            <a:ext cx="3383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" y="3886200"/>
            <a:ext cx="64008" cy="1325880"/>
          </a:xfrm>
          <a:prstGeom prst="rect">
            <a:avLst/>
          </a:prstGeom>
          <a:solidFill>
            <a:srgbClr val="3578C6"/>
          </a:solidFill>
          <a:ln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4032504"/>
            <a:ext cx="30358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2738"/>
                </a:solidFill>
                <a:latin typeface="Aptos"/>
              </a:rPr>
              <a:t>Across episodes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453128"/>
            <a:ext cx="30358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Meta-prior over opponent type, concession dynamics and recurring constraints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886200"/>
            <a:ext cx="3785615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60520" y="3886200"/>
            <a:ext cx="64008" cy="1325880"/>
          </a:xfrm>
          <a:prstGeom prst="rect">
            <a:avLst/>
          </a:prstGeom>
          <a:solidFill>
            <a:srgbClr val="7A63B8"/>
          </a:solidFill>
          <a:ln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61688" y="4032504"/>
            <a:ext cx="34381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2738"/>
                </a:solidFill>
                <a:latin typeface="Aptos"/>
              </a:rPr>
              <a:t>Within an episode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4453128"/>
            <a:ext cx="3438144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Turn-by-turn posterior update from new public evidence; allow abstention and wide intervals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2" y="3886200"/>
            <a:ext cx="3465576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19872" y="3886200"/>
            <a:ext cx="64008" cy="1325880"/>
          </a:xfrm>
          <a:prstGeom prst="rect">
            <a:avLst/>
          </a:prstGeom>
          <a:solidFill>
            <a:srgbClr val="1EA89A"/>
          </a:solidFill>
          <a:ln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4032504"/>
            <a:ext cx="3118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2738"/>
                </a:solidFill>
                <a:latin typeface="Aptos"/>
              </a:rPr>
              <a:t>Causal 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453128"/>
            <a:ext cx="3118104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belief before/after → candidates → scores → action → response → reward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" y="5486400"/>
            <a:ext cx="10972800" cy="530352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632704"/>
            <a:ext cx="105156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92D"/>
                </a:solidFill>
                <a:latin typeface="Aptos"/>
              </a:rPr>
              <a:t>Key distinction: the model must know when not to trust its own belief.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812</Words>
  <Application>Microsoft Office PowerPoint</Application>
  <PresentationFormat>宽屏</PresentationFormat>
  <Paragraphs>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Decision-Calibrated Belief-to-Action Planning for LLM Negotiation</dc:title>
  <dc:subject>Benchmarks, related work, novelty and experiment plan</dc:subject>
  <dc:creator>Negotiation Belief–Planner Project</dc:creator>
  <cp:keywords/>
  <dc:description>Generated as a fully editable English research deck. Tables are native PowerPoint tables.</dc:description>
  <cp:lastModifiedBy>淇心 谭</cp:lastModifiedBy>
  <cp:revision>2</cp:revision>
  <dcterms:created xsi:type="dcterms:W3CDTF">2013-01-27T09:14:16Z</dcterms:created>
  <dcterms:modified xsi:type="dcterms:W3CDTF">2026-08-07T19:48:00Z</dcterms:modified>
  <cp:category/>
</cp:coreProperties>
</file>