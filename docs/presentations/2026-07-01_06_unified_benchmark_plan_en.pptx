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44"/>
                </a:solidFill>
                <a:latin typeface="Aptos"/>
              </a:defRPr>
            </a:pPr>
            <a:r>
              <a:t>Unified Negotiation Benchmarks and Belief-Centric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241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D2B44"/>
                </a:solidFill>
                <a:latin typeface="Aptos"/>
              </a:defRPr>
            </a:pPr>
            <a:r>
              <a:t>Goal: make RLVR Negotiation and a TERMS-Bench-style simulator the shared evaluation axis.</a:t>
            </a:r>
          </a:p>
          <a:p>
            <a:pPr>
              <a:spcAft>
                <a:spcPts val="800"/>
              </a:spcAft>
              <a:defRPr sz="1900" b="0">
                <a:solidFill>
                  <a:srgbClr val="1D2B44"/>
                </a:solidFill>
                <a:latin typeface="Aptos"/>
              </a:defRPr>
            </a:pPr>
            <a:r>
              <a:t>Method focus: move from an A+B+C engineering story to measurable, calibrated opponent belief.</a:t>
            </a:r>
          </a:p>
          <a:p>
            <a:pPr>
              <a:spcAft>
                <a:spcPts val="800"/>
              </a:spcAft>
              <a:defRPr sz="1900" b="0">
                <a:solidFill>
                  <a:srgbClr val="1D2B44"/>
                </a:solidFill>
                <a:latin typeface="Aptos"/>
              </a:defRPr>
            </a:pPr>
            <a:r>
              <a:t>Current artifacts: benchmark wrappers, baseline matrix, guarded validator, and trajectory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Benchmarks</a:t>
            </a:r>
          </a:p>
          <a:p>
            <a:pPr>
              <a:defRPr sz="2800" b="1">
                <a:solidFill>
                  <a:srgbClr val="3269B0"/>
                </a:solidFill>
                <a:latin typeface="Aptos"/>
              </a:defRPr>
            </a:pPr>
            <a:r>
              <a:t>2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RLVR + TERMS-style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2151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Task Types</a:t>
            </a:r>
          </a:p>
          <a:p>
            <a:pPr>
              <a:defRPr sz="2800" b="1">
                <a:solidFill>
                  <a:srgbClr val="19847E"/>
                </a:solidFill>
                <a:latin typeface="Aptos"/>
              </a:defRPr>
            </a:pPr>
            <a:r>
              <a:t>4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price / terms / priority / belief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9944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Baselines</a:t>
            </a:r>
          </a:p>
          <a:p>
            <a:pPr>
              <a:defRPr sz="2800" b="1">
                <a:solidFill>
                  <a:srgbClr val="CD702A"/>
                </a:solidFill>
                <a:latin typeface="Aptos"/>
              </a:defRPr>
            </a:pPr>
            <a:r>
              <a:t>10+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prompt + belief +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7736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Logs</a:t>
            </a:r>
          </a:p>
          <a:p>
            <a:pPr>
              <a:defRPr sz="2800" b="1">
                <a:solidFill>
                  <a:srgbClr val="418758"/>
                </a:solidFill>
                <a:latin typeface="Aptos"/>
              </a:defRPr>
            </a:pPr>
            <a:r>
              <a:t>traj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belief / plan / raw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Why We Need a Unified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5661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362456"/>
            <a:ext cx="2880360" cy="411480"/>
          </a:xfrm>
          <a:prstGeom prst="roundRect">
            <a:avLst/>
          </a:prstGeom>
          <a:solidFill>
            <a:srgbClr val="B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Current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947672"/>
            <a:ext cx="312724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AgenticPay, RLVR, and ASTRA use different environments and metrics.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Cross-baseline comparison is hard to explain.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LLM seller variance can hide buyer-side method differences.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Belief models need independent quality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5661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2855" y="1362456"/>
            <a:ext cx="2880360" cy="411480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What we need to 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1947672"/>
            <a:ext cx="312724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Does the buyer close deals?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How much buyer surplus does it preserve?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Does it avoid overshoot and format failures?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Is the opponent belief calibrated and evidence-grounded?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2918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03336" y="1362456"/>
            <a:ext cx="2880360" cy="411480"/>
          </a:xfrm>
          <a:prstGeom prst="roundRect">
            <a:avLst/>
          </a:prstGeom>
          <a:solidFill>
            <a:srgbClr val="19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Paper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1947672"/>
            <a:ext cx="285292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RLVR gives a clean price-reward stress test.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TERMS-style tasks diagnose multi-issue belief.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AgenticPay and ASTRA become external validation.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The core contribution becomes belief, not just modularity.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Why RLVR and TERMS-Bench-Style Are Complementary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5204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271016"/>
            <a:ext cx="2880360" cy="411480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RLVR Negotiation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856232"/>
            <a:ext cx="3081528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Single-product price bargaining.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Verifiable metrics: Reward, Deal Rate, Bargained Ratio, Overshoot.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Fixed seller makes buyer policies directly comparable.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Best for testing surplus, budget discipline, and early walk-away.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5204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71416" y="1271016"/>
            <a:ext cx="2880360" cy="411480"/>
          </a:xfrm>
          <a:prstGeom prst="roundRect">
            <a:avLst/>
          </a:prstGeom>
          <a:solidFill>
            <a:srgbClr val="19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TERMS-Bench-style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856232"/>
            <a:ext cx="3081528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Multi-issue negotiation with price and contract terms.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Hidden seller preferences are available to the evaluator.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Supports belief metrics: coverage, Brier, priority accuracy, evidence grounding.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Can host Preference Estimation, BOND, and ASTRA-style belief baselines.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43000"/>
            <a:ext cx="35204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0456" y="1271016"/>
            <a:ext cx="2880360" cy="411480"/>
          </a:xfrm>
          <a:prstGeom prst="roundRect">
            <a:avLst/>
          </a:prstGeom>
          <a:solidFill>
            <a:srgbClr val="CD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Shared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1856232"/>
            <a:ext cx="3081528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Same buyer wrapper: prompt, belief, planner, validator.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Same safety metrics: overshoot, format, critical violation.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Same trajectory schema: dialogue, belief, plan, raw action.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Outcome stress test + belief diagnostic main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Current Implementation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TERMS-style</a:t>
            </a:r>
          </a:p>
          <a:p>
            <a:pPr>
              <a:defRPr sz="2800" b="1">
                <a:solidFill>
                  <a:srgbClr val="3269B0"/>
                </a:solidFill>
                <a:latin typeface="Aptos"/>
              </a:defRPr>
            </a:pPr>
            <a:r>
              <a:t>818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guarded episodes saved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2151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RLVR</a:t>
            </a:r>
          </a:p>
          <a:p>
            <a:pPr>
              <a:defRPr sz="2800" b="1">
                <a:solidFill>
                  <a:srgbClr val="19847E"/>
                </a:solidFill>
                <a:latin typeface="Aptos"/>
              </a:defRPr>
            </a:pPr>
            <a:r>
              <a:t>72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completed partial episodes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9944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Failures</a:t>
            </a:r>
          </a:p>
          <a:p>
            <a:pPr>
              <a:defRPr sz="2800" b="1">
                <a:solidFill>
                  <a:srgbClr val="CD702A"/>
                </a:solidFill>
                <a:latin typeface="Aptos"/>
              </a:defRPr>
            </a:pPr>
            <a:r>
              <a:t>12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timeouts in current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7736" y="1353312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5C6878"/>
                </a:solidFill>
                <a:latin typeface="Aptos"/>
              </a:defRPr>
            </a:pPr>
            <a:r>
              <a:t>Validator</a:t>
            </a:r>
          </a:p>
          <a:p>
            <a:pPr>
              <a:defRPr sz="2800" b="1">
                <a:solidFill>
                  <a:srgbClr val="418758"/>
                </a:solidFill>
                <a:latin typeface="Aptos"/>
              </a:defRPr>
            </a:pPr>
            <a:r>
              <a:t>on</a:t>
            </a:r>
          </a:p>
          <a:p>
            <a:pPr>
              <a:defRPr sz="1100" b="0">
                <a:solidFill>
                  <a:srgbClr val="5C6878"/>
                </a:solidFill>
                <a:latin typeface="Aptos"/>
              </a:defRPr>
            </a:pPr>
            <a:r>
              <a:t>budget + action 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Each episode stores the scenario, hidden evaluator fields, dialogue, framework trace, and metrics.</a:t>
            </a:r>
          </a:p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Framework trace stores belief JSON, planner JSON, candidate offers, predicted accept probabilities, and raw model outputs.</a:t>
            </a:r>
          </a:p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The guarded runner repairs invalid over-budget actions while separately reporting raw violations.</a:t>
            </a:r>
          </a:p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Current numbers are partial and should be treated as pipeline and method diagnostics, not final paper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Partial Results: TERMS-Style Guarded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C6878"/>
                </a:solidFill>
                <a:latin typeface="Aptos"/>
              </a:defRPr>
            </a:pPr>
            <a:r>
              <a:t>Qwen3-30B vLLM partial run; roughly n=80 per variant.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70432"/>
          <a:ext cx="113842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55435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Buyer U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full_framework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15.04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counterfactual_belief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75.9%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14.74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0.165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0.208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planner_generator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belief_prompt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79.0%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11.97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0.104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0.240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typed_belief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11.87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direct_prompt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79.0%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10.92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0.091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0.362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astra_style_belief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57424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Takeaway: guarded evaluation removes critical violations for the current partial run; the ranking is still preliminary and needs the full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Partial Results: RLVR Negotiation Easy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C6878"/>
                </a:solidFill>
                <a:latin typeface="Aptos"/>
              </a:defRPr>
            </a:pPr>
            <a:r>
              <a:t>Fixed seller, Qwen3-30B buyer/seller; current sample sizes differ across variants.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078992"/>
          <a:ext cx="114757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388"/>
                <a:gridCol w="1639388"/>
                <a:gridCol w="1639388"/>
                <a:gridCol w="1639388"/>
                <a:gridCol w="1639388"/>
                <a:gridCol w="1639388"/>
                <a:gridCol w="1639392"/>
              </a:tblGrid>
              <a:tr h="4709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Products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Reward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Overshoot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bond_style_posterior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full_framework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0.697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0.930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counterfactual_offer_model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planner_generator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0.791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0.791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typed_belief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belief_prompt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0.697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0.930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typed_evidence_belief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direct_prompt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0.573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0.716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counterfactual_belief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25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D2B44"/>
                </a:solidFill>
                <a:latin typeface="Aptos"/>
              </a:defRPr>
            </a:pPr>
            <a:r>
              <a:t>Takeaway: full framework is strong on the shared early product; the new counterfactual offer model closes deals safely but needs more buyer-surplus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What the Trajectories Reveal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5204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271016"/>
            <a:ext cx="2880360" cy="411480"/>
          </a:xfrm>
          <a:prstGeom prst="roundRect">
            <a:avLst/>
          </a:prstGeom>
          <a:solidFill>
            <a:srgbClr val="41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What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856232"/>
            <a:ext cx="308152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Guarded prompts reduce overshoot to zero in the completed RLVR episodes.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Full framework performs well on early RLVR partial results.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Counterfactual offer model avoids early walk-away and reaches Deal Rate = 1.0 in its partial run.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The logs are rich enough for belief-plan-action error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5204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71416" y="1271016"/>
            <a:ext cx="2880360" cy="411480"/>
          </a:xfrm>
          <a:prstGeom prst="roundRect">
            <a:avLst/>
          </a:prstGeom>
          <a:solidFill>
            <a:srgbClr val="B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What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856232"/>
            <a:ext cx="308152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The counterfactual offer model often closes too quickly at buyer-unfavorable prices.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Some belief styles transfer poorly to price-only RLVR.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Belief estimates can become hard constraints instead of uncertain evidence.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The planner still needs to consume probabilities, not just summarize beliefs.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43000"/>
            <a:ext cx="35204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0456" y="1271016"/>
            <a:ext cx="2880360" cy="411480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Immediate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1856232"/>
            <a:ext cx="308152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Calibrate accept curves and confidence.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Use a more aggressive buyer-surplus objective.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Start with low anchors and information probes.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Train a planner or reranker from trajectories.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Next Method Direction: Belief-Centric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1444752" cy="713232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Dialogue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2020824"/>
            <a:ext cx="393192" cy="310896"/>
          </a:xfrm>
          <a:prstGeom prst="rightArrow">
            <a:avLst/>
          </a:prstGeom>
          <a:solidFill>
            <a:srgbClr val="B2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59736" y="1828800"/>
            <a:ext cx="1444752" cy="713232"/>
          </a:xfrm>
          <a:prstGeom prst="roundRect">
            <a:avLst/>
          </a:prstGeom>
          <a:solidFill>
            <a:srgbClr val="19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Typed belief</a:t>
            </a:r>
            <a:br/>
            <a:r>
              <a:t>+ evidence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04487" y="2020824"/>
            <a:ext cx="393192" cy="310896"/>
          </a:xfrm>
          <a:prstGeom prst="rightArrow">
            <a:avLst/>
          </a:prstGeom>
          <a:solidFill>
            <a:srgbClr val="B2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2544" y="1828800"/>
            <a:ext cx="1444752" cy="713232"/>
          </a:xfrm>
          <a:prstGeom prst="roundRect">
            <a:avLst/>
          </a:prstGeom>
          <a:solidFill>
            <a:srgbClr val="41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Candidate</a:t>
            </a:r>
            <a:br/>
            <a:r>
              <a:t>frontier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97296" y="2020824"/>
            <a:ext cx="393192" cy="310896"/>
          </a:xfrm>
          <a:prstGeom prst="rightArrow">
            <a:avLst/>
          </a:prstGeom>
          <a:solidFill>
            <a:srgbClr val="B2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1" y="1828800"/>
            <a:ext cx="1444752" cy="713232"/>
          </a:xfrm>
          <a:prstGeom prst="roundRect">
            <a:avLst/>
          </a:prstGeom>
          <a:solidFill>
            <a:srgbClr val="CD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Counterfactual</a:t>
            </a:r>
            <a:br/>
            <a:r>
              <a:t>response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90104" y="2020824"/>
            <a:ext cx="393192" cy="310896"/>
          </a:xfrm>
          <a:prstGeom prst="rightArrow">
            <a:avLst/>
          </a:prstGeom>
          <a:solidFill>
            <a:srgbClr val="B2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59" y="1828800"/>
            <a:ext cx="1444752" cy="713232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Risk-aware</a:t>
            </a:r>
            <a:br/>
            <a:r>
              <a:t>planner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82911" y="2020824"/>
            <a:ext cx="393192" cy="310896"/>
          </a:xfrm>
          <a:prstGeom prst="rightArrow">
            <a:avLst/>
          </a:prstGeom>
          <a:solidFill>
            <a:srgbClr val="B2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30967" y="1828800"/>
            <a:ext cx="1444752" cy="713232"/>
          </a:xfrm>
          <a:prstGeom prst="roundRect">
            <a:avLst/>
          </a:prstGeom>
          <a:solidFill>
            <a:srgbClr val="B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Constrained</a:t>
            </a:r>
            <a:br/>
            <a: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27248"/>
            <a:ext cx="10835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Core novelty: a counterfactual, evidence-grounded opponent belief model that directly controls planning.</a:t>
            </a:r>
          </a:p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Belief should output typed ranges, probabilities, evidence spans, and uncertainty, not free-text summaries.</a:t>
            </a:r>
          </a:p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Planner should optimize over a candidate frontier using accept probability, walk-away risk, and buyer surplus.</a:t>
            </a:r>
          </a:p>
          <a:p>
            <a:pPr>
              <a:spcAft>
                <a:spcPts val="800"/>
              </a:spcAft>
              <a:defRPr sz="1800" b="0">
                <a:solidFill>
                  <a:srgbClr val="1D2B44"/>
                </a:solidFill>
                <a:latin typeface="Aptos"/>
              </a:defRPr>
            </a:pPr>
            <a:r>
              <a:t>Naturalizer and validator keep action format, budget constraints, and DEAL matching deterministic.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Experiment B1: Typed Evidence-Grounded Belief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271016"/>
            <a:ext cx="2880360" cy="411480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856232"/>
            <a:ext cx="321868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Typed belief is more stable than free-text belief.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Confidence and evidence reduce over-trust in wrong estimates.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Coverage and Brier score make belief quality measurable.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14300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08576" y="1271016"/>
            <a:ext cx="2880360" cy="411480"/>
          </a:xfrm>
          <a:prstGeom prst="roundRect">
            <a:avLst/>
          </a:prstGeom>
          <a:solidFill>
            <a:srgbClr val="19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1856232"/>
            <a:ext cx="29443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seller_reservation_range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likely_acceptable_price_range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accept_probability_curve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flexibility and patience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walk-away risk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evidence spans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4300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0456" y="1271016"/>
            <a:ext cx="2880360" cy="411480"/>
          </a:xfrm>
          <a:prstGeom prst="roundRect">
            <a:avLst/>
          </a:prstGeom>
          <a:solidFill>
            <a:srgbClr val="CD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1856232"/>
            <a:ext cx="29443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TERMS-style main table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RLVR price-reward validation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ASTRA/CaSiNo priority posterior check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Utility + calibration + violation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Experiment B2: Counterfactual Response Belief + Risk-Aware Planner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316736"/>
            <a:ext cx="2880360" cy="411480"/>
          </a:xfrm>
          <a:prstGeom prst="roundRect">
            <a:avLst/>
          </a:prstGeom>
          <a:solidFill>
            <a:srgbClr val="19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Counterfactual belief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901952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Predict accept probability for each candidate offer.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Generate a price/term frontier.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Log predicted utility and risk for every candidate.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Evaluate calibration, not just final outcome.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71416" y="1316736"/>
            <a:ext cx="2880360" cy="411480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901952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Objective: buyer surplus x accept probability - violation risk.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Early rounds: information probes + low anchors.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Later rounds: risk-aware concession schedule.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Walk away only under high-confidence no-ZOPA belief.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8872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0456" y="1316736"/>
            <a:ext cx="2880360" cy="411480"/>
          </a:xfrm>
          <a:prstGeom prst="roundRect">
            <a:avLst/>
          </a:prstGeom>
          <a:solidFill>
            <a:srgbClr val="41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Training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1901952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SFT: trajectory to belief JSON and plan labels.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RL/GRPO: reward + deal + violation penalties.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Offline reranking over candidate responses.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Ablate belief only, planner only, and validator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01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 control</a:t>
                      </a:r>
                    </a:p>
                  </a:txBody>
                  <a:tcPr>
                    <a:solidFill>
                      <a:srgbClr val="1D2B4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Finish guarded benchmark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Main-table v0 + trajectory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Fixed seeds, resume, failure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Typed belief ablations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Belief metrics + utility table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Coverage, Brier, evidence audit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Week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Counterfactual planner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Candidate frontier + risk-aware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Validator as guardrail; raw violations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Week 2-3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External validation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RLVR / ASTRA / AgenticPay supplementary tables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Compare only under matched settings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Week 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SFT/RL or reranker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Trained belief/planner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44"/>
                          </a:solidFill>
                          <a:latin typeface="Aptos"/>
                        </a:defRPr>
                      </a:pPr>
                      <a:r>
                        <a:t>Small smoke first, then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5321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D2B44"/>
                </a:solidFill>
                <a:latin typeface="Aptos"/>
              </a:defRPr>
            </a:pPr>
            <a:r>
              <a:t>Message to advisor: we are not adding modules for their own sake; we are turning opponent belief into a measurable and optimizable method contribution.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D2B44"/>
                </a:solidFill>
                <a:latin typeface="Aptos"/>
              </a:defRPr>
            </a:pPr>
            <a:r>
              <a:t>Decisions to Confirm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32461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5256" y="1453895"/>
            <a:ext cx="2880360" cy="411480"/>
          </a:xfrm>
          <a:prstGeom prst="roundRect">
            <a:avLst/>
          </a:prstGeom>
          <a:solidFill>
            <a:srgbClr val="3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Benchmark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5" y="2039112"/>
            <a:ext cx="2807208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Use TERMS-style v0 as the main diagnostic table?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Switch simulator if official TERMS-Bench code appears?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Report guarded metrics and raw violation metrics together?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2461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08576" y="1453895"/>
            <a:ext cx="2880360" cy="411480"/>
          </a:xfrm>
          <a:prstGeom prst="roundRect">
            <a:avLst/>
          </a:prstGeom>
          <a:solidFill>
            <a:srgbClr val="19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Method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039112"/>
            <a:ext cx="2807208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Make typed belief the first claim?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Make counterfactual response belief the second claim?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Treat validator as infrastructure, not the core method?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2461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11896" y="1453895"/>
            <a:ext cx="2880360" cy="411480"/>
          </a:xfrm>
          <a:prstGeom prst="roundRect">
            <a:avLst/>
          </a:prstGeom>
          <a:solidFill>
            <a:srgbClr val="CD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Compute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2039112"/>
            <a:ext cx="2807208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Resume Qwen vLLM runs with larger context.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Finish RLVR and TERMS-style partial runs.</a:t>
            </a:r>
          </a:p>
          <a:p>
            <a:pPr>
              <a:spcAft>
                <a:spcPts val="800"/>
              </a:spcAft>
              <a:defRPr sz="1500" b="0">
                <a:solidFill>
                  <a:srgbClr val="1D2B44"/>
                </a:solidFill>
                <a:latin typeface="Aptos"/>
              </a:defRPr>
            </a:pPr>
            <a:r>
              <a:t>Use ASTRA and AgenticPay as supplementary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77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C68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