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51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62170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800" b="1">
                <a:solidFill>
                  <a:srgbClr val="141C2C"/>
                </a:solidFill>
                <a:latin typeface="Arial"/>
              </a:defRPr>
            </a:pPr>
            <a:r>
              <a:rPr lang="en-US" dirty="0"/>
              <a:t>N</a:t>
            </a:r>
            <a:r>
              <a:rPr lang="en-US" altLang="zh-CN" dirty="0"/>
              <a:t>egotiation</a:t>
            </a:r>
            <a:r>
              <a:rPr dirty="0"/>
              <a:t> Experiment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6832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100" b="0">
                <a:solidFill>
                  <a:srgbClr val="5B677C"/>
                </a:solidFill>
                <a:latin typeface="Arial"/>
              </a:defRPr>
            </a:pPr>
            <a:r>
              <a:rPr dirty="0"/>
              <a:t>Part I: game-theoretical insights</a:t>
            </a:r>
            <a:endParaRPr lang="en-US" dirty="0"/>
          </a:p>
          <a:p>
            <a:pPr algn="l">
              <a:defRPr sz="2100" b="0">
                <a:solidFill>
                  <a:srgbClr val="5B677C"/>
                </a:solidFill>
                <a:latin typeface="Arial"/>
              </a:defRPr>
            </a:pPr>
            <a:r>
              <a:rPr dirty="0"/>
              <a:t>Part II: validator experiments and trajectory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542032"/>
            <a:ext cx="49377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Arial"/>
              </a:defRPr>
            </a:pPr>
            <a:r>
              <a:t>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53512"/>
            <a:ext cx="493776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600" b="0">
                <a:solidFill>
                  <a:srgbClr val="141C2C"/>
                </a:solidFill>
                <a:latin typeface="Arial"/>
              </a:defRPr>
            </a:pPr>
            <a:r>
              <a:t>Negotiation is planning under latent beliefs: infer opponent type, solve over compact strategic actions, then realize language safely.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42316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2423160"/>
            <a:ext cx="73152" cy="14173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2542032"/>
            <a:ext cx="48920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000" b="1">
                <a:solidFill>
                  <a:srgbClr val="00897B"/>
                </a:solidFill>
                <a:latin typeface="Arial"/>
              </a:defRPr>
            </a:pPr>
            <a:r>
              <a:t>Experiment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2953512"/>
            <a:ext cx="489204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600" b="0">
                <a:solidFill>
                  <a:srgbClr val="141C2C"/>
                </a:solidFill>
                <a:latin typeface="Arial"/>
              </a:defRPr>
            </a:pPr>
            <a:r>
              <a:t>Buyer-only validation is not enough; validated seller is the clearest fix for mismatch so far.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27432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  <a:latin typeface="Arial"/>
              </a:defRPr>
            </a:pPr>
            <a:r>
              <a:t>Part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57554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500" b="1">
                <a:solidFill>
                  <a:srgbClr val="141C2C"/>
                </a:solidFill>
                <a:latin typeface="Arial"/>
              </a:defRPr>
            </a:pPr>
            <a:r>
              <a:rPr dirty="0"/>
              <a:t>Game-theoretical </a:t>
            </a:r>
            <a:r>
              <a:rPr lang="en-US" dirty="0"/>
              <a:t>Insights</a:t>
            </a:r>
            <a:r>
              <a:rPr dirty="0"/>
              <a:t> for Negotiation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10424160" cy="6832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100" b="0">
                <a:solidFill>
                  <a:srgbClr val="5B677C"/>
                </a:solidFill>
                <a:latin typeface="Arial"/>
              </a:defRPr>
            </a:pPr>
            <a:r>
              <a:rPr lang="en-US" dirty="0"/>
              <a:t>Use game-theoretical method to help with belief tracking and strategic action generation.</a:t>
            </a:r>
            <a:endParaRPr dirty="0"/>
          </a:p>
        </p:txBody>
      </p:sp>
      <p:sp>
        <p:nvSpPr>
          <p:cNvPr id="36" name="Rounded Rectangle 5">
            <a:extLst>
              <a:ext uri="{FF2B5EF4-FFF2-40B4-BE49-F238E27FC236}">
                <a16:creationId xmlns:a16="http://schemas.microsoft.com/office/drawing/2014/main" id="{67E3A629-FEE7-02D1-1C8D-8373A5987475}"/>
              </a:ext>
            </a:extLst>
          </p:cNvPr>
          <p:cNvSpPr/>
          <p:nvPr/>
        </p:nvSpPr>
        <p:spPr>
          <a:xfrm>
            <a:off x="621792" y="4298631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321A88A8-8ED4-C6BA-C855-CA6F3EA61BA0}"/>
              </a:ext>
            </a:extLst>
          </p:cNvPr>
          <p:cNvSpPr/>
          <p:nvPr/>
        </p:nvSpPr>
        <p:spPr>
          <a:xfrm>
            <a:off x="621792" y="4298631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853D2043-8B3A-66DC-69F0-A80D6A2E7666}"/>
              </a:ext>
            </a:extLst>
          </p:cNvPr>
          <p:cNvSpPr txBox="1"/>
          <p:nvPr/>
        </p:nvSpPr>
        <p:spPr>
          <a:xfrm>
            <a:off x="786384" y="4417503"/>
            <a:ext cx="1847088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Arial"/>
              </a:defRPr>
            </a:pPr>
            <a:r>
              <a:t>State</a:t>
            </a: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405EAB0D-FE3F-FDA2-68CB-32199876348B}"/>
              </a:ext>
            </a:extLst>
          </p:cNvPr>
          <p:cNvSpPr txBox="1"/>
          <p:nvPr/>
        </p:nvSpPr>
        <p:spPr>
          <a:xfrm>
            <a:off x="786384" y="4828983"/>
            <a:ext cx="1847088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141C2C"/>
                </a:solidFill>
                <a:latin typeface="Arial"/>
              </a:defRPr>
            </a:pPr>
            <a:r>
              <a:t>product</a:t>
            </a:r>
            <a:br/>
            <a:r>
              <a:t>history</a:t>
            </a:r>
            <a:br/>
            <a:r>
              <a:t>private max</a:t>
            </a:r>
            <a:br/>
            <a:r>
              <a:t>current offers</a:t>
            </a:r>
          </a:p>
        </p:txBody>
      </p:sp>
      <p:sp>
        <p:nvSpPr>
          <p:cNvPr id="40" name="Rounded Rectangle 9">
            <a:extLst>
              <a:ext uri="{FF2B5EF4-FFF2-40B4-BE49-F238E27FC236}">
                <a16:creationId xmlns:a16="http://schemas.microsoft.com/office/drawing/2014/main" id="{D0CD2E84-B9D2-F5A8-A0D9-2DF0EB3DDAF4}"/>
              </a:ext>
            </a:extLst>
          </p:cNvPr>
          <p:cNvSpPr/>
          <p:nvPr/>
        </p:nvSpPr>
        <p:spPr>
          <a:xfrm>
            <a:off x="3136392" y="4024311"/>
            <a:ext cx="2240280" cy="1498775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2013F95E-3ADE-EDEB-89B7-5DF76617C784}"/>
              </a:ext>
            </a:extLst>
          </p:cNvPr>
          <p:cNvSpPr/>
          <p:nvPr/>
        </p:nvSpPr>
        <p:spPr>
          <a:xfrm>
            <a:off x="3136392" y="4024311"/>
            <a:ext cx="73152" cy="1417320"/>
          </a:xfrm>
          <a:prstGeom prst="rect">
            <a:avLst/>
          </a:prstGeom>
          <a:solidFill>
            <a:srgbClr val="67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11">
            <a:extLst>
              <a:ext uri="{FF2B5EF4-FFF2-40B4-BE49-F238E27FC236}">
                <a16:creationId xmlns:a16="http://schemas.microsoft.com/office/drawing/2014/main" id="{59C85549-D8A0-03A3-3781-06FA8A7D9EF2}"/>
              </a:ext>
            </a:extLst>
          </p:cNvPr>
          <p:cNvSpPr txBox="1"/>
          <p:nvPr/>
        </p:nvSpPr>
        <p:spPr>
          <a:xfrm>
            <a:off x="3300984" y="4143183"/>
            <a:ext cx="1938528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600" b="1">
                <a:solidFill>
                  <a:srgbClr val="6752BE"/>
                </a:solidFill>
                <a:latin typeface="Arial"/>
              </a:defRPr>
            </a:pPr>
            <a:r>
              <a:t>Belief Model</a:t>
            </a:r>
          </a:p>
        </p:txBody>
      </p:sp>
      <p:sp>
        <p:nvSpPr>
          <p:cNvPr id="43" name="TextBox 12">
            <a:extLst>
              <a:ext uri="{FF2B5EF4-FFF2-40B4-BE49-F238E27FC236}">
                <a16:creationId xmlns:a16="http://schemas.microsoft.com/office/drawing/2014/main" id="{941BC9C3-9E67-9BBA-7A49-AFABA3D911A0}"/>
              </a:ext>
            </a:extLst>
          </p:cNvPr>
          <p:cNvSpPr txBox="1"/>
          <p:nvPr/>
        </p:nvSpPr>
        <p:spPr>
          <a:xfrm>
            <a:off x="3300984" y="4554662"/>
            <a:ext cx="1938528" cy="8371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141C2C"/>
                </a:solidFill>
                <a:latin typeface="Arial"/>
              </a:defRPr>
            </a:pPr>
            <a:r>
              <a:rPr dirty="0"/>
              <a:t>reservation range</a:t>
            </a:r>
            <a:br>
              <a:rPr dirty="0"/>
            </a:br>
            <a:r>
              <a:rPr dirty="0"/>
              <a:t>trait intervals</a:t>
            </a:r>
            <a:br>
              <a:rPr dirty="0"/>
            </a:br>
            <a:r>
              <a:rPr dirty="0"/>
              <a:t>acceptable range</a:t>
            </a:r>
            <a:br>
              <a:rPr dirty="0"/>
            </a:br>
            <a:r>
              <a:rPr dirty="0"/>
              <a:t>evidence</a:t>
            </a:r>
            <a:endParaRPr lang="en-US" dirty="0"/>
          </a:p>
        </p:txBody>
      </p:sp>
      <p:sp>
        <p:nvSpPr>
          <p:cNvPr id="44" name="Rounded Rectangle 13">
            <a:extLst>
              <a:ext uri="{FF2B5EF4-FFF2-40B4-BE49-F238E27FC236}">
                <a16:creationId xmlns:a16="http://schemas.microsoft.com/office/drawing/2014/main" id="{95BCE0BD-2552-81C8-7B01-C610EE83469B}"/>
              </a:ext>
            </a:extLst>
          </p:cNvPr>
          <p:cNvSpPr/>
          <p:nvPr/>
        </p:nvSpPr>
        <p:spPr>
          <a:xfrm>
            <a:off x="5742432" y="4024311"/>
            <a:ext cx="2240280" cy="1367027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14">
            <a:extLst>
              <a:ext uri="{FF2B5EF4-FFF2-40B4-BE49-F238E27FC236}">
                <a16:creationId xmlns:a16="http://schemas.microsoft.com/office/drawing/2014/main" id="{1755A775-327B-89DB-D593-73E836602ADF}"/>
              </a:ext>
            </a:extLst>
          </p:cNvPr>
          <p:cNvSpPr/>
          <p:nvPr/>
        </p:nvSpPr>
        <p:spPr>
          <a:xfrm>
            <a:off x="5742432" y="4024311"/>
            <a:ext cx="73152" cy="1367503"/>
          </a:xfrm>
          <a:prstGeom prst="rect">
            <a:avLst/>
          </a:prstGeom>
          <a:solidFill>
            <a:srgbClr val="EA7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15">
            <a:extLst>
              <a:ext uri="{FF2B5EF4-FFF2-40B4-BE49-F238E27FC236}">
                <a16:creationId xmlns:a16="http://schemas.microsoft.com/office/drawing/2014/main" id="{14827DBE-7244-FBE8-90E6-20460E07BE1F}"/>
              </a:ext>
            </a:extLst>
          </p:cNvPr>
          <p:cNvSpPr txBox="1"/>
          <p:nvPr/>
        </p:nvSpPr>
        <p:spPr>
          <a:xfrm>
            <a:off x="5907024" y="4143183"/>
            <a:ext cx="1938528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600" b="1">
                <a:solidFill>
                  <a:srgbClr val="EA7C24"/>
                </a:solidFill>
                <a:latin typeface="Arial"/>
              </a:defRPr>
            </a:pPr>
            <a:r>
              <a:t>Planner</a:t>
            </a:r>
          </a:p>
        </p:txBody>
      </p:sp>
      <p:sp>
        <p:nvSpPr>
          <p:cNvPr id="47" name="TextBox 16">
            <a:extLst>
              <a:ext uri="{FF2B5EF4-FFF2-40B4-BE49-F238E27FC236}">
                <a16:creationId xmlns:a16="http://schemas.microsoft.com/office/drawing/2014/main" id="{F0333130-80F9-B070-DB6D-77ECF4046AA6}"/>
              </a:ext>
            </a:extLst>
          </p:cNvPr>
          <p:cNvSpPr txBox="1"/>
          <p:nvPr/>
        </p:nvSpPr>
        <p:spPr>
          <a:xfrm>
            <a:off x="5907024" y="4554662"/>
            <a:ext cx="1938528" cy="8371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141C2C"/>
                </a:solidFill>
                <a:latin typeface="Arial"/>
              </a:defRPr>
            </a:pPr>
            <a:r>
              <a:rPr dirty="0"/>
              <a:t>strategic act</a:t>
            </a:r>
            <a:br>
              <a:rPr dirty="0"/>
            </a:br>
            <a:r>
              <a:rPr dirty="0"/>
              <a:t>target price</a:t>
            </a:r>
            <a:br>
              <a:rPr dirty="0"/>
            </a:br>
            <a:r>
              <a:rPr dirty="0"/>
              <a:t>guardrail</a:t>
            </a:r>
            <a:br>
              <a:rPr dirty="0"/>
            </a:br>
            <a:r>
              <a:rPr dirty="0"/>
              <a:t>priorities</a:t>
            </a:r>
            <a:endParaRPr lang="en-US" dirty="0"/>
          </a:p>
        </p:txBody>
      </p:sp>
      <p:sp>
        <p:nvSpPr>
          <p:cNvPr id="48" name="Rounded Rectangle 17">
            <a:extLst>
              <a:ext uri="{FF2B5EF4-FFF2-40B4-BE49-F238E27FC236}">
                <a16:creationId xmlns:a16="http://schemas.microsoft.com/office/drawing/2014/main" id="{D1AEB1C7-CC0F-9F44-5F94-B91BDAD3DE78}"/>
              </a:ext>
            </a:extLst>
          </p:cNvPr>
          <p:cNvSpPr/>
          <p:nvPr/>
        </p:nvSpPr>
        <p:spPr>
          <a:xfrm>
            <a:off x="8348472" y="4024311"/>
            <a:ext cx="2331720" cy="1209478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18">
            <a:extLst>
              <a:ext uri="{FF2B5EF4-FFF2-40B4-BE49-F238E27FC236}">
                <a16:creationId xmlns:a16="http://schemas.microsoft.com/office/drawing/2014/main" id="{86E994C3-7772-D1F9-73BE-0D4DAA064B88}"/>
              </a:ext>
            </a:extLst>
          </p:cNvPr>
          <p:cNvSpPr/>
          <p:nvPr/>
        </p:nvSpPr>
        <p:spPr>
          <a:xfrm>
            <a:off x="8348472" y="4024311"/>
            <a:ext cx="91440" cy="1209477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19">
            <a:extLst>
              <a:ext uri="{FF2B5EF4-FFF2-40B4-BE49-F238E27FC236}">
                <a16:creationId xmlns:a16="http://schemas.microsoft.com/office/drawing/2014/main" id="{765FACE9-887B-76A0-4257-B4FFD24101D2}"/>
              </a:ext>
            </a:extLst>
          </p:cNvPr>
          <p:cNvSpPr txBox="1"/>
          <p:nvPr/>
        </p:nvSpPr>
        <p:spPr>
          <a:xfrm>
            <a:off x="8513064" y="4143183"/>
            <a:ext cx="2029967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600" b="1">
                <a:solidFill>
                  <a:srgbClr val="00897B"/>
                </a:solidFill>
                <a:latin typeface="Arial"/>
              </a:defRPr>
            </a:pPr>
            <a:r>
              <a:t>Naturalizer</a:t>
            </a:r>
          </a:p>
        </p:txBody>
      </p:sp>
      <p:sp>
        <p:nvSpPr>
          <p:cNvPr id="51" name="TextBox 20">
            <a:extLst>
              <a:ext uri="{FF2B5EF4-FFF2-40B4-BE49-F238E27FC236}">
                <a16:creationId xmlns:a16="http://schemas.microsoft.com/office/drawing/2014/main" id="{F7AB1E62-7948-75FB-9611-FD8EF9ADECB0}"/>
              </a:ext>
            </a:extLst>
          </p:cNvPr>
          <p:cNvSpPr txBox="1"/>
          <p:nvPr/>
        </p:nvSpPr>
        <p:spPr>
          <a:xfrm>
            <a:off x="8513064" y="4554662"/>
            <a:ext cx="2029967" cy="63709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141C2C"/>
                </a:solidFill>
                <a:latin typeface="Arial"/>
              </a:defRPr>
            </a:pPr>
            <a:r>
              <a:rPr dirty="0"/>
              <a:t>native </a:t>
            </a:r>
            <a:r>
              <a:rPr dirty="0" err="1"/>
              <a:t>BuyerAgent</a:t>
            </a:r>
            <a:br>
              <a:rPr dirty="0"/>
            </a:br>
            <a:r>
              <a:rPr dirty="0"/>
              <a:t>valid tags</a:t>
            </a:r>
            <a:br>
              <a:rPr dirty="0"/>
            </a:br>
            <a:r>
              <a:rPr dirty="0"/>
              <a:t>valid contract</a:t>
            </a:r>
          </a:p>
        </p:txBody>
      </p:sp>
      <p:cxnSp>
        <p:nvCxnSpPr>
          <p:cNvPr id="52" name="Connector 25">
            <a:extLst>
              <a:ext uri="{FF2B5EF4-FFF2-40B4-BE49-F238E27FC236}">
                <a16:creationId xmlns:a16="http://schemas.microsoft.com/office/drawing/2014/main" id="{591652ED-45DE-FA63-94DA-76E097865C9D}"/>
              </a:ext>
            </a:extLst>
          </p:cNvPr>
          <p:cNvCxnSpPr/>
          <p:nvPr/>
        </p:nvCxnSpPr>
        <p:spPr>
          <a:xfrm>
            <a:off x="2770632" y="5011863"/>
            <a:ext cx="365760" cy="0"/>
          </a:xfrm>
          <a:prstGeom prst="line">
            <a:avLst/>
          </a:prstGeom>
          <a:ln w="2794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26">
            <a:extLst>
              <a:ext uri="{FF2B5EF4-FFF2-40B4-BE49-F238E27FC236}">
                <a16:creationId xmlns:a16="http://schemas.microsoft.com/office/drawing/2014/main" id="{3293577F-2A34-485A-D435-0E4A5D0D0BFD}"/>
              </a:ext>
            </a:extLst>
          </p:cNvPr>
          <p:cNvCxnSpPr/>
          <p:nvPr/>
        </p:nvCxnSpPr>
        <p:spPr>
          <a:xfrm>
            <a:off x="5376672" y="5011863"/>
            <a:ext cx="365760" cy="0"/>
          </a:xfrm>
          <a:prstGeom prst="line">
            <a:avLst/>
          </a:prstGeom>
          <a:ln w="2794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27">
            <a:extLst>
              <a:ext uri="{FF2B5EF4-FFF2-40B4-BE49-F238E27FC236}">
                <a16:creationId xmlns:a16="http://schemas.microsoft.com/office/drawing/2014/main" id="{89CC2059-B7C1-A61A-F411-B593DD9C3B7D}"/>
              </a:ext>
            </a:extLst>
          </p:cNvPr>
          <p:cNvCxnSpPr/>
          <p:nvPr/>
        </p:nvCxnSpPr>
        <p:spPr>
          <a:xfrm>
            <a:off x="7982712" y="5011863"/>
            <a:ext cx="365760" cy="0"/>
          </a:xfrm>
          <a:prstGeom prst="line">
            <a:avLst/>
          </a:prstGeom>
          <a:ln w="2794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Idea 1: Calibrated Bayesian Belief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rPr dirty="0"/>
              <a:t>Replace loose intervals with a scoreable posterior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" y="3383280"/>
          <a:ext cx="107899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Useful idea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 to add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Preference Estimation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LLM extracts language cues -&gt; Bayesian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preference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BOND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posterior belief as auditable output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Brier / ECE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Our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belief feeds planner and validator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belief-action consistency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DBB06116-C7A8-7C2E-9872-E26C51638893}"/>
              </a:ext>
            </a:extLst>
          </p:cNvPr>
          <p:cNvSpPr txBox="1"/>
          <p:nvPr/>
        </p:nvSpPr>
        <p:spPr>
          <a:xfrm>
            <a:off x="740033" y="1665890"/>
            <a:ext cx="94707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Current: reservation range; acceptable range patience/flexibility intervals; evidence text.</a:t>
            </a:r>
          </a:p>
          <a:p>
            <a:endParaRPr lang="en-US" altLang="zh-CN" dirty="0"/>
          </a:p>
          <a:p>
            <a:r>
              <a:rPr lang="en-US" altLang="zh-CN" dirty="0"/>
              <a:t>Update: Factorized posterior over reservation bucket, issue weights, patience, dominance, friendliness, truthfulness. Use </a:t>
            </a:r>
            <a:r>
              <a:rPr lang="zh-CN" altLang="zh-CN" dirty="0"/>
              <a:t>Bayesian update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Idea 2: Latent Strategic Actions before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26776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rPr lang="en-US" dirty="0"/>
              <a:t>From Zelai’s LSPO work.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355080"/>
            <a:ext cx="10972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5B677C"/>
                </a:solidFill>
                <a:latin typeface="Arial"/>
              </a:defRPr>
            </a:pPr>
            <a:r>
              <a:t>Citations: LSPO, Xu et al. 2025; Deep CFR, Brown et al. 2018.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A008565-7122-2E13-A644-6B526D336FD2}"/>
              </a:ext>
            </a:extLst>
          </p:cNvPr>
          <p:cNvSpPr txBox="1"/>
          <p:nvPr/>
        </p:nvSpPr>
        <p:spPr>
          <a:xfrm>
            <a:off x="530352" y="1608083"/>
            <a:ext cx="1051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LSPO’s lesson: map free-form language to discrete latent strategy space, use CFR to learn the best strategy over latent space and DPO to fine-tune LLM.</a:t>
            </a:r>
          </a:p>
          <a:p>
            <a:endParaRPr lang="en-US" altLang="zh-CN" dirty="0"/>
          </a:p>
          <a:p>
            <a:r>
              <a:rPr lang="en-US" altLang="zh-CN" dirty="0"/>
              <a:t>Our path: collect trajectories in experiments, use LLM feedback/cluster to rewrite the strategic action set.</a:t>
            </a:r>
          </a:p>
          <a:p>
            <a:r>
              <a:rPr lang="en-US" altLang="zh-CN" dirty="0"/>
              <a:t>Or run CFR? </a:t>
            </a:r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B4A57211-85A1-C32E-70AD-1361148C7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848" y="2863972"/>
            <a:ext cx="7617372" cy="34649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2" y="51237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rPr dirty="0"/>
              <a:t>Idea 3: Belief-conditioned Best Response / Offer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44752"/>
            <a:ext cx="3154679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rial"/>
              </a:defRPr>
            </a:pPr>
            <a:r>
              <a:t>Stackelberg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56231"/>
            <a:ext cx="3154679" cy="1234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rPr dirty="0"/>
              <a:t>Buyer proposes; seller responds. Planner chooses offer a that maximizes </a:t>
            </a:r>
            <a:r>
              <a:rPr dirty="0" err="1"/>
              <a:t>U_buyer</a:t>
            </a:r>
            <a:r>
              <a:rPr dirty="0"/>
              <a:t>(a, predicted seller response).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73152" cy="1828800"/>
          </a:xfrm>
          <a:prstGeom prst="rect">
            <a:avLst/>
          </a:prstGeom>
          <a:solidFill>
            <a:srgbClr val="67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444752"/>
            <a:ext cx="3154679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6752BE"/>
                </a:solidFill>
                <a:latin typeface="Arial"/>
              </a:defRPr>
            </a:pPr>
            <a:r>
              <a:t>ASTRA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56231"/>
            <a:ext cx="3154679" cy="1234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rPr dirty="0"/>
              <a:t>Interpret counterpart behavior, optimize counteroffers via LP, select tactics by acceptance probability.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73152" cy="1828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1444752"/>
            <a:ext cx="31089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00897B"/>
                </a:solidFill>
                <a:latin typeface="Arial"/>
              </a:defRPr>
            </a:pPr>
            <a:r>
              <a:t>Our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856231"/>
            <a:ext cx="3108960" cy="1234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rPr dirty="0"/>
              <a:t>Add seller-feasible floor and non-price feasibility to planner; optimize within buyer/seller overlap.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87344"/>
            <a:ext cx="10424160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141C2C"/>
                </a:solidFill>
                <a:latin typeface="Arial"/>
              </a:defRPr>
            </a:pPr>
            <a:r>
              <a:rPr dirty="0"/>
              <a:t>This directly targets our mismatch source: seller-side negative utility.</a:t>
            </a:r>
          </a:p>
          <a:p>
            <a:pPr>
              <a:spcAft>
                <a:spcPts val="600"/>
              </a:spcAft>
              <a:defRPr sz="2100">
                <a:solidFill>
                  <a:srgbClr val="141C2C"/>
                </a:solidFill>
                <a:latin typeface="Arial"/>
              </a:defRPr>
            </a:pPr>
            <a:r>
              <a:rPr dirty="0"/>
              <a:t>Planner should output structured contract candidates, not only language advice.</a:t>
            </a:r>
          </a:p>
          <a:p>
            <a:pPr>
              <a:spcAft>
                <a:spcPts val="600"/>
              </a:spcAft>
              <a:defRPr sz="2100">
                <a:solidFill>
                  <a:srgbClr val="141C2C"/>
                </a:solidFill>
                <a:latin typeface="Arial"/>
              </a:defRPr>
            </a:pPr>
            <a:r>
              <a:rPr dirty="0"/>
              <a:t>Validator becomes a critic that rejects infeasible best responses.</a:t>
            </a:r>
            <a:endParaRPr lang="en-US" dirty="0"/>
          </a:p>
          <a:p>
            <a:pPr>
              <a:spcAft>
                <a:spcPts val="600"/>
              </a:spcAft>
              <a:defRPr sz="2100">
                <a:solidFill>
                  <a:srgbClr val="141C2C"/>
                </a:solidFill>
                <a:latin typeface="Arial"/>
              </a:defRPr>
            </a:pPr>
            <a:endParaRPr lang="en-US" dirty="0"/>
          </a:p>
          <a:p>
            <a:pPr>
              <a:spcAft>
                <a:spcPts val="600"/>
              </a:spcAft>
              <a:defRPr sz="2100">
                <a:solidFill>
                  <a:srgbClr val="141C2C"/>
                </a:solidFill>
                <a:latin typeface="Arial"/>
              </a:defRPr>
            </a:pPr>
            <a:r>
              <a:rPr lang="en-US" dirty="0"/>
              <a:t>R</a:t>
            </a:r>
            <a:r>
              <a:rPr lang="en-US" altLang="zh-CN" dirty="0"/>
              <a:t>esult: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100">
                <a:solidFill>
                  <a:srgbClr val="141C2C"/>
                </a:solidFill>
                <a:latin typeface="Arial"/>
              </a:defRPr>
            </a:pPr>
            <a:r>
              <a:rPr lang="en-US" altLang="zh-CN" dirty="0"/>
              <a:t>Use structured contract output.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100">
                <a:solidFill>
                  <a:srgbClr val="141C2C"/>
                </a:solidFill>
                <a:latin typeface="Arial"/>
              </a:defRPr>
            </a:pPr>
            <a:r>
              <a:rPr lang="en-US" altLang="zh-CN" dirty="0"/>
              <a:t>Change into a value-based RL.</a:t>
            </a:r>
          </a:p>
          <a:p>
            <a:pPr>
              <a:spcAft>
                <a:spcPts val="600"/>
              </a:spcAft>
              <a:defRPr sz="2100">
                <a:solidFill>
                  <a:srgbClr val="141C2C"/>
                </a:solidFill>
                <a:latin typeface="Arial"/>
              </a:defRPr>
            </a:pPr>
            <a:r>
              <a:rPr lang="en-US" dirty="0"/>
              <a:t>	belief -&gt; value network -&gt; Q(action) -&gt; argmax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Idea 4: Separate Binding Actions from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Make the economic move explicit, then naturalize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2588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Core design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to borrow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Bilateral Trade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tool/event simulator separates binding offers and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price/contract as structured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DAT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small planner steers frozen LM via action token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train planner without degrading language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RLVR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verifiable reward trains negotiation 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reward includes surplus, budget, mismatch, timeout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3886200"/>
            <a:ext cx="10561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3886200"/>
            <a:ext cx="73152" cy="960120"/>
          </a:xfrm>
          <a:prstGeom prst="rect">
            <a:avLst/>
          </a:prstGeom>
          <a:solidFill>
            <a:srgbClr val="35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4005072"/>
            <a:ext cx="102412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358B56"/>
                </a:solidFill>
                <a:latin typeface="Arial"/>
              </a:defRPr>
            </a:pPr>
            <a:r>
              <a:t>Design implication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416552"/>
            <a:ext cx="102412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t>A+B should produce a structured action: selected seller, product, price, complete contract, acceptance/walk-away flag. C should only realize it in AgenticPay format.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74920"/>
            <a:ext cx="10561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5074920"/>
            <a:ext cx="73152" cy="777240"/>
          </a:xfrm>
          <a:prstGeom prst="rect">
            <a:avLst/>
          </a:prstGeom>
          <a:solidFill>
            <a:srgbClr val="EA7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5193792"/>
            <a:ext cx="102412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EA7C24"/>
                </a:solidFill>
                <a:latin typeface="Arial"/>
              </a:defRPr>
            </a:pPr>
            <a:r>
              <a:t>Training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5605272"/>
            <a:ext cx="10241280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t>Train planner with verifiable reward terms: BuyerScore, deal, IR, mismatch, timeout, and contract feasibility.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55080"/>
            <a:ext cx="10972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5B677C"/>
                </a:solidFill>
                <a:latin typeface="Arial"/>
              </a:defRPr>
            </a:pPr>
            <a:r>
              <a:t>Citations: Bergemann et al. 2026; Li et al. 2024; Liu et al. 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What These Methods Add to Our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A concrete upgrade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113385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Now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Next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Citation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Belief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interval estimates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factorized posterior +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Preference Estimation / BOND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Planner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typed action prompt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latent act + value/LP selector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LSPO / ASTRA / Deep CFR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Naturalizer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native prompt wrapper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structured action realization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DAT / Bilateral Trade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Validator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format + buyer guardrail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two-sided feasibility critic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AgenticPay / mediator pipeline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prompt-only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component-wise RLVR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RLVR negotiation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343400"/>
            <a:ext cx="10698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141C2C"/>
                </a:solidFill>
                <a:latin typeface="Arial"/>
              </a:defRPr>
            </a:pPr>
            <a:r>
              <a:t>Short-term: posterior belief + seller-feasibility optimizer + stronger critic.</a:t>
            </a:r>
          </a:p>
          <a:p>
            <a:pPr>
              <a:spcAft>
                <a:spcPts val="600"/>
              </a:spcAft>
              <a:defRPr sz="2100">
                <a:solidFill>
                  <a:srgbClr val="141C2C"/>
                </a:solidFill>
                <a:latin typeface="Arial"/>
              </a:defRPr>
            </a:pPr>
            <a:r>
              <a:t>Medium-term: latent strategic codebook and value planner.</a:t>
            </a:r>
          </a:p>
          <a:p>
            <a:pPr>
              <a:spcAft>
                <a:spcPts val="600"/>
              </a:spcAft>
              <a:defRPr sz="2100">
                <a:solidFill>
                  <a:srgbClr val="141C2C"/>
                </a:solidFill>
                <a:latin typeface="Arial"/>
              </a:defRPr>
            </a:pPr>
            <a:r>
              <a:t>Long-term: train planner under verifiable rewards, keeping naturalizer constrained.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55080"/>
            <a:ext cx="10972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5B677C"/>
                </a:solidFill>
                <a:latin typeface="Arial"/>
              </a:defRPr>
            </a:pPr>
            <a:r>
              <a:t>Part I takeaway: game theory provides structure for modules, not a replacement for the LLM.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27432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400" b="1">
                <a:solidFill>
                  <a:srgbClr val="00897B"/>
                </a:solidFill>
                <a:latin typeface="Arial"/>
              </a:defRPr>
            </a:pPr>
            <a:r>
              <a:t>Part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0704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600" b="1">
                <a:solidFill>
                  <a:srgbClr val="141C2C"/>
                </a:solidFill>
                <a:latin typeface="Arial"/>
              </a:defRPr>
            </a:pPr>
            <a:r>
              <a:t>Current AgenticPay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105156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100" b="0">
                <a:solidFill>
                  <a:srgbClr val="5B677C"/>
                </a:solidFill>
                <a:latin typeface="Arial"/>
              </a:defRPr>
            </a:pPr>
            <a:r>
              <a:rPr dirty="0"/>
              <a:t>Validator-era comparison, full-framework failure modes, and hard-task trajectory lessons.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Experiment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What has been run and what each row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697480" cy="1247052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4068" y="1417319"/>
            <a:ext cx="123444" cy="124705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536192"/>
            <a:ext cx="23774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rial"/>
              </a:defRPr>
            </a:pPr>
            <a: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47672"/>
            <a:ext cx="2377440" cy="4571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0">
                <a:solidFill>
                  <a:srgbClr val="141C2C"/>
                </a:solidFill>
                <a:latin typeface="Arial"/>
              </a:defRPr>
            </a:pPr>
            <a:r>
              <a:t>Repo-native/direct buyer prompt. No explicit belief or planner.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697480" cy="1458468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19"/>
            <a:ext cx="73152" cy="1367921"/>
          </a:xfrm>
          <a:prstGeom prst="rect">
            <a:avLst/>
          </a:prstGeom>
          <a:solidFill>
            <a:srgbClr val="67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5032" y="1536192"/>
            <a:ext cx="23774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6752BE"/>
                </a:solidFill>
                <a:latin typeface="Arial"/>
              </a:defRPr>
            </a:pPr>
            <a:r>
              <a:t>A +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1947672"/>
            <a:ext cx="2377440" cy="4571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0">
                <a:solidFill>
                  <a:srgbClr val="141C2C"/>
                </a:solidFill>
                <a:latin typeface="Arial"/>
              </a:defRPr>
            </a:pPr>
            <a:r>
              <a:t>Belief model + low-level generator. Tests whether latent opponent estimates help alone.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0236" y="1412747"/>
            <a:ext cx="2697480" cy="1298921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41948" y="1417320"/>
            <a:ext cx="77724" cy="1294348"/>
          </a:xfrm>
          <a:prstGeom prst="rect">
            <a:avLst/>
          </a:prstGeom>
          <a:solidFill>
            <a:srgbClr val="EA7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1536192"/>
            <a:ext cx="23774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EA7C24"/>
                </a:solidFill>
                <a:latin typeface="Arial"/>
              </a:defRPr>
            </a:pPr>
            <a:r>
              <a:t>B +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1947672"/>
            <a:ext cx="2377440" cy="4571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0">
                <a:solidFill>
                  <a:srgbClr val="141C2C"/>
                </a:solidFill>
                <a:latin typeface="Arial"/>
              </a:defRPr>
            </a:pPr>
            <a:r>
              <a:t>Planner + generator. Tests strategy-language decoupling without belief.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417320"/>
            <a:ext cx="2194560" cy="1294348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22308" y="1417320"/>
            <a:ext cx="123444" cy="12943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37192" y="1536192"/>
            <a:ext cx="1874519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00897B"/>
                </a:solidFill>
                <a:latin typeface="Arial"/>
              </a:defRPr>
            </a:pPr>
            <a:r>
              <a:t>A + B +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1947672"/>
            <a:ext cx="1874519" cy="4571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0">
                <a:solidFill>
                  <a:srgbClr val="141C2C"/>
                </a:solidFill>
                <a:latin typeface="Arial"/>
              </a:defRPr>
            </a:pPr>
            <a:r>
              <a:t>Belief → planner → generator. Main framework.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355080"/>
            <a:ext cx="10972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5B677C"/>
                </a:solidFill>
                <a:latin typeface="Arial"/>
              </a:defRPr>
            </a:pPr>
            <a:r>
              <a:t>All completed core runs use Qwen3-14B, seed 0, max_new_tokens=1024.</a:t>
            </a:r>
          </a:p>
        </p:txBody>
      </p:sp>
      <p:graphicFrame>
        <p:nvGraphicFramePr>
          <p:cNvPr id="25" name="Table 5">
            <a:extLst>
              <a:ext uri="{FF2B5EF4-FFF2-40B4-BE49-F238E27FC236}">
                <a16:creationId xmlns:a16="http://schemas.microsoft.com/office/drawing/2014/main" id="{0C72CB27-9F27-91B7-DEB7-3686ACE8D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688687"/>
              </p:ext>
            </p:extLst>
          </p:nvPr>
        </p:nvGraphicFramePr>
        <p:xfrm>
          <a:off x="429348" y="3116148"/>
          <a:ext cx="10515600" cy="2246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70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Item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dirty="0" err="1"/>
                        <a:t>AgenticPay</a:t>
                      </a:r>
                      <a:r>
                        <a:rPr dirty="0"/>
                        <a:t> </a:t>
                      </a:r>
                      <a:r>
                        <a:rPr lang="en-US" dirty="0"/>
                        <a:t>One Buyer-One Seller-One product subset (28 tasks) covering different domains and several Multi Buyer-Multi Seller-Multi product tasks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dirty="0"/>
                        <a:t>Qwen3-14B, </a:t>
                      </a:r>
                      <a:r>
                        <a:rPr lang="en-US" dirty="0"/>
                        <a:t>same setting with the original paper</a:t>
                      </a:r>
                      <a:endParaRPr dirty="0"/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lang="en-US" dirty="0"/>
                        <a:t>Metrics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lang="en-US" altLang="zh-CN" dirty="0"/>
                        <a:t>Deal, Timeout, </a:t>
                      </a:r>
                      <a:r>
                        <a:rPr lang="en-US" altLang="zh-CN" dirty="0" err="1"/>
                        <a:t>GlobalScore</a:t>
                      </a:r>
                      <a:r>
                        <a:rPr lang="en-US" altLang="zh-CN" dirty="0"/>
                        <a:t>, </a:t>
                      </a:r>
                      <a:r>
                        <a:rPr lang="en-US" altLang="zh-CN" dirty="0" err="1"/>
                        <a:t>BuyerScore</a:t>
                      </a:r>
                      <a:r>
                        <a:rPr lang="en-US" altLang="zh-CN" dirty="0"/>
                        <a:t>, </a:t>
                      </a:r>
                      <a:r>
                        <a:rPr lang="en-US" altLang="zh-CN" dirty="0" err="1"/>
                        <a:t>SellerScore</a:t>
                      </a:r>
                      <a:r>
                        <a:rPr lang="en-US" altLang="zh-CN" dirty="0"/>
                        <a:t>, </a:t>
                      </a:r>
                      <a:r>
                        <a:rPr lang="en-US" altLang="zh-CN" dirty="0" err="1"/>
                        <a:t>BuyerReward</a:t>
                      </a:r>
                      <a:r>
                        <a:rPr lang="en-US" altLang="zh-CN" dirty="0"/>
                        <a:t>, </a:t>
                      </a:r>
                      <a:r>
                        <a:rPr lang="en-US" altLang="zh-CN" dirty="0" err="1"/>
                        <a:t>AvgRounds</a:t>
                      </a:r>
                      <a:r>
                        <a:rPr lang="en-US" altLang="zh-CN" dirty="0"/>
                        <a:t>, Mismatch, Contract feasibility.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5255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Baselines to 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Inspired by ASTRA, strategy-generation decoupling, and prompt-tactic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322A8B-E501-A49E-B0B5-78927F722081}"/>
              </a:ext>
            </a:extLst>
          </p:cNvPr>
          <p:cNvSpPr txBox="1"/>
          <p:nvPr/>
        </p:nvSpPr>
        <p:spPr>
          <a:xfrm>
            <a:off x="502920" y="1487079"/>
            <a:ext cx="1023655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Some recent works: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RLVR Negotiation (Liu et al. 2026)</a:t>
            </a:r>
            <a:r>
              <a:rPr lang="en-US" altLang="zh-CN" dirty="0"/>
              <a:t>: RLVR </a:t>
            </a:r>
            <a:r>
              <a:rPr lang="zh-CN" altLang="zh-CN" dirty="0"/>
              <a:t>Qwen3-30B</a:t>
            </a:r>
            <a:r>
              <a:rPr lang="en-US" altLang="zh-CN" dirty="0"/>
              <a:t> buyers </a:t>
            </a:r>
            <a:r>
              <a:rPr lang="en-US" altLang="zh-CN" dirty="0" err="1"/>
              <a:t>v.s</a:t>
            </a:r>
            <a:r>
              <a:rPr lang="en-US" altLang="zh-CN" dirty="0"/>
              <a:t>. frontier model buyers.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Sellers: </a:t>
            </a:r>
            <a:r>
              <a:rPr lang="zh-CN" altLang="zh-CN" dirty="0"/>
              <a:t>Qwen3-30B-A3B-Instruct-2507</a:t>
            </a:r>
            <a:r>
              <a:rPr lang="en-US" altLang="zh-CN" dirty="0"/>
              <a:t> </a:t>
            </a:r>
            <a:r>
              <a:rPr lang="zh-CN" altLang="zh-CN" dirty="0"/>
              <a:t>gpt-5.4-high-reasoning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Trade: SFT/RL - Qwen3-8B and Qwen3-14B negotiate with gpt-4.1/o3-mini. Both buyer and seller roles.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Agentic Pay: Self play/Cross play, use buyer/seller/global score to evaluate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ASTRA: full framework negotiate with gpt-4o/gemini-2.0-flash/claude-3.5-sonnet.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Preference Estimation</a:t>
            </a:r>
            <a:r>
              <a:rPr lang="en-US" altLang="zh-CN" dirty="0"/>
              <a:t>: compare preference prediction 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Baseline: base-LLM/conventional Bayesian opponent modeling/LLM preference estimation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en-US" altLang="zh-CN" dirty="0"/>
              <a:t>Main problem now: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update seller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Direct negotiation to compare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Direct evaluation on belief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Validator-era Four-Variant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26776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rPr lang="en-US" dirty="0"/>
              <a:t>Add validator to avoid wrong price and contract failure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721124"/>
              </p:ext>
            </p:extLst>
          </p:nvPr>
        </p:nvGraphicFramePr>
        <p:xfrm>
          <a:off x="411480" y="1325880"/>
          <a:ext cx="7635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Deal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Timeout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Mismatch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Global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Buyer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Seller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67.9%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32.1%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b="1" dirty="0"/>
                        <a:t>17.9%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b="0" dirty="0"/>
                        <a:t>23.02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24.63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24.07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A+C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lang="en-US" dirty="0"/>
                        <a:t>28</a:t>
                      </a:r>
                      <a:endParaRPr dirty="0"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84.6%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15.4%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lang="en-US" b="0" dirty="0"/>
                        <a:t>31%</a:t>
                      </a:r>
                      <a:endParaRPr b="0" dirty="0"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lang="en-US" b="1" dirty="0"/>
                        <a:t>23.84</a:t>
                      </a:r>
                      <a:endParaRPr b="1" dirty="0"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lang="en-US" dirty="0"/>
                        <a:t>25.57</a:t>
                      </a:r>
                      <a:endParaRPr dirty="0"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lang="en-US" dirty="0"/>
                        <a:t>25.21</a:t>
                      </a:r>
                      <a:endParaRPr dirty="0"/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B+C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89.3%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10.7%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39.3%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21.36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27.54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A+B+C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b="1" dirty="0"/>
                        <a:t>89.3%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b="1" dirty="0"/>
                        <a:t>10.7%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28.6%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dirty="0"/>
                        <a:t>22.71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b="1" dirty="0"/>
                        <a:t>28.99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b="1" dirty="0"/>
                        <a:t>28.15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703320"/>
            <a:ext cx="5303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703320"/>
            <a:ext cx="73152" cy="1508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822191"/>
            <a:ext cx="49834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00897B"/>
                </a:solidFill>
                <a:latin typeface="Arial"/>
              </a:defRPr>
            </a:pPr>
            <a:r>
              <a:rPr lang="en-US" dirty="0"/>
              <a:t>R</a:t>
            </a:r>
            <a:r>
              <a:rPr lang="en-US" altLang="zh-CN" dirty="0"/>
              <a:t>esult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96112" y="4233672"/>
            <a:ext cx="4983480" cy="9143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t>A+B+C improves over B+C on mismatch and seller score, but it does not yet beat native on global score. A+C looks promising but is only 13/28.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70332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3703320"/>
            <a:ext cx="73152" cy="1508760"/>
          </a:xfrm>
          <a:prstGeom prst="rect">
            <a:avLst/>
          </a:prstGeom>
          <a:solidFill>
            <a:srgbClr val="C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3822191"/>
            <a:ext cx="48463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C83E3E"/>
                </a:solidFill>
                <a:latin typeface="Arial"/>
              </a:defRPr>
            </a:pPr>
            <a:r>
              <a:t>Failure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4233672"/>
            <a:ext cx="4846320" cy="9143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t>Most framework mismatches are not buyer max violations; they are seller-side negative utility from price and non-price contract terms.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255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What Validators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Buyer-only guardrail was insufficient; seller validation is promising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101792"/>
              </p:ext>
            </p:extLst>
          </p:nvPr>
        </p:nvGraphicFramePr>
        <p:xfrm>
          <a:off x="411480" y="1325880"/>
          <a:ext cx="83210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Deal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Timeout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Mismatch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B-neg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S-neg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IR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A+B+C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89.3%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10.7%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dirty="0"/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47.1%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dirty="0"/>
                        <a:t>A+B+C buyer guardrail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82.1%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17.9%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dirty="0"/>
                        <a:t>32.1%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56.2%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dirty="0"/>
                        <a:t>A+B+C + seller validator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dirty="0"/>
                        <a:t>69.2%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30.8%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B+C buyer guardrail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b="1" dirty="0"/>
                        <a:t>92.9%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b="1" dirty="0"/>
                        <a:t>7.1%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42.9%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rPr dirty="0"/>
                        <a:t>77.8%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977639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141C2C"/>
                </a:solidFill>
                <a:latin typeface="Arial"/>
              </a:defRPr>
            </a:pPr>
            <a:r>
              <a:rPr dirty="0"/>
              <a:t>Buyer guardrail alone did not help: mismatch rose from 28.6% to 32.1% in the complete full-framework run.</a:t>
            </a:r>
          </a:p>
          <a:p>
            <a:pPr>
              <a:spcAft>
                <a:spcPts val="600"/>
              </a:spcAft>
              <a:defRPr sz="2100">
                <a:solidFill>
                  <a:srgbClr val="141C2C"/>
                </a:solidFill>
                <a:latin typeface="Arial"/>
              </a:defRPr>
            </a:pPr>
            <a:r>
              <a:rPr dirty="0"/>
              <a:t>Validated seller partial run is the cleanest signal: 0 mismatch and 0 IR violations so far.</a:t>
            </a:r>
          </a:p>
          <a:p>
            <a:pPr>
              <a:spcAft>
                <a:spcPts val="600"/>
              </a:spcAft>
              <a:defRPr sz="2100">
                <a:solidFill>
                  <a:srgbClr val="141C2C"/>
                </a:solidFill>
                <a:latin typeface="Arial"/>
              </a:defRPr>
            </a:pPr>
            <a:r>
              <a:rPr dirty="0"/>
              <a:t>Tradeoff: seller validation makes the game stricter and may increase timeout/no-deal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55080"/>
            <a:ext cx="10972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5B677C"/>
                </a:solidFill>
                <a:latin typeface="Arial"/>
              </a:defRPr>
            </a:pPr>
            <a:r>
              <a:t>Seller validator row is still partial in local files; present as early evidence, not final result.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Full Framework: Advantage and Remaining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Current strongest claim is control, not final performance dominance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536192"/>
            <a:ext cx="3154679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900" b="1">
                <a:solidFill>
                  <a:srgbClr val="00897B"/>
                </a:solidFill>
                <a:latin typeface="Arial"/>
              </a:defRPr>
            </a:pPr>
            <a:r>
              <a:t>Advantage vs B+C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47672"/>
            <a:ext cx="3154679" cy="1234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t>Belief reduces over-aggressive planner behavior: v2 mismatch 28.6% vs 39.3%, seller score 28.15 vs 20.63.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536192"/>
            <a:ext cx="3154679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900" b="1">
                <a:solidFill>
                  <a:srgbClr val="2563EB"/>
                </a:solidFill>
                <a:latin typeface="Arial"/>
              </a:defRPr>
            </a:pPr>
            <a:r>
              <a:t>Advantage vs 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47672"/>
            <a:ext cx="3154679" cy="1234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t>Higher deal rate and fewer timeouts in v2: 89.3% deal vs 67.9%, 10.7% timeout vs 32.1%.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C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1536192"/>
            <a:ext cx="31089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900" b="1">
                <a:solidFill>
                  <a:srgbClr val="C83E3E"/>
                </a:solidFill>
                <a:latin typeface="Arial"/>
              </a:defRPr>
            </a:pPr>
            <a:r>
              <a:t>Remaining issue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947672"/>
            <a:ext cx="3108960" cy="1234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t>Score quality and feasibility lag: seller-side infeasible contracts dominate mismatches in taxi/product contract tasks.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141C2C"/>
                </a:solidFill>
                <a:latin typeface="Arial"/>
              </a:defRPr>
            </a:pPr>
            <a:r>
              <a:t>The framework can make deals faster, but it sometimes creates deals the scorer rejects.</a:t>
            </a:r>
          </a:p>
          <a:p>
            <a:pPr>
              <a:spcAft>
                <a:spcPts val="600"/>
              </a:spcAft>
              <a:defRPr sz="2100">
                <a:solidFill>
                  <a:srgbClr val="141C2C"/>
                </a:solidFill>
                <a:latin typeface="Arial"/>
              </a:defRPr>
            </a:pPr>
            <a:r>
              <a:t>Non-price terms are the key blind spot: delivery days, route, wait time, utilities, lease months, packaging.</a:t>
            </a:r>
          </a:p>
          <a:p>
            <a:pPr>
              <a:spcAft>
                <a:spcPts val="600"/>
              </a:spcAft>
              <a:defRPr sz="2100">
                <a:solidFill>
                  <a:srgbClr val="141C2C"/>
                </a:solidFill>
                <a:latin typeface="Arial"/>
              </a:defRPr>
            </a:pPr>
            <a:r>
              <a:t>Next fix: plan over a buyer/seller feasible contract region, not only buyer max and target price.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55080"/>
            <a:ext cx="10972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5B677C"/>
                </a:solidFill>
                <a:latin typeface="Arial"/>
              </a:defRPr>
            </a:pPr>
            <a:r>
              <a:t>Mismatch is a scientific signal: agreement text is not enough.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1398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rPr dirty="0"/>
              <a:t>Concrete Trajectory: Hard Task4</a:t>
            </a:r>
            <a:r>
              <a:rPr lang="en-US" dirty="0"/>
              <a:t>-</a:t>
            </a:r>
            <a:r>
              <a:rPr lang="en-US" altLang="zh-CN" dirty="0"/>
              <a:t>same model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Full framework + validated seller, three buyers / three sellers / three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80160"/>
          <a:ext cx="113842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13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happened in the trajectory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Buyer max = 260 / 270 / 280; seller min = 220 / 230 / 240; products = jacket + shoes + backpack.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Belief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All buyer agents infer seller floor around 240 and likely acceptable range around 250-280.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All three choose anchor_low, target_price = 250, accept_if_at_or_below = buyer max.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All three produce near-identical messages: offer BUYER_PRICE($250) for the entire set.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Seller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Seller1 counters each path with SELLER_PRICE($230); seller2/3 are not meaningfully explored.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Environment selects buyer3 + seller1; final price = 230; rounds = 1; Global = 63.80, Buyer = 85.80, Seller = 33.00.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8006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4800600"/>
            <a:ext cx="73152" cy="12344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4919472"/>
            <a:ext cx="2926079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700" b="1">
                <a:solidFill>
                  <a:srgbClr val="00897B"/>
                </a:solidFill>
                <a:latin typeface="Arial"/>
              </a:defRPr>
            </a:pPr>
            <a:r>
              <a:t>Good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5330952"/>
            <a:ext cx="2926079" cy="27431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0">
                <a:solidFill>
                  <a:srgbClr val="141C2C"/>
                </a:solidFill>
                <a:latin typeface="Arial"/>
              </a:defRPr>
            </a:pPr>
            <a:r>
              <a:t>The framework immediately finds a feasible agreement in the buyer/seller overlap.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800600"/>
            <a:ext cx="32461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4800600"/>
            <a:ext cx="73152" cy="1358462"/>
          </a:xfrm>
          <a:prstGeom prst="rect">
            <a:avLst/>
          </a:prstGeom>
          <a:solidFill>
            <a:srgbClr val="C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1" y="4919472"/>
            <a:ext cx="2926079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700" b="1">
                <a:solidFill>
                  <a:srgbClr val="C83E3E"/>
                </a:solidFill>
                <a:latin typeface="Arial"/>
              </a:defRPr>
            </a:pPr>
            <a:r>
              <a:t>Problem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5330952"/>
            <a:ext cx="2926079" cy="27431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0">
                <a:solidFill>
                  <a:srgbClr val="141C2C"/>
                </a:solidFill>
                <a:latin typeface="Arial"/>
              </a:defRPr>
            </a:pPr>
            <a:r>
              <a:t>Multi-agent routing collapses to seller1 and language is almost copied across buyers.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800600"/>
            <a:ext cx="3246120" cy="1463566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4800600"/>
            <a:ext cx="73152" cy="1463566"/>
          </a:xfrm>
          <a:prstGeom prst="rect">
            <a:avLst/>
          </a:prstGeom>
          <a:solidFill>
            <a:srgbClr val="EA7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4919472"/>
            <a:ext cx="2926079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700" b="1">
                <a:solidFill>
                  <a:srgbClr val="EA7C24"/>
                </a:solidFill>
                <a:latin typeface="Arial"/>
              </a:defRPr>
            </a:pPr>
            <a:r>
              <a:t>Research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5330952"/>
            <a:ext cx="2926079" cy="27431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0">
                <a:solidFill>
                  <a:srgbClr val="141C2C"/>
                </a:solidFill>
                <a:latin typeface="Arial"/>
              </a:defRPr>
            </a:pPr>
            <a:r>
              <a:rPr dirty="0"/>
              <a:t>Planner should reason over seller competition and diversify exploration, not only optimize one selected path.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55080"/>
            <a:ext cx="10972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5B677C"/>
                </a:solidFill>
                <a:latin typeface="Arial"/>
              </a:defRPr>
            </a:pPr>
            <a:r>
              <a:t>Log: runs/.../20260617_105639/logs/003_multi_buyer_multi_products_multi_seller__Task4...log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Hard-task Trajectory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Multi-buyer / multi-seller / multi-product probe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86868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Deal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Global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Buyer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Seller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Native probe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44.28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30.38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54.42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Full + seller validator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88.72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64.62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54.17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063240"/>
            <a:ext cx="106070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rPr dirty="0"/>
              <a:t>Full framework + validated seller completes all four structural hard tasks with deal rate 100% and avg rounds 1.0.</a:t>
            </a:r>
          </a:p>
          <a:p>
            <a:pPr>
              <a:spcAft>
                <a:spcPts val="6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rPr dirty="0"/>
              <a:t>The framework optimizes price feasibility well here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255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1398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rPr dirty="0"/>
              <a:t>Experimental Conclusions</a:t>
            </a:r>
            <a:r>
              <a:rPr lang="en-US" dirty="0"/>
              <a:t> and Todo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90472"/>
            <a:ext cx="31089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900" b="1">
                <a:solidFill>
                  <a:srgbClr val="2563EB"/>
                </a:solidFill>
                <a:latin typeface="Arial"/>
              </a:defRPr>
            </a:pPr>
            <a:r>
              <a:t>1. Add baselines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01952"/>
            <a:ext cx="3108960" cy="1421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rPr lang="en-US" dirty="0"/>
              <a:t>Negotiation between different baselines.</a:t>
            </a:r>
          </a:p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endParaRPr lang="en-US" dirty="0"/>
          </a:p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rPr dirty="0"/>
              <a:t>Direct, </a:t>
            </a:r>
            <a:r>
              <a:rPr dirty="0" err="1"/>
              <a:t>CoT</a:t>
            </a:r>
            <a:r>
              <a:rPr dirty="0"/>
              <a:t>, warm/dominant, rule offer generator, ASTRA-like, validated seller, future RLVR.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73152" cy="19202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490472"/>
            <a:ext cx="31089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900" b="1">
                <a:solidFill>
                  <a:srgbClr val="00897B"/>
                </a:solidFill>
                <a:latin typeface="Arial"/>
              </a:defRPr>
            </a:pPr>
            <a:r>
              <a:t>2. Keep full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01952"/>
            <a:ext cx="3108960" cy="72943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rPr dirty="0"/>
              <a:t>A+B+C is still the right structure</a:t>
            </a:r>
            <a:r>
              <a:rPr lang="en-US" dirty="0"/>
              <a:t> but may improved through game-theoretic methods.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8092440" y="137160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371600"/>
            <a:ext cx="73152" cy="1920240"/>
          </a:xfrm>
          <a:prstGeom prst="rect">
            <a:avLst/>
          </a:prstGeom>
          <a:solidFill>
            <a:srgbClr val="EA7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1490472"/>
            <a:ext cx="31089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900" b="1">
                <a:solidFill>
                  <a:srgbClr val="EA7C24"/>
                </a:solidFill>
                <a:latin typeface="Arial"/>
              </a:defRPr>
            </a:pPr>
            <a:r>
              <a:t>3. Fix feasibility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901952"/>
            <a:ext cx="3108960" cy="96026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rPr dirty="0"/>
              <a:t>The next architectural step is joint buyer/seller feasibility planning over all contract terms</a:t>
            </a:r>
            <a:r>
              <a:rPr lang="en-US" dirty="0"/>
              <a:t> and preparation for RL.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Next To-do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Experiments blocked now, but the next queue is clear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C2C"/>
                </a:solidFill>
                <a:latin typeface="Arial"/>
              </a:defRPr>
            </a:pPr>
            <a:r>
              <a:t>Finish `full_framework + validated seller` to 28 tasks when experiments are available.</a:t>
            </a:r>
          </a:p>
          <a:p>
            <a:pPr>
              <a:spcAft>
                <a:spcPts val="600"/>
              </a:spcAft>
              <a:defRPr sz="2200">
                <a:solidFill>
                  <a:srgbClr val="141C2C"/>
                </a:solidFill>
                <a:latin typeface="Arial"/>
              </a:defRPr>
            </a:pPr>
            <a:r>
              <a:t>Run new baselines under identical seller-validated setting: direct, CoT, warm, dominant, rule offer generator, ASTRA-like.</a:t>
            </a:r>
          </a:p>
          <a:p>
            <a:pPr>
              <a:spcAft>
                <a:spcPts val="600"/>
              </a:spcAft>
              <a:defRPr sz="2200">
                <a:solidFill>
                  <a:srgbClr val="141C2C"/>
                </a:solidFill>
                <a:latin typeface="Arial"/>
              </a:defRPr>
            </a:pPr>
            <a:r>
              <a:t>Extend hard full-framework testing from structural Task1-4 to contract-heavy Task14-18 and Task25-29.</a:t>
            </a:r>
          </a:p>
          <a:p>
            <a:pPr>
              <a:spcAft>
                <a:spcPts val="600"/>
              </a:spcAft>
              <a:defRPr sz="2200">
                <a:solidFill>
                  <a:srgbClr val="141C2C"/>
                </a:solidFill>
                <a:latin typeface="Arial"/>
              </a:defRPr>
            </a:pPr>
            <a:r>
              <a:t>Add contract-level diagnostics per turn: buyer utility, estimated seller utility, non-price term deltas.</a:t>
            </a:r>
          </a:p>
          <a:p>
            <a:pPr>
              <a:spcAft>
                <a:spcPts val="600"/>
              </a:spcAft>
              <a:defRPr sz="2200">
                <a:solidFill>
                  <a:srgbClr val="141C2C"/>
                </a:solidFill>
                <a:latin typeface="Arial"/>
              </a:defRPr>
            </a:pPr>
            <a:r>
              <a:t>Prepare RL: train belief, planner, and naturalizer separately; use mismatch/IR as verifiable reward signals.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10972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5B677C"/>
                </a:solidFill>
                <a:latin typeface="Arial"/>
              </a:defRPr>
            </a:pPr>
            <a:r>
              <a:t>Files: 6.17/agenticpay_experiment_summary.md and this PPT.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1943</Words>
  <Application>Microsoft Office PowerPoint</Application>
  <PresentationFormat>宽屏</PresentationFormat>
  <Paragraphs>313</Paragraphs>
  <Slides>17</Slides>
  <Notes>0</Notes>
  <HiddenSlides>5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淇心 谭</cp:lastModifiedBy>
  <cp:revision>6</cp:revision>
  <dcterms:created xsi:type="dcterms:W3CDTF">2013-01-27T09:14:16Z</dcterms:created>
  <dcterms:modified xsi:type="dcterms:W3CDTF">2026-06-17T18:39:00Z</dcterms:modified>
  <cp:category/>
</cp:coreProperties>
</file>