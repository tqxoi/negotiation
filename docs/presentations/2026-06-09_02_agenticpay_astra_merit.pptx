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256" r:id="rId5"/>
    <p:sldId id="259" r:id="rId6"/>
    <p:sldId id="277" r:id="rId7"/>
    <p:sldId id="309" r:id="rId8"/>
    <p:sldId id="284" r:id="rId9"/>
    <p:sldId id="283" r:id="rId10"/>
    <p:sldId id="286" r:id="rId11"/>
    <p:sldId id="295" r:id="rId12"/>
    <p:sldId id="296" r:id="rId13"/>
    <p:sldId id="297" r:id="rId14"/>
    <p:sldId id="299" r:id="rId15"/>
    <p:sldId id="298" r:id="rId16"/>
    <p:sldId id="274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271" r:id="rId27"/>
    <p:sldId id="272" r:id="rId28"/>
    <p:sldId id="270" r:id="rId29"/>
    <p:sldId id="267" r:id="rId30"/>
    <p:sldId id="269" r:id="rId31"/>
    <p:sldId id="260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82922" autoAdjust="0"/>
  </p:normalViewPr>
  <p:slideViewPr>
    <p:cSldViewPr snapToGrid="0">
      <p:cViewPr varScale="1">
        <p:scale>
          <a:sx n="80" d="100"/>
          <a:sy n="80" d="100"/>
        </p:scale>
        <p:origin x="753" y="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2026/6/3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604.16472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arxiv.org/abs/2503.06416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604.16472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arxiv.org/abs/2503.06416" TargetMode="External"/><Relationship Id="rId5" Type="http://schemas.openxmlformats.org/officeDocument/2006/relationships/hyperlink" Target="https://aclanthology.org/D17-1259.pdf" TargetMode="External"/><Relationship Id="rId4" Type="http://schemas.openxmlformats.org/officeDocument/2006/relationships/hyperlink" Target="https://arxiv.org/abs/2002.07788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604.16472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arxiv.org/abs/2503.06416" TargetMode="Externa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8214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hlinkClick r:id="rId3"/>
              </a:rPr>
              <a:t>[2604.16472] Training Language Models for Bilateral Trade with Private Information</a:t>
            </a:r>
            <a:endParaRPr lang="en-US" altLang="zh-CN" dirty="0"/>
          </a:p>
          <a:p>
            <a:r>
              <a:rPr lang="en-US" altLang="zh-CN" dirty="0">
                <a:hlinkClick r:id="rId4"/>
              </a:rPr>
              <a:t>[2503.06416] Advancing AI Negotiations: A Large-Scale Autonomous Negotiation Competition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221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9624C-C056-6B3B-D363-2F4145CA0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DD789C-7E39-DCF9-D930-4957629380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C70D52F-A2A8-8768-E1DB-D24A808DF3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[1]</a:t>
            </a:r>
            <a:r>
              <a:rPr lang="en-US" altLang="zh-CN" dirty="0">
                <a:hlinkClick r:id="rId3"/>
              </a:rPr>
              <a:t> [2604.16472] Training Language Models for Bilateral Trade with Private Information</a:t>
            </a:r>
            <a:endParaRPr lang="en-US" altLang="zh-CN" dirty="0"/>
          </a:p>
          <a:p>
            <a:r>
              <a:rPr lang="en-US" altLang="zh-CN" dirty="0"/>
              <a:t>[2] </a:t>
            </a:r>
            <a:r>
              <a:rPr lang="en-US" altLang="zh-CN" dirty="0">
                <a:hlinkClick r:id="rId4"/>
              </a:rPr>
              <a:t>[2002.07788] Multi-Issue Bargaining With Deep Reinforcement Learning</a:t>
            </a:r>
            <a:endParaRPr lang="en-US" altLang="zh-CN" dirty="0"/>
          </a:p>
          <a:p>
            <a:r>
              <a:rPr lang="en-US" altLang="zh-CN" dirty="0"/>
              <a:t>[1] Deal or No Deal? End-to-End Learning for Negotiation Dialogues </a:t>
            </a:r>
            <a:r>
              <a:rPr lang="en-US" altLang="zh-CN" dirty="0">
                <a:hlinkClick r:id="rId5"/>
              </a:rPr>
              <a:t>aclanthology.org/D17-1259.pdf</a:t>
            </a:r>
            <a:endParaRPr lang="en-US" altLang="zh-CN" dirty="0"/>
          </a:p>
          <a:p>
            <a:r>
              <a:rPr lang="en-US" altLang="zh-CN" dirty="0"/>
              <a:t>[4] </a:t>
            </a:r>
            <a:r>
              <a:rPr lang="en-US" altLang="zh-CN" dirty="0">
                <a:hlinkClick r:id="rId6"/>
              </a:rPr>
              <a:t>[2503.06416] Advancing AI Negotiations: A Large-Scale Autonomous Negotiation Competition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F48998-4E72-91DC-BE1F-E2865E6B57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151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128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E879C-741E-B967-B415-173EEF0E9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024392-3928-51B9-E3D0-0EBD561C6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58D0CB-941C-ABD8-03A3-D826F5431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hlinkClick r:id="rId3"/>
              </a:rPr>
              <a:t>[2604.16472] Training Language Models for Bilateral Trade with Private Information</a:t>
            </a:r>
            <a:endParaRPr lang="en-US" altLang="zh-CN" dirty="0"/>
          </a:p>
          <a:p>
            <a:r>
              <a:rPr lang="en-US" altLang="zh-CN" dirty="0">
                <a:hlinkClick r:id="rId4"/>
              </a:rPr>
              <a:t>[2503.06416] Advancing AI Negotiations: A Large-Scale Autonomous Negotiation Competition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8243C0-279F-AC57-7088-B86B599C71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77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456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 userDrawn="1"/>
        </p:nvGrpSpPr>
        <p:grpSpPr>
          <a:xfrm>
            <a:off x="7930423" y="3800366"/>
            <a:ext cx="4261577" cy="3057634"/>
            <a:chOff x="7930423" y="3800366"/>
            <a:chExt cx="4261577" cy="3057634"/>
          </a:xfrm>
        </p:grpSpPr>
        <p:sp>
          <p:nvSpPr>
            <p:cNvPr id="27" name="任意形状 26"/>
            <p:cNvSpPr/>
            <p:nvPr userDrawn="1"/>
          </p:nvSpPr>
          <p:spPr>
            <a:xfrm>
              <a:off x="7930423" y="3800366"/>
              <a:ext cx="4261577" cy="3057634"/>
            </a:xfrm>
            <a:custGeom>
              <a:avLst/>
              <a:gdLst>
                <a:gd name="connsiteX0" fmla="*/ 4261577 w 4261577"/>
                <a:gd name="connsiteY0" fmla="*/ 0 h 3057634"/>
                <a:gd name="connsiteX1" fmla="*/ 4261577 w 4261577"/>
                <a:gd name="connsiteY1" fmla="*/ 3057634 h 3057634"/>
                <a:gd name="connsiteX2" fmla="*/ 0 w 4261577"/>
                <a:gd name="connsiteY2" fmla="*/ 3057634 h 3057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61577" h="3057634">
                  <a:moveTo>
                    <a:pt x="4261577" y="0"/>
                  </a:moveTo>
                  <a:lnTo>
                    <a:pt x="4261577" y="3057634"/>
                  </a:lnTo>
                  <a:lnTo>
                    <a:pt x="0" y="3057634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28" name="任意形状 27"/>
            <p:cNvSpPr/>
            <p:nvPr userDrawn="1"/>
          </p:nvSpPr>
          <p:spPr>
            <a:xfrm rot="10800000" flipV="1">
              <a:off x="9217096" y="5368704"/>
              <a:ext cx="2974904" cy="1489295"/>
            </a:xfrm>
            <a:custGeom>
              <a:avLst/>
              <a:gdLst>
                <a:gd name="connsiteX0" fmla="*/ 2185871 w 2974904"/>
                <a:gd name="connsiteY0" fmla="*/ 0 h 1489295"/>
                <a:gd name="connsiteX1" fmla="*/ 0 w 2974904"/>
                <a:gd name="connsiteY1" fmla="*/ 0 h 1489295"/>
                <a:gd name="connsiteX2" fmla="*/ 0 w 2974904"/>
                <a:gd name="connsiteY2" fmla="*/ 1489295 h 1489295"/>
                <a:gd name="connsiteX3" fmla="*/ 1861636 w 2974904"/>
                <a:gd name="connsiteY3" fmla="*/ 1489295 h 1489295"/>
                <a:gd name="connsiteX4" fmla="*/ 2974904 w 2974904"/>
                <a:gd name="connsiteY4" fmla="*/ 566122 h 1489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4904" h="1489295">
                  <a:moveTo>
                    <a:pt x="2185871" y="0"/>
                  </a:moveTo>
                  <a:lnTo>
                    <a:pt x="0" y="0"/>
                  </a:lnTo>
                  <a:lnTo>
                    <a:pt x="0" y="1489295"/>
                  </a:lnTo>
                  <a:lnTo>
                    <a:pt x="1861636" y="1489295"/>
                  </a:lnTo>
                  <a:lnTo>
                    <a:pt x="2974904" y="566122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任意形状 28"/>
            <p:cNvSpPr/>
            <p:nvPr userDrawn="1"/>
          </p:nvSpPr>
          <p:spPr>
            <a:xfrm rot="10800000">
              <a:off x="7930424" y="6274034"/>
              <a:ext cx="4261576" cy="583963"/>
            </a:xfrm>
            <a:custGeom>
              <a:avLst/>
              <a:gdLst>
                <a:gd name="connsiteX0" fmla="*/ 3454023 w 4267922"/>
                <a:gd name="connsiteY0" fmla="*/ 583963 h 583963"/>
                <a:gd name="connsiteX1" fmla="*/ 0 w 4267922"/>
                <a:gd name="connsiteY1" fmla="*/ 583963 h 583963"/>
                <a:gd name="connsiteX2" fmla="*/ 0 w 4267922"/>
                <a:gd name="connsiteY2" fmla="*/ 0 h 583963"/>
                <a:gd name="connsiteX3" fmla="*/ 4267922 w 4267922"/>
                <a:gd name="connsiteY3" fmla="*/ 0 h 583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7922" h="583963">
                  <a:moveTo>
                    <a:pt x="3454023" y="583963"/>
                  </a:moveTo>
                  <a:lnTo>
                    <a:pt x="0" y="583963"/>
                  </a:lnTo>
                  <a:lnTo>
                    <a:pt x="0" y="0"/>
                  </a:lnTo>
                  <a:lnTo>
                    <a:pt x="4267922" y="0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30" name="组合 29"/>
          <p:cNvGrpSpPr/>
          <p:nvPr userDrawn="1"/>
        </p:nvGrpSpPr>
        <p:grpSpPr>
          <a:xfrm>
            <a:off x="0" y="-4246"/>
            <a:ext cx="5884829" cy="2077490"/>
            <a:chOff x="0" y="-4246"/>
            <a:chExt cx="5884829" cy="2077490"/>
          </a:xfrm>
        </p:grpSpPr>
        <p:sp>
          <p:nvSpPr>
            <p:cNvPr id="12" name="任意形状 11"/>
            <p:cNvSpPr/>
            <p:nvPr userDrawn="1"/>
          </p:nvSpPr>
          <p:spPr>
            <a:xfrm>
              <a:off x="0" y="0"/>
              <a:ext cx="5884829" cy="2073244"/>
            </a:xfrm>
            <a:custGeom>
              <a:avLst/>
              <a:gdLst>
                <a:gd name="connsiteX0" fmla="*/ 0 w 5884829"/>
                <a:gd name="connsiteY0" fmla="*/ 0 h 2073244"/>
                <a:gd name="connsiteX1" fmla="*/ 5884829 w 5884829"/>
                <a:gd name="connsiteY1" fmla="*/ 0 h 2073244"/>
                <a:gd name="connsiteX2" fmla="*/ 2995245 w 5884829"/>
                <a:gd name="connsiteY2" fmla="*/ 2073244 h 2073244"/>
                <a:gd name="connsiteX3" fmla="*/ 0 w 5884829"/>
                <a:gd name="connsiteY3" fmla="*/ 2073244 h 2073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84829" h="2073244">
                  <a:moveTo>
                    <a:pt x="0" y="0"/>
                  </a:moveTo>
                  <a:lnTo>
                    <a:pt x="5884829" y="0"/>
                  </a:lnTo>
                  <a:lnTo>
                    <a:pt x="2995245" y="2073244"/>
                  </a:lnTo>
                  <a:lnTo>
                    <a:pt x="0" y="2073244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任意形状 20"/>
            <p:cNvSpPr/>
            <p:nvPr userDrawn="1"/>
          </p:nvSpPr>
          <p:spPr>
            <a:xfrm>
              <a:off x="0" y="0"/>
              <a:ext cx="3457905" cy="1475715"/>
            </a:xfrm>
            <a:custGeom>
              <a:avLst/>
              <a:gdLst>
                <a:gd name="connsiteX0" fmla="*/ 0 w 3457905"/>
                <a:gd name="connsiteY0" fmla="*/ 0 h 1475715"/>
                <a:gd name="connsiteX1" fmla="*/ 3457905 w 3457905"/>
                <a:gd name="connsiteY1" fmla="*/ 0 h 1475715"/>
                <a:gd name="connsiteX2" fmla="*/ 1401127 w 3457905"/>
                <a:gd name="connsiteY2" fmla="*/ 1475715 h 1475715"/>
                <a:gd name="connsiteX3" fmla="*/ 0 w 3457905"/>
                <a:gd name="connsiteY3" fmla="*/ 1475715 h 147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905" h="1475715">
                  <a:moveTo>
                    <a:pt x="0" y="0"/>
                  </a:moveTo>
                  <a:lnTo>
                    <a:pt x="3457905" y="0"/>
                  </a:lnTo>
                  <a:lnTo>
                    <a:pt x="1401127" y="1475715"/>
                  </a:lnTo>
                  <a:lnTo>
                    <a:pt x="0" y="1475715"/>
                  </a:lnTo>
                  <a:close/>
                </a:path>
              </a:pathLst>
            </a:custGeom>
            <a:solidFill>
              <a:schemeClr val="accent1">
                <a:alpha val="49565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8" name="任意形状 17"/>
            <p:cNvSpPr/>
            <p:nvPr userDrawn="1"/>
          </p:nvSpPr>
          <p:spPr>
            <a:xfrm>
              <a:off x="0" y="-4246"/>
              <a:ext cx="4613437" cy="982019"/>
            </a:xfrm>
            <a:custGeom>
              <a:avLst/>
              <a:gdLst>
                <a:gd name="connsiteX0" fmla="*/ 0 w 4613437"/>
                <a:gd name="connsiteY0" fmla="*/ 0 h 982019"/>
                <a:gd name="connsiteX1" fmla="*/ 4613437 w 4613437"/>
                <a:gd name="connsiteY1" fmla="*/ 0 h 982019"/>
                <a:gd name="connsiteX2" fmla="*/ 3244748 w 4613437"/>
                <a:gd name="connsiteY2" fmla="*/ 982019 h 982019"/>
                <a:gd name="connsiteX3" fmla="*/ 0 w 4613437"/>
                <a:gd name="connsiteY3" fmla="*/ 982019 h 982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13437" h="982019">
                  <a:moveTo>
                    <a:pt x="0" y="0"/>
                  </a:moveTo>
                  <a:lnTo>
                    <a:pt x="4613437" y="0"/>
                  </a:lnTo>
                  <a:lnTo>
                    <a:pt x="3244748" y="982019"/>
                  </a:lnTo>
                  <a:lnTo>
                    <a:pt x="0" y="982019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400" y="2266593"/>
            <a:ext cx="10858500" cy="1371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altLang="zh-CN" dirty="0"/>
              <a:t>Click to add title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0400" y="3638193"/>
            <a:ext cx="10858500" cy="1568338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4260850" y="5448368"/>
            <a:ext cx="3657600" cy="27432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4260850" y="5807230"/>
            <a:ext cx="3657600" cy="27432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www.officeplus.cn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774507"/>
            <a:ext cx="2836562" cy="915667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altLang="zh-CN" dirty="0"/>
              <a:t>Agenda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745078" y="1774506"/>
            <a:ext cx="7773821" cy="4359593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1" y="0"/>
            <a:ext cx="4245922" cy="1498915"/>
            <a:chOff x="0" y="-4246"/>
            <a:chExt cx="5884829" cy="2077490"/>
          </a:xfrm>
        </p:grpSpPr>
        <p:sp>
          <p:nvSpPr>
            <p:cNvPr id="12" name="任意形状 11"/>
            <p:cNvSpPr/>
            <p:nvPr userDrawn="1"/>
          </p:nvSpPr>
          <p:spPr>
            <a:xfrm>
              <a:off x="0" y="0"/>
              <a:ext cx="5884829" cy="2073244"/>
            </a:xfrm>
            <a:custGeom>
              <a:avLst/>
              <a:gdLst>
                <a:gd name="connsiteX0" fmla="*/ 0 w 5884829"/>
                <a:gd name="connsiteY0" fmla="*/ 0 h 2073244"/>
                <a:gd name="connsiteX1" fmla="*/ 5884829 w 5884829"/>
                <a:gd name="connsiteY1" fmla="*/ 0 h 2073244"/>
                <a:gd name="connsiteX2" fmla="*/ 2995245 w 5884829"/>
                <a:gd name="connsiteY2" fmla="*/ 2073244 h 2073244"/>
                <a:gd name="connsiteX3" fmla="*/ 0 w 5884829"/>
                <a:gd name="connsiteY3" fmla="*/ 2073244 h 2073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84829" h="2073244">
                  <a:moveTo>
                    <a:pt x="0" y="0"/>
                  </a:moveTo>
                  <a:lnTo>
                    <a:pt x="5884829" y="0"/>
                  </a:lnTo>
                  <a:lnTo>
                    <a:pt x="2995245" y="2073244"/>
                  </a:lnTo>
                  <a:lnTo>
                    <a:pt x="0" y="2073244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任意形状 12"/>
            <p:cNvSpPr/>
            <p:nvPr userDrawn="1"/>
          </p:nvSpPr>
          <p:spPr>
            <a:xfrm>
              <a:off x="0" y="0"/>
              <a:ext cx="3457905" cy="1475715"/>
            </a:xfrm>
            <a:custGeom>
              <a:avLst/>
              <a:gdLst>
                <a:gd name="connsiteX0" fmla="*/ 0 w 3457905"/>
                <a:gd name="connsiteY0" fmla="*/ 0 h 1475715"/>
                <a:gd name="connsiteX1" fmla="*/ 3457905 w 3457905"/>
                <a:gd name="connsiteY1" fmla="*/ 0 h 1475715"/>
                <a:gd name="connsiteX2" fmla="*/ 1401127 w 3457905"/>
                <a:gd name="connsiteY2" fmla="*/ 1475715 h 1475715"/>
                <a:gd name="connsiteX3" fmla="*/ 0 w 3457905"/>
                <a:gd name="connsiteY3" fmla="*/ 1475715 h 147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905" h="1475715">
                  <a:moveTo>
                    <a:pt x="0" y="0"/>
                  </a:moveTo>
                  <a:lnTo>
                    <a:pt x="3457905" y="0"/>
                  </a:lnTo>
                  <a:lnTo>
                    <a:pt x="1401127" y="1475715"/>
                  </a:lnTo>
                  <a:lnTo>
                    <a:pt x="0" y="1475715"/>
                  </a:lnTo>
                  <a:close/>
                </a:path>
              </a:pathLst>
            </a:custGeom>
            <a:solidFill>
              <a:schemeClr val="accent1">
                <a:alpha val="49565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4" name="任意形状 13"/>
            <p:cNvSpPr/>
            <p:nvPr userDrawn="1"/>
          </p:nvSpPr>
          <p:spPr>
            <a:xfrm>
              <a:off x="0" y="-4246"/>
              <a:ext cx="4613437" cy="982019"/>
            </a:xfrm>
            <a:custGeom>
              <a:avLst/>
              <a:gdLst>
                <a:gd name="connsiteX0" fmla="*/ 0 w 4613437"/>
                <a:gd name="connsiteY0" fmla="*/ 0 h 982019"/>
                <a:gd name="connsiteX1" fmla="*/ 4613437 w 4613437"/>
                <a:gd name="connsiteY1" fmla="*/ 0 h 982019"/>
                <a:gd name="connsiteX2" fmla="*/ 3244748 w 4613437"/>
                <a:gd name="connsiteY2" fmla="*/ 982019 h 982019"/>
                <a:gd name="connsiteX3" fmla="*/ 0 w 4613437"/>
                <a:gd name="connsiteY3" fmla="*/ 982019 h 982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13437" h="982019">
                  <a:moveTo>
                    <a:pt x="0" y="0"/>
                  </a:moveTo>
                  <a:lnTo>
                    <a:pt x="4613437" y="0"/>
                  </a:lnTo>
                  <a:lnTo>
                    <a:pt x="3244748" y="982019"/>
                  </a:lnTo>
                  <a:lnTo>
                    <a:pt x="0" y="982019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 rot="10800000">
            <a:off x="9642283" y="5959633"/>
            <a:ext cx="2549717" cy="900113"/>
            <a:chOff x="0" y="-4246"/>
            <a:chExt cx="5884829" cy="2077490"/>
          </a:xfrm>
        </p:grpSpPr>
        <p:sp>
          <p:nvSpPr>
            <p:cNvPr id="16" name="任意形状 15"/>
            <p:cNvSpPr/>
            <p:nvPr userDrawn="1"/>
          </p:nvSpPr>
          <p:spPr>
            <a:xfrm>
              <a:off x="0" y="0"/>
              <a:ext cx="5884829" cy="2073244"/>
            </a:xfrm>
            <a:custGeom>
              <a:avLst/>
              <a:gdLst>
                <a:gd name="connsiteX0" fmla="*/ 0 w 5884829"/>
                <a:gd name="connsiteY0" fmla="*/ 0 h 2073244"/>
                <a:gd name="connsiteX1" fmla="*/ 5884829 w 5884829"/>
                <a:gd name="connsiteY1" fmla="*/ 0 h 2073244"/>
                <a:gd name="connsiteX2" fmla="*/ 2995245 w 5884829"/>
                <a:gd name="connsiteY2" fmla="*/ 2073244 h 2073244"/>
                <a:gd name="connsiteX3" fmla="*/ 0 w 5884829"/>
                <a:gd name="connsiteY3" fmla="*/ 2073244 h 2073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84829" h="2073244">
                  <a:moveTo>
                    <a:pt x="0" y="0"/>
                  </a:moveTo>
                  <a:lnTo>
                    <a:pt x="5884829" y="0"/>
                  </a:lnTo>
                  <a:lnTo>
                    <a:pt x="2995245" y="2073244"/>
                  </a:lnTo>
                  <a:lnTo>
                    <a:pt x="0" y="2073244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任意形状 16"/>
            <p:cNvSpPr/>
            <p:nvPr userDrawn="1"/>
          </p:nvSpPr>
          <p:spPr>
            <a:xfrm>
              <a:off x="0" y="0"/>
              <a:ext cx="3457905" cy="1475715"/>
            </a:xfrm>
            <a:custGeom>
              <a:avLst/>
              <a:gdLst>
                <a:gd name="connsiteX0" fmla="*/ 0 w 3457905"/>
                <a:gd name="connsiteY0" fmla="*/ 0 h 1475715"/>
                <a:gd name="connsiteX1" fmla="*/ 3457905 w 3457905"/>
                <a:gd name="connsiteY1" fmla="*/ 0 h 1475715"/>
                <a:gd name="connsiteX2" fmla="*/ 1401127 w 3457905"/>
                <a:gd name="connsiteY2" fmla="*/ 1475715 h 1475715"/>
                <a:gd name="connsiteX3" fmla="*/ 0 w 3457905"/>
                <a:gd name="connsiteY3" fmla="*/ 1475715 h 147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905" h="1475715">
                  <a:moveTo>
                    <a:pt x="0" y="0"/>
                  </a:moveTo>
                  <a:lnTo>
                    <a:pt x="3457905" y="0"/>
                  </a:lnTo>
                  <a:lnTo>
                    <a:pt x="1401127" y="1475715"/>
                  </a:lnTo>
                  <a:lnTo>
                    <a:pt x="0" y="1475715"/>
                  </a:lnTo>
                  <a:close/>
                </a:path>
              </a:pathLst>
            </a:custGeom>
            <a:solidFill>
              <a:schemeClr val="accent1">
                <a:alpha val="49565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8" name="任意形状 17"/>
            <p:cNvSpPr/>
            <p:nvPr userDrawn="1"/>
          </p:nvSpPr>
          <p:spPr>
            <a:xfrm>
              <a:off x="0" y="-4246"/>
              <a:ext cx="4613437" cy="982019"/>
            </a:xfrm>
            <a:custGeom>
              <a:avLst/>
              <a:gdLst>
                <a:gd name="connsiteX0" fmla="*/ 0 w 4613437"/>
                <a:gd name="connsiteY0" fmla="*/ 0 h 982019"/>
                <a:gd name="connsiteX1" fmla="*/ 4613437 w 4613437"/>
                <a:gd name="connsiteY1" fmla="*/ 0 h 982019"/>
                <a:gd name="connsiteX2" fmla="*/ 3244748 w 4613437"/>
                <a:gd name="connsiteY2" fmla="*/ 982019 h 982019"/>
                <a:gd name="connsiteX3" fmla="*/ 0 w 4613437"/>
                <a:gd name="connsiteY3" fmla="*/ 982019 h 982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13437" h="982019">
                  <a:moveTo>
                    <a:pt x="0" y="0"/>
                  </a:moveTo>
                  <a:lnTo>
                    <a:pt x="4613437" y="0"/>
                  </a:lnTo>
                  <a:lnTo>
                    <a:pt x="3244748" y="982019"/>
                  </a:lnTo>
                  <a:lnTo>
                    <a:pt x="0" y="982019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7930423" y="3800366"/>
            <a:ext cx="4261577" cy="3057634"/>
            <a:chOff x="7930423" y="3800366"/>
            <a:chExt cx="4261577" cy="3057634"/>
          </a:xfrm>
        </p:grpSpPr>
        <p:sp>
          <p:nvSpPr>
            <p:cNvPr id="8" name="任意形状 7"/>
            <p:cNvSpPr/>
            <p:nvPr userDrawn="1"/>
          </p:nvSpPr>
          <p:spPr>
            <a:xfrm>
              <a:off x="7930423" y="3800366"/>
              <a:ext cx="4261577" cy="3057634"/>
            </a:xfrm>
            <a:custGeom>
              <a:avLst/>
              <a:gdLst>
                <a:gd name="connsiteX0" fmla="*/ 4261577 w 4261577"/>
                <a:gd name="connsiteY0" fmla="*/ 0 h 3057634"/>
                <a:gd name="connsiteX1" fmla="*/ 4261577 w 4261577"/>
                <a:gd name="connsiteY1" fmla="*/ 3057634 h 3057634"/>
                <a:gd name="connsiteX2" fmla="*/ 0 w 4261577"/>
                <a:gd name="connsiteY2" fmla="*/ 3057634 h 3057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61577" h="3057634">
                  <a:moveTo>
                    <a:pt x="4261577" y="0"/>
                  </a:moveTo>
                  <a:lnTo>
                    <a:pt x="4261577" y="3057634"/>
                  </a:lnTo>
                  <a:lnTo>
                    <a:pt x="0" y="3057634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9" name="任意形状 8"/>
            <p:cNvSpPr/>
            <p:nvPr userDrawn="1"/>
          </p:nvSpPr>
          <p:spPr>
            <a:xfrm rot="10800000" flipV="1">
              <a:off x="9217096" y="5368704"/>
              <a:ext cx="2974904" cy="1489295"/>
            </a:xfrm>
            <a:custGeom>
              <a:avLst/>
              <a:gdLst>
                <a:gd name="connsiteX0" fmla="*/ 2185871 w 2974904"/>
                <a:gd name="connsiteY0" fmla="*/ 0 h 1489295"/>
                <a:gd name="connsiteX1" fmla="*/ 0 w 2974904"/>
                <a:gd name="connsiteY1" fmla="*/ 0 h 1489295"/>
                <a:gd name="connsiteX2" fmla="*/ 0 w 2974904"/>
                <a:gd name="connsiteY2" fmla="*/ 1489295 h 1489295"/>
                <a:gd name="connsiteX3" fmla="*/ 1861636 w 2974904"/>
                <a:gd name="connsiteY3" fmla="*/ 1489295 h 1489295"/>
                <a:gd name="connsiteX4" fmla="*/ 2974904 w 2974904"/>
                <a:gd name="connsiteY4" fmla="*/ 566122 h 1489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4904" h="1489295">
                  <a:moveTo>
                    <a:pt x="2185871" y="0"/>
                  </a:moveTo>
                  <a:lnTo>
                    <a:pt x="0" y="0"/>
                  </a:lnTo>
                  <a:lnTo>
                    <a:pt x="0" y="1489295"/>
                  </a:lnTo>
                  <a:lnTo>
                    <a:pt x="1861636" y="1489295"/>
                  </a:lnTo>
                  <a:lnTo>
                    <a:pt x="2974904" y="566122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任意形状 9"/>
            <p:cNvSpPr/>
            <p:nvPr userDrawn="1"/>
          </p:nvSpPr>
          <p:spPr>
            <a:xfrm rot="10800000">
              <a:off x="7930424" y="6274034"/>
              <a:ext cx="4261576" cy="583963"/>
            </a:xfrm>
            <a:custGeom>
              <a:avLst/>
              <a:gdLst>
                <a:gd name="connsiteX0" fmla="*/ 3454023 w 4267922"/>
                <a:gd name="connsiteY0" fmla="*/ 583963 h 583963"/>
                <a:gd name="connsiteX1" fmla="*/ 0 w 4267922"/>
                <a:gd name="connsiteY1" fmla="*/ 583963 h 583963"/>
                <a:gd name="connsiteX2" fmla="*/ 0 w 4267922"/>
                <a:gd name="connsiteY2" fmla="*/ 0 h 583963"/>
                <a:gd name="connsiteX3" fmla="*/ 4267922 w 4267922"/>
                <a:gd name="connsiteY3" fmla="*/ 0 h 583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7922" h="583963">
                  <a:moveTo>
                    <a:pt x="3454023" y="583963"/>
                  </a:moveTo>
                  <a:lnTo>
                    <a:pt x="0" y="583963"/>
                  </a:lnTo>
                  <a:lnTo>
                    <a:pt x="0" y="0"/>
                  </a:lnTo>
                  <a:lnTo>
                    <a:pt x="4267922" y="0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2220385"/>
            <a:ext cx="10858500" cy="1371600"/>
          </a:xfrm>
        </p:spPr>
        <p:txBody>
          <a:bodyPr anchor="b">
            <a:normAutofit/>
          </a:bodyPr>
          <a:lstStyle>
            <a:lvl1pPr algn="ctr">
              <a:defRPr sz="5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0400" y="3660550"/>
            <a:ext cx="10858500" cy="249202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0" y="-4246"/>
            <a:ext cx="5884829" cy="2077490"/>
            <a:chOff x="0" y="-4246"/>
            <a:chExt cx="5884829" cy="2077490"/>
          </a:xfrm>
        </p:grpSpPr>
        <p:sp>
          <p:nvSpPr>
            <p:cNvPr id="16" name="任意形状 15"/>
            <p:cNvSpPr/>
            <p:nvPr userDrawn="1"/>
          </p:nvSpPr>
          <p:spPr>
            <a:xfrm>
              <a:off x="0" y="0"/>
              <a:ext cx="5884829" cy="2073244"/>
            </a:xfrm>
            <a:custGeom>
              <a:avLst/>
              <a:gdLst>
                <a:gd name="connsiteX0" fmla="*/ 0 w 5884829"/>
                <a:gd name="connsiteY0" fmla="*/ 0 h 2073244"/>
                <a:gd name="connsiteX1" fmla="*/ 5884829 w 5884829"/>
                <a:gd name="connsiteY1" fmla="*/ 0 h 2073244"/>
                <a:gd name="connsiteX2" fmla="*/ 2995245 w 5884829"/>
                <a:gd name="connsiteY2" fmla="*/ 2073244 h 2073244"/>
                <a:gd name="connsiteX3" fmla="*/ 0 w 5884829"/>
                <a:gd name="connsiteY3" fmla="*/ 2073244 h 2073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84829" h="2073244">
                  <a:moveTo>
                    <a:pt x="0" y="0"/>
                  </a:moveTo>
                  <a:lnTo>
                    <a:pt x="5884829" y="0"/>
                  </a:lnTo>
                  <a:lnTo>
                    <a:pt x="2995245" y="2073244"/>
                  </a:lnTo>
                  <a:lnTo>
                    <a:pt x="0" y="2073244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任意形状 16"/>
            <p:cNvSpPr/>
            <p:nvPr userDrawn="1"/>
          </p:nvSpPr>
          <p:spPr>
            <a:xfrm>
              <a:off x="0" y="0"/>
              <a:ext cx="3457905" cy="1475715"/>
            </a:xfrm>
            <a:custGeom>
              <a:avLst/>
              <a:gdLst>
                <a:gd name="connsiteX0" fmla="*/ 0 w 3457905"/>
                <a:gd name="connsiteY0" fmla="*/ 0 h 1475715"/>
                <a:gd name="connsiteX1" fmla="*/ 3457905 w 3457905"/>
                <a:gd name="connsiteY1" fmla="*/ 0 h 1475715"/>
                <a:gd name="connsiteX2" fmla="*/ 1401127 w 3457905"/>
                <a:gd name="connsiteY2" fmla="*/ 1475715 h 1475715"/>
                <a:gd name="connsiteX3" fmla="*/ 0 w 3457905"/>
                <a:gd name="connsiteY3" fmla="*/ 1475715 h 147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905" h="1475715">
                  <a:moveTo>
                    <a:pt x="0" y="0"/>
                  </a:moveTo>
                  <a:lnTo>
                    <a:pt x="3457905" y="0"/>
                  </a:lnTo>
                  <a:lnTo>
                    <a:pt x="1401127" y="1475715"/>
                  </a:lnTo>
                  <a:lnTo>
                    <a:pt x="0" y="1475715"/>
                  </a:lnTo>
                  <a:close/>
                </a:path>
              </a:pathLst>
            </a:custGeom>
            <a:solidFill>
              <a:schemeClr val="accent1">
                <a:alpha val="49565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8" name="任意形状 17"/>
            <p:cNvSpPr/>
            <p:nvPr userDrawn="1"/>
          </p:nvSpPr>
          <p:spPr>
            <a:xfrm>
              <a:off x="0" y="-4246"/>
              <a:ext cx="4613437" cy="982019"/>
            </a:xfrm>
            <a:custGeom>
              <a:avLst/>
              <a:gdLst>
                <a:gd name="connsiteX0" fmla="*/ 0 w 4613437"/>
                <a:gd name="connsiteY0" fmla="*/ 0 h 982019"/>
                <a:gd name="connsiteX1" fmla="*/ 4613437 w 4613437"/>
                <a:gd name="connsiteY1" fmla="*/ 0 h 982019"/>
                <a:gd name="connsiteX2" fmla="*/ 3244748 w 4613437"/>
                <a:gd name="connsiteY2" fmla="*/ 982019 h 982019"/>
                <a:gd name="connsiteX3" fmla="*/ 0 w 4613437"/>
                <a:gd name="connsiteY3" fmla="*/ 982019 h 982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13437" h="982019">
                  <a:moveTo>
                    <a:pt x="0" y="0"/>
                  </a:moveTo>
                  <a:lnTo>
                    <a:pt x="4613437" y="0"/>
                  </a:lnTo>
                  <a:lnTo>
                    <a:pt x="3244748" y="982019"/>
                  </a:lnTo>
                  <a:lnTo>
                    <a:pt x="0" y="982019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7930423" y="3800366"/>
            <a:ext cx="4261577" cy="3057634"/>
            <a:chOff x="7930423" y="3800366"/>
            <a:chExt cx="4261577" cy="3057634"/>
          </a:xfrm>
        </p:grpSpPr>
        <p:sp>
          <p:nvSpPr>
            <p:cNvPr id="5" name="任意形状 4"/>
            <p:cNvSpPr/>
            <p:nvPr userDrawn="1"/>
          </p:nvSpPr>
          <p:spPr>
            <a:xfrm>
              <a:off x="7930423" y="3800366"/>
              <a:ext cx="4261577" cy="3057634"/>
            </a:xfrm>
            <a:custGeom>
              <a:avLst/>
              <a:gdLst>
                <a:gd name="connsiteX0" fmla="*/ 4261577 w 4261577"/>
                <a:gd name="connsiteY0" fmla="*/ 0 h 3057634"/>
                <a:gd name="connsiteX1" fmla="*/ 4261577 w 4261577"/>
                <a:gd name="connsiteY1" fmla="*/ 3057634 h 3057634"/>
                <a:gd name="connsiteX2" fmla="*/ 0 w 4261577"/>
                <a:gd name="connsiteY2" fmla="*/ 3057634 h 3057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61577" h="3057634">
                  <a:moveTo>
                    <a:pt x="4261577" y="0"/>
                  </a:moveTo>
                  <a:lnTo>
                    <a:pt x="4261577" y="3057634"/>
                  </a:lnTo>
                  <a:lnTo>
                    <a:pt x="0" y="3057634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7" name="任意形状 6"/>
            <p:cNvSpPr/>
            <p:nvPr userDrawn="1"/>
          </p:nvSpPr>
          <p:spPr>
            <a:xfrm rot="10800000" flipV="1">
              <a:off x="9217096" y="5368704"/>
              <a:ext cx="2974904" cy="1489295"/>
            </a:xfrm>
            <a:custGeom>
              <a:avLst/>
              <a:gdLst>
                <a:gd name="connsiteX0" fmla="*/ 2185871 w 2974904"/>
                <a:gd name="connsiteY0" fmla="*/ 0 h 1489295"/>
                <a:gd name="connsiteX1" fmla="*/ 0 w 2974904"/>
                <a:gd name="connsiteY1" fmla="*/ 0 h 1489295"/>
                <a:gd name="connsiteX2" fmla="*/ 0 w 2974904"/>
                <a:gd name="connsiteY2" fmla="*/ 1489295 h 1489295"/>
                <a:gd name="connsiteX3" fmla="*/ 1861636 w 2974904"/>
                <a:gd name="connsiteY3" fmla="*/ 1489295 h 1489295"/>
                <a:gd name="connsiteX4" fmla="*/ 2974904 w 2974904"/>
                <a:gd name="connsiteY4" fmla="*/ 566122 h 1489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74904" h="1489295">
                  <a:moveTo>
                    <a:pt x="2185871" y="0"/>
                  </a:moveTo>
                  <a:lnTo>
                    <a:pt x="0" y="0"/>
                  </a:lnTo>
                  <a:lnTo>
                    <a:pt x="0" y="1489295"/>
                  </a:lnTo>
                  <a:lnTo>
                    <a:pt x="1861636" y="1489295"/>
                  </a:lnTo>
                  <a:lnTo>
                    <a:pt x="2974904" y="566122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8" name="任意形状 7"/>
            <p:cNvSpPr/>
            <p:nvPr userDrawn="1"/>
          </p:nvSpPr>
          <p:spPr>
            <a:xfrm rot="10800000">
              <a:off x="7930424" y="6274034"/>
              <a:ext cx="4261576" cy="583963"/>
            </a:xfrm>
            <a:custGeom>
              <a:avLst/>
              <a:gdLst>
                <a:gd name="connsiteX0" fmla="*/ 3454023 w 4267922"/>
                <a:gd name="connsiteY0" fmla="*/ 583963 h 583963"/>
                <a:gd name="connsiteX1" fmla="*/ 0 w 4267922"/>
                <a:gd name="connsiteY1" fmla="*/ 583963 h 583963"/>
                <a:gd name="connsiteX2" fmla="*/ 0 w 4267922"/>
                <a:gd name="connsiteY2" fmla="*/ 0 h 583963"/>
                <a:gd name="connsiteX3" fmla="*/ 4267922 w 4267922"/>
                <a:gd name="connsiteY3" fmla="*/ 0 h 583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67922" h="583963">
                  <a:moveTo>
                    <a:pt x="3454023" y="583963"/>
                  </a:moveTo>
                  <a:lnTo>
                    <a:pt x="0" y="583963"/>
                  </a:lnTo>
                  <a:lnTo>
                    <a:pt x="0" y="0"/>
                  </a:lnTo>
                  <a:lnTo>
                    <a:pt x="4267922" y="0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2631089"/>
            <a:ext cx="10858500" cy="1371600"/>
          </a:xfrm>
        </p:spPr>
        <p:txBody>
          <a:bodyPr anchor="ctr">
            <a:no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altLang="zh-CN" dirty="0"/>
              <a:t>Click to add title</a:t>
            </a:r>
            <a:endParaRPr 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4260850" y="5448368"/>
            <a:ext cx="3657600" cy="274320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Presenter name</a:t>
            </a:r>
          </a:p>
        </p:txBody>
      </p:sp>
      <p:sp>
        <p:nvSpPr>
          <p:cNvPr id="6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4260850" y="5807230"/>
            <a:ext cx="3657600" cy="27432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www.officeplus.cn</a:t>
            </a: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0" y="-4246"/>
            <a:ext cx="5884829" cy="2077490"/>
            <a:chOff x="0" y="-4246"/>
            <a:chExt cx="5884829" cy="2077490"/>
          </a:xfrm>
        </p:grpSpPr>
        <p:sp>
          <p:nvSpPr>
            <p:cNvPr id="14" name="任意形状 13"/>
            <p:cNvSpPr/>
            <p:nvPr userDrawn="1"/>
          </p:nvSpPr>
          <p:spPr>
            <a:xfrm>
              <a:off x="0" y="0"/>
              <a:ext cx="5884829" cy="2073244"/>
            </a:xfrm>
            <a:custGeom>
              <a:avLst/>
              <a:gdLst>
                <a:gd name="connsiteX0" fmla="*/ 0 w 5884829"/>
                <a:gd name="connsiteY0" fmla="*/ 0 h 2073244"/>
                <a:gd name="connsiteX1" fmla="*/ 5884829 w 5884829"/>
                <a:gd name="connsiteY1" fmla="*/ 0 h 2073244"/>
                <a:gd name="connsiteX2" fmla="*/ 2995245 w 5884829"/>
                <a:gd name="connsiteY2" fmla="*/ 2073244 h 2073244"/>
                <a:gd name="connsiteX3" fmla="*/ 0 w 5884829"/>
                <a:gd name="connsiteY3" fmla="*/ 2073244 h 2073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84829" h="2073244">
                  <a:moveTo>
                    <a:pt x="0" y="0"/>
                  </a:moveTo>
                  <a:lnTo>
                    <a:pt x="5884829" y="0"/>
                  </a:lnTo>
                  <a:lnTo>
                    <a:pt x="2995245" y="2073244"/>
                  </a:lnTo>
                  <a:lnTo>
                    <a:pt x="0" y="2073244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任意形状 14"/>
            <p:cNvSpPr/>
            <p:nvPr userDrawn="1"/>
          </p:nvSpPr>
          <p:spPr>
            <a:xfrm>
              <a:off x="0" y="0"/>
              <a:ext cx="3457905" cy="1475715"/>
            </a:xfrm>
            <a:custGeom>
              <a:avLst/>
              <a:gdLst>
                <a:gd name="connsiteX0" fmla="*/ 0 w 3457905"/>
                <a:gd name="connsiteY0" fmla="*/ 0 h 1475715"/>
                <a:gd name="connsiteX1" fmla="*/ 3457905 w 3457905"/>
                <a:gd name="connsiteY1" fmla="*/ 0 h 1475715"/>
                <a:gd name="connsiteX2" fmla="*/ 1401127 w 3457905"/>
                <a:gd name="connsiteY2" fmla="*/ 1475715 h 1475715"/>
                <a:gd name="connsiteX3" fmla="*/ 0 w 3457905"/>
                <a:gd name="connsiteY3" fmla="*/ 1475715 h 147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905" h="1475715">
                  <a:moveTo>
                    <a:pt x="0" y="0"/>
                  </a:moveTo>
                  <a:lnTo>
                    <a:pt x="3457905" y="0"/>
                  </a:lnTo>
                  <a:lnTo>
                    <a:pt x="1401127" y="1475715"/>
                  </a:lnTo>
                  <a:lnTo>
                    <a:pt x="0" y="1475715"/>
                  </a:lnTo>
                  <a:close/>
                </a:path>
              </a:pathLst>
            </a:custGeom>
            <a:solidFill>
              <a:schemeClr val="accent1">
                <a:alpha val="49565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6" name="任意形状 15"/>
            <p:cNvSpPr/>
            <p:nvPr userDrawn="1"/>
          </p:nvSpPr>
          <p:spPr>
            <a:xfrm>
              <a:off x="0" y="-4246"/>
              <a:ext cx="4613437" cy="982019"/>
            </a:xfrm>
            <a:custGeom>
              <a:avLst/>
              <a:gdLst>
                <a:gd name="connsiteX0" fmla="*/ 0 w 4613437"/>
                <a:gd name="connsiteY0" fmla="*/ 0 h 982019"/>
                <a:gd name="connsiteX1" fmla="*/ 4613437 w 4613437"/>
                <a:gd name="connsiteY1" fmla="*/ 0 h 982019"/>
                <a:gd name="connsiteX2" fmla="*/ 3244748 w 4613437"/>
                <a:gd name="connsiteY2" fmla="*/ 982019 h 982019"/>
                <a:gd name="connsiteX3" fmla="*/ 0 w 4613437"/>
                <a:gd name="connsiteY3" fmla="*/ 982019 h 982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13437" h="982019">
                  <a:moveTo>
                    <a:pt x="0" y="0"/>
                  </a:moveTo>
                  <a:lnTo>
                    <a:pt x="4613437" y="0"/>
                  </a:lnTo>
                  <a:lnTo>
                    <a:pt x="3244748" y="982019"/>
                  </a:lnTo>
                  <a:lnTo>
                    <a:pt x="0" y="982019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1" y="0"/>
            <a:ext cx="1998862" cy="641222"/>
            <a:chOff x="0" y="-4246"/>
            <a:chExt cx="4613437" cy="1479961"/>
          </a:xfrm>
        </p:grpSpPr>
        <p:sp>
          <p:nvSpPr>
            <p:cNvPr id="13" name="任意形状 12"/>
            <p:cNvSpPr/>
            <p:nvPr userDrawn="1"/>
          </p:nvSpPr>
          <p:spPr>
            <a:xfrm>
              <a:off x="0" y="0"/>
              <a:ext cx="3457905" cy="1475715"/>
            </a:xfrm>
            <a:custGeom>
              <a:avLst/>
              <a:gdLst>
                <a:gd name="connsiteX0" fmla="*/ 0 w 3457905"/>
                <a:gd name="connsiteY0" fmla="*/ 0 h 1475715"/>
                <a:gd name="connsiteX1" fmla="*/ 3457905 w 3457905"/>
                <a:gd name="connsiteY1" fmla="*/ 0 h 1475715"/>
                <a:gd name="connsiteX2" fmla="*/ 1401127 w 3457905"/>
                <a:gd name="connsiteY2" fmla="*/ 1475715 h 1475715"/>
                <a:gd name="connsiteX3" fmla="*/ 0 w 3457905"/>
                <a:gd name="connsiteY3" fmla="*/ 1475715 h 147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905" h="1475715">
                  <a:moveTo>
                    <a:pt x="0" y="0"/>
                  </a:moveTo>
                  <a:lnTo>
                    <a:pt x="3457905" y="0"/>
                  </a:lnTo>
                  <a:lnTo>
                    <a:pt x="1401127" y="1475715"/>
                  </a:lnTo>
                  <a:lnTo>
                    <a:pt x="0" y="1475715"/>
                  </a:lnTo>
                  <a:close/>
                </a:path>
              </a:pathLst>
            </a:custGeom>
            <a:solidFill>
              <a:schemeClr val="accent1">
                <a:alpha val="49565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4" name="任意形状 13"/>
            <p:cNvSpPr/>
            <p:nvPr userDrawn="1"/>
          </p:nvSpPr>
          <p:spPr>
            <a:xfrm>
              <a:off x="0" y="-4246"/>
              <a:ext cx="4613437" cy="982019"/>
            </a:xfrm>
            <a:custGeom>
              <a:avLst/>
              <a:gdLst>
                <a:gd name="connsiteX0" fmla="*/ 0 w 4613437"/>
                <a:gd name="connsiteY0" fmla="*/ 0 h 982019"/>
                <a:gd name="connsiteX1" fmla="*/ 4613437 w 4613437"/>
                <a:gd name="connsiteY1" fmla="*/ 0 h 982019"/>
                <a:gd name="connsiteX2" fmla="*/ 3244748 w 4613437"/>
                <a:gd name="connsiteY2" fmla="*/ 982019 h 982019"/>
                <a:gd name="connsiteX3" fmla="*/ 0 w 4613437"/>
                <a:gd name="connsiteY3" fmla="*/ 982019 h 982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13437" h="982019">
                  <a:moveTo>
                    <a:pt x="0" y="0"/>
                  </a:moveTo>
                  <a:lnTo>
                    <a:pt x="4613437" y="0"/>
                  </a:lnTo>
                  <a:lnTo>
                    <a:pt x="3244748" y="982019"/>
                  </a:lnTo>
                  <a:lnTo>
                    <a:pt x="0" y="982019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</a:t>
            </a:r>
            <a:r>
              <a:rPr lang="en-US" altLang="zh-CN" dirty="0"/>
              <a:t>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组合 14"/>
          <p:cNvGrpSpPr/>
          <p:nvPr userDrawn="1"/>
        </p:nvGrpSpPr>
        <p:grpSpPr>
          <a:xfrm rot="10800000">
            <a:off x="9642283" y="5959633"/>
            <a:ext cx="2549717" cy="900113"/>
            <a:chOff x="0" y="-4246"/>
            <a:chExt cx="5884829" cy="2077490"/>
          </a:xfrm>
        </p:grpSpPr>
        <p:sp>
          <p:nvSpPr>
            <p:cNvPr id="16" name="任意形状 15"/>
            <p:cNvSpPr/>
            <p:nvPr userDrawn="1"/>
          </p:nvSpPr>
          <p:spPr>
            <a:xfrm>
              <a:off x="0" y="0"/>
              <a:ext cx="5884829" cy="2073244"/>
            </a:xfrm>
            <a:custGeom>
              <a:avLst/>
              <a:gdLst>
                <a:gd name="connsiteX0" fmla="*/ 0 w 5884829"/>
                <a:gd name="connsiteY0" fmla="*/ 0 h 2073244"/>
                <a:gd name="connsiteX1" fmla="*/ 5884829 w 5884829"/>
                <a:gd name="connsiteY1" fmla="*/ 0 h 2073244"/>
                <a:gd name="connsiteX2" fmla="*/ 2995245 w 5884829"/>
                <a:gd name="connsiteY2" fmla="*/ 2073244 h 2073244"/>
                <a:gd name="connsiteX3" fmla="*/ 0 w 5884829"/>
                <a:gd name="connsiteY3" fmla="*/ 2073244 h 2073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84829" h="2073244">
                  <a:moveTo>
                    <a:pt x="0" y="0"/>
                  </a:moveTo>
                  <a:lnTo>
                    <a:pt x="5884829" y="0"/>
                  </a:lnTo>
                  <a:lnTo>
                    <a:pt x="2995245" y="2073244"/>
                  </a:lnTo>
                  <a:lnTo>
                    <a:pt x="0" y="2073244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任意形状 16"/>
            <p:cNvSpPr/>
            <p:nvPr userDrawn="1"/>
          </p:nvSpPr>
          <p:spPr>
            <a:xfrm>
              <a:off x="0" y="0"/>
              <a:ext cx="3457905" cy="1475715"/>
            </a:xfrm>
            <a:custGeom>
              <a:avLst/>
              <a:gdLst>
                <a:gd name="connsiteX0" fmla="*/ 0 w 3457905"/>
                <a:gd name="connsiteY0" fmla="*/ 0 h 1475715"/>
                <a:gd name="connsiteX1" fmla="*/ 3457905 w 3457905"/>
                <a:gd name="connsiteY1" fmla="*/ 0 h 1475715"/>
                <a:gd name="connsiteX2" fmla="*/ 1401127 w 3457905"/>
                <a:gd name="connsiteY2" fmla="*/ 1475715 h 1475715"/>
                <a:gd name="connsiteX3" fmla="*/ 0 w 3457905"/>
                <a:gd name="connsiteY3" fmla="*/ 1475715 h 147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7905" h="1475715">
                  <a:moveTo>
                    <a:pt x="0" y="0"/>
                  </a:moveTo>
                  <a:lnTo>
                    <a:pt x="3457905" y="0"/>
                  </a:lnTo>
                  <a:lnTo>
                    <a:pt x="1401127" y="1475715"/>
                  </a:lnTo>
                  <a:lnTo>
                    <a:pt x="0" y="1475715"/>
                  </a:lnTo>
                  <a:close/>
                </a:path>
              </a:pathLst>
            </a:custGeom>
            <a:solidFill>
              <a:schemeClr val="accent1">
                <a:alpha val="49565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8" name="任意形状 17"/>
            <p:cNvSpPr/>
            <p:nvPr userDrawn="1"/>
          </p:nvSpPr>
          <p:spPr>
            <a:xfrm>
              <a:off x="0" y="-4246"/>
              <a:ext cx="4613437" cy="982019"/>
            </a:xfrm>
            <a:custGeom>
              <a:avLst/>
              <a:gdLst>
                <a:gd name="connsiteX0" fmla="*/ 0 w 4613437"/>
                <a:gd name="connsiteY0" fmla="*/ 0 h 982019"/>
                <a:gd name="connsiteX1" fmla="*/ 4613437 w 4613437"/>
                <a:gd name="connsiteY1" fmla="*/ 0 h 982019"/>
                <a:gd name="connsiteX2" fmla="*/ 3244748 w 4613437"/>
                <a:gd name="connsiteY2" fmla="*/ 982019 h 982019"/>
                <a:gd name="connsiteX3" fmla="*/ 0 w 4613437"/>
                <a:gd name="connsiteY3" fmla="*/ 982019 h 982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13437" h="982019">
                  <a:moveTo>
                    <a:pt x="0" y="0"/>
                  </a:moveTo>
                  <a:lnTo>
                    <a:pt x="4613437" y="0"/>
                  </a:lnTo>
                  <a:lnTo>
                    <a:pt x="3244748" y="982019"/>
                  </a:lnTo>
                  <a:lnTo>
                    <a:pt x="0" y="982019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604.16472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3.06416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arxiv.org/abs/2604.16472" TargetMode="External"/><Relationship Id="rId4" Type="http://schemas.openxmlformats.org/officeDocument/2006/relationships/hyperlink" Target="https://arxiv.org/abs/2604.09855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3.06416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arxiv.org/abs/2604.16472" TargetMode="External"/><Relationship Id="rId4" Type="http://schemas.openxmlformats.org/officeDocument/2006/relationships/hyperlink" Target="https://arxiv.org/abs/2604.09855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604.16472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503.06416" TargetMode="Externa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604.09855" TargetMode="External"/><Relationship Id="rId2" Type="http://schemas.openxmlformats.org/officeDocument/2006/relationships/hyperlink" Target="https://arxiv.org/abs/2503.06416" TargetMode="Externa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750" y="1104085"/>
            <a:ext cx="10858500" cy="2713402"/>
          </a:xfrm>
        </p:spPr>
        <p:txBody>
          <a:bodyPr>
            <a:normAutofit/>
          </a:bodyPr>
          <a:lstStyle/>
          <a:p>
            <a:pPr marL="0" indent="-180000"/>
            <a:r>
              <a:rPr lang="en-US" altLang="zh-CN" dirty="0">
                <a:solidFill>
                  <a:srgbClr val="0F172A"/>
                </a:solidFill>
              </a:rPr>
              <a:t>Is LLM Negotiation Solved by Prompting?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8A9C999-3F15-DAAE-717D-F67A1FD7B294}"/>
              </a:ext>
            </a:extLst>
          </p:cNvPr>
          <p:cNvSpPr txBox="1"/>
          <p:nvPr/>
        </p:nvSpPr>
        <p:spPr>
          <a:xfrm>
            <a:off x="1577788" y="4225364"/>
            <a:ext cx="9652000" cy="377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80000"/>
            <a:r>
              <a:rPr lang="en-US" altLang="zh-CN" dirty="0">
                <a:solidFill>
                  <a:srgbClr val="334155"/>
                </a:solidFill>
              </a:rPr>
              <a:t>Preliminary Evidence from Related works and Lightweight Experiments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0" dirty="0">
                <a:latin typeface="+mj-ea"/>
              </a:rPr>
              <a:t>Negotiation: a Long-Horizon Partially Observable Game</a:t>
            </a:r>
            <a:endParaRPr lang="en-US" b="0" dirty="0">
              <a:latin typeface="+mj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A470E5C-8134-493C-655F-4756C4974FAE}"/>
              </a:ext>
            </a:extLst>
          </p:cNvPr>
          <p:cNvSpPr txBox="1"/>
          <p:nvPr/>
        </p:nvSpPr>
        <p:spPr>
          <a:xfrm>
            <a:off x="454212" y="1667435"/>
            <a:ext cx="111281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Why Negotiation is Hard</a:t>
            </a:r>
          </a:p>
          <a:p>
            <a:pPr marL="280000" indent="-180000">
              <a:buChar char="•"/>
            </a:pPr>
            <a:r>
              <a:rPr lang="en-US" altLang="zh-CN" sz="2400" dirty="0">
                <a:solidFill>
                  <a:srgbClr val="374151"/>
                </a:solidFill>
              </a:rPr>
              <a:t>Agents have private information: buyer budget, seller reservation price, preferences.</a:t>
            </a:r>
          </a:p>
          <a:p>
            <a:pPr marL="280000" indent="-180000">
              <a:buChar char="•"/>
            </a:pPr>
            <a:r>
              <a:rPr lang="en-US" altLang="zh-CN" sz="2400" dirty="0">
                <a:solidFill>
                  <a:srgbClr val="374151"/>
                </a:solidFill>
              </a:rPr>
              <a:t>Success requires opponent modeling, concession scheduling, and utility-aware decisions.</a:t>
            </a:r>
          </a:p>
          <a:p>
            <a:pPr marL="280000" indent="-180000">
              <a:buChar char="•"/>
            </a:pPr>
            <a:r>
              <a:rPr lang="en-US" altLang="zh-CN" sz="2400" dirty="0">
                <a:solidFill>
                  <a:srgbClr val="374151"/>
                </a:solidFill>
              </a:rPr>
              <a:t>Prompting may look strong, but high deal rate can hide poor buyer utility.</a:t>
            </a:r>
          </a:p>
          <a:p>
            <a:pPr marL="280000" indent="-180000">
              <a:buChar char="•"/>
            </a:pPr>
            <a:r>
              <a:rPr lang="en-US" altLang="zh-CN" sz="2400" dirty="0">
                <a:solidFill>
                  <a:srgbClr val="374151"/>
                </a:solidFill>
              </a:rPr>
              <a:t>Goal: identify when prompting/RL fails, and which component fixes the bottleneck.</a:t>
            </a:r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44877955-8D74-2658-D550-41B259DB6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365" y="6519078"/>
            <a:ext cx="7267388" cy="420669"/>
          </a:xfrm>
        </p:spPr>
        <p:txBody>
          <a:bodyPr/>
          <a:lstStyle/>
          <a:p>
            <a:r>
              <a:rPr lang="en-US" dirty="0"/>
              <a:t>[1]</a:t>
            </a:r>
            <a:r>
              <a:rPr lang="en-US" altLang="zh-CN" dirty="0">
                <a:hlinkClick r:id="rId3"/>
              </a:rPr>
              <a:t> [2604.16472] Training Language Models for Bilateral Trade with Private Information</a:t>
            </a:r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5FB00-4517-8C94-3598-857599C9A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2D3FD-7BD2-BAA7-E5E9-8F4D8BB65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0" dirty="0">
                <a:latin typeface="+mj-ea"/>
              </a:rPr>
              <a:t>Existing Benchmark</a:t>
            </a:r>
            <a:endParaRPr lang="en-US" dirty="0">
              <a:latin typeface="+mj-ea"/>
            </a:endParaRPr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92081636-9961-FA0D-911C-1455571FC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365" y="6519078"/>
            <a:ext cx="7267388" cy="420669"/>
          </a:xfrm>
        </p:spPr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11B6EB1-BBD6-CDDC-34D4-3D93945F2F39}"/>
              </a:ext>
            </a:extLst>
          </p:cNvPr>
          <p:cNvGraphicFramePr>
            <a:graphicFrameLocks noGrp="1"/>
          </p:cNvGraphicFramePr>
          <p:nvPr/>
        </p:nvGraphicFramePr>
        <p:xfrm>
          <a:off x="899397" y="1200399"/>
          <a:ext cx="9685174" cy="45741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3504">
                  <a:extLst>
                    <a:ext uri="{9D8B030D-6E8A-4147-A177-3AD203B41FA5}">
                      <a16:colId xmlns:a16="http://schemas.microsoft.com/office/drawing/2014/main" val="946253054"/>
                    </a:ext>
                  </a:extLst>
                </a:gridCol>
                <a:gridCol w="3210835">
                  <a:extLst>
                    <a:ext uri="{9D8B030D-6E8A-4147-A177-3AD203B41FA5}">
                      <a16:colId xmlns:a16="http://schemas.microsoft.com/office/drawing/2014/main" val="1471129110"/>
                    </a:ext>
                  </a:extLst>
                </a:gridCol>
                <a:gridCol w="3210835">
                  <a:extLst>
                    <a:ext uri="{9D8B030D-6E8A-4147-A177-3AD203B41FA5}">
                      <a16:colId xmlns:a16="http://schemas.microsoft.com/office/drawing/2014/main" val="1039500459"/>
                    </a:ext>
                  </a:extLst>
                </a:gridCol>
              </a:tblGrid>
              <a:tr h="3668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Existing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Benchmark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Method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514808"/>
                  </a:ext>
                </a:extLst>
              </a:tr>
              <a:tr h="366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[1]Deal-or-No-Deal(2017)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multi-issue bargaining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Imitation learning + self-play RL + dialogue rollouts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859147"/>
                  </a:ext>
                </a:extLst>
              </a:tr>
              <a:tr h="366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[2]Cicero(2022)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diplomacy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Planning + dialogue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711556"/>
                  </a:ext>
                </a:extLst>
              </a:tr>
              <a:tr h="366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[3]</a:t>
                      </a:r>
                      <a:r>
                        <a:rPr lang="it-IT" altLang="zh-CN" dirty="0"/>
                        <a:t>ASTRA(2025)</a:t>
                      </a:r>
                      <a:endParaRPr lang="en-US" altLang="zh-C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/>
                        <a:t>multi-issue bargaining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opponent modeling + LP solver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8212879"/>
                  </a:ext>
                </a:extLst>
              </a:tr>
              <a:tr h="366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[4]</a:t>
                      </a:r>
                      <a:r>
                        <a:rPr lang="en-US" altLang="zh-CN" dirty="0">
                          <a:hlinkClick r:id="rId3"/>
                        </a:rPr>
                        <a:t>Advancing AI Negotiations</a:t>
                      </a:r>
                      <a:r>
                        <a:rPr lang="en-US" altLang="zh-CN" dirty="0"/>
                        <a:t>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cross-domain negotiation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Prompt engineering evaluation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0796337"/>
                  </a:ext>
                </a:extLst>
              </a:tr>
              <a:tr h="366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[5]</a:t>
                      </a:r>
                      <a:r>
                        <a:rPr lang="en-US" altLang="zh-CN" dirty="0">
                          <a:hlinkClick r:id="rId4"/>
                        </a:rPr>
                        <a:t> Instructing LLMs to Negotiate </a:t>
                      </a:r>
                      <a:r>
                        <a:rPr lang="en-US" altLang="zh-CN" dirty="0"/>
                        <a:t>(2026)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Buyer-seller dialogue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RLVR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8185328"/>
                  </a:ext>
                </a:extLst>
              </a:tr>
              <a:tr h="366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[6]</a:t>
                      </a:r>
                      <a:r>
                        <a:rPr lang="en-US" altLang="zh-CN" dirty="0">
                          <a:hlinkClick r:id="rId5"/>
                        </a:rPr>
                        <a:t> Training Language Models for Bilateral Trade </a:t>
                      </a:r>
                      <a:r>
                        <a:rPr lang="en-US" altLang="zh-CN" dirty="0"/>
                        <a:t>(2026)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Tool-called based buyer-seller dialogue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RL+SFT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5747296"/>
                  </a:ext>
                </a:extLst>
              </a:tr>
              <a:tr h="366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/>
                        <a:t>[7]</a:t>
                      </a:r>
                      <a:r>
                        <a:rPr lang="en-US" altLang="zh-C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MERIT (2026)</a:t>
                      </a:r>
                      <a:endParaRPr lang="en-US" altLang="zh-CN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9 economical bargaining setting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LLM + human feedback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7327159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F934287F-49E9-985B-30C4-E762D4995F40}"/>
              </a:ext>
            </a:extLst>
          </p:cNvPr>
          <p:cNvSpPr txBox="1"/>
          <p:nvPr/>
        </p:nvSpPr>
        <p:spPr>
          <a:xfrm>
            <a:off x="848658" y="5946201"/>
            <a:ext cx="8582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Multi-issue bargaining remains a challenging testbed for strategic language agents, yet there is still no unified training framework in this setting.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6353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1A565-64ED-77C6-BC63-3BEB5416C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022EF-BE92-321D-CF9E-49527098F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Is Negotiation already Solved by Prompting?</a:t>
            </a:r>
            <a:endParaRPr 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3BEA43E-72DF-CB8B-12D3-D75AF16D033F}"/>
              </a:ext>
            </a:extLst>
          </p:cNvPr>
          <p:cNvSpPr txBox="1"/>
          <p:nvPr/>
        </p:nvSpPr>
        <p:spPr>
          <a:xfrm>
            <a:off x="604660" y="1631797"/>
            <a:ext cx="11407192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Recent frontier LLMs already perform surprisingly well via prompting alone.</a:t>
            </a:r>
          </a:p>
          <a:p>
            <a:endParaRPr lang="en-US" altLang="zh-C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hlinkClick r:id="rId3"/>
              </a:rPr>
              <a:t>Advancing AI Negotiations</a:t>
            </a:r>
            <a:r>
              <a:rPr lang="en-US" altLang="zh-CN" sz="2000" dirty="0"/>
              <a:t>(2025): hacking-based prompt performed well in AI negotiations.</a:t>
            </a:r>
            <a:endParaRPr lang="en-US" altLang="zh-C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hlinkClick r:id="rId4"/>
              </a:rPr>
              <a:t>Instructing LLMs to Negotiate </a:t>
            </a:r>
            <a:r>
              <a:rPr lang="en-US" altLang="zh-CN" sz="2000" dirty="0"/>
              <a:t>(2026)</a:t>
            </a:r>
            <a:r>
              <a:rPr lang="zh-CN" altLang="en-US" sz="2000" dirty="0"/>
              <a:t>： </a:t>
            </a:r>
            <a:r>
              <a:rPr lang="en-US" altLang="zh-CN" sz="2000" dirty="0"/>
              <a:t>small-scale agents can performed better than large-scale agents after training.</a:t>
            </a:r>
            <a:endParaRPr lang="en-US" altLang="zh-C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MERIT(2026): Baseline LLM policies often deviate from human preferences.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r>
              <a:rPr lang="en-US" altLang="zh-CN" sz="2000" dirty="0"/>
              <a:t>Require a simple first experiment to confirm: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Test different buyer agents against fixed sellers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Multi-issue bargaining across different benchmarks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Direct Prompt/ </a:t>
            </a:r>
            <a:r>
              <a:rPr lang="en-US" altLang="zh-CN" sz="2000" dirty="0" err="1"/>
              <a:t>CoT</a:t>
            </a:r>
            <a:r>
              <a:rPr lang="en-US" altLang="zh-CN" sz="2000" dirty="0"/>
              <a:t> Prompting/ RL finetuning/ RL + belief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Metrics: deal rate, utility gained, concession accuracy, language diversity, </a:t>
            </a:r>
            <a:r>
              <a:rPr lang="en-US" altLang="zh-CN" sz="2000" dirty="0" err="1"/>
              <a:t>robostness</a:t>
            </a: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Human judge and components.</a:t>
            </a:r>
          </a:p>
          <a:p>
            <a:endParaRPr lang="en-US" altLang="zh-CN" sz="2000" b="1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8AF5AE6-D837-0C03-B510-413CB2339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0399" y="6409690"/>
            <a:ext cx="6439648" cy="373604"/>
          </a:xfrm>
        </p:spPr>
        <p:txBody>
          <a:bodyPr/>
          <a:lstStyle/>
          <a:p>
            <a:r>
              <a:rPr lang="en-US" dirty="0"/>
              <a:t>[1]</a:t>
            </a:r>
            <a:r>
              <a:rPr lang="en-US" altLang="zh-CN" dirty="0">
                <a:hlinkClick r:id="rId4"/>
              </a:rPr>
              <a:t> [2604.09855] Instructing LLMs to Negotiate using Reinforcement Learning with Verifiable Rewards</a:t>
            </a:r>
            <a:endParaRPr lang="en-US" altLang="zh-CN" dirty="0"/>
          </a:p>
          <a:p>
            <a:r>
              <a:rPr lang="en-US" altLang="zh-CN" dirty="0">
                <a:hlinkClick r:id="rId5"/>
              </a:rPr>
              <a:t>[2] [2604.16472] Training Language Models for Bilateral Trade with Private Information</a:t>
            </a: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368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E5049-9AD4-5329-D73A-691F32E64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69479-6BC2-E437-E4CB-96A80C18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-180000"/>
            <a:r>
              <a:rPr lang="en-US" altLang="zh-CN" b="0" dirty="0" err="1">
                <a:latin typeface="+mj-ea"/>
              </a:rPr>
              <a:t>AgenticPay</a:t>
            </a:r>
            <a:r>
              <a:rPr lang="en-US" altLang="zh-CN" b="0" dirty="0">
                <a:latin typeface="+mj-ea"/>
              </a:rPr>
              <a:t>: A verifiable buyer-seller negotiation environment</a:t>
            </a:r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298DEB5A-893D-0D85-48B0-D1B516E7A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365" y="6519078"/>
            <a:ext cx="7267388" cy="420669"/>
          </a:xfrm>
        </p:spPr>
        <p:txBody>
          <a:bodyPr/>
          <a:lstStyle/>
          <a:p>
            <a:r>
              <a:rPr lang="en-US" dirty="0"/>
              <a:t>[1]</a:t>
            </a:r>
            <a:r>
              <a:rPr lang="en-US" altLang="zh-CN" dirty="0">
                <a:hlinkClick r:id="rId3"/>
              </a:rPr>
              <a:t> [2604.16472] Training Language Models for Bilateral Trade with Private Information</a:t>
            </a:r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4AC4C425-56EB-E4F1-FF89-BAC64DB86FDD}"/>
              </a:ext>
            </a:extLst>
          </p:cNvPr>
          <p:cNvSpPr txBox="1"/>
          <p:nvPr/>
        </p:nvSpPr>
        <p:spPr>
          <a:xfrm>
            <a:off x="6200000" y="1350000"/>
            <a:ext cx="5200000" cy="4200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2400" b="1" dirty="0">
                <a:solidFill>
                  <a:srgbClr val="111827"/>
                </a:solidFill>
              </a:rPr>
              <a:t>Metrics</a:t>
            </a:r>
          </a:p>
          <a:p>
            <a:pPr marL="280000" indent="-180000">
              <a:buChar char="•"/>
            </a:pPr>
            <a:r>
              <a:rPr lang="en-US" sz="2000" b="0" dirty="0">
                <a:solidFill>
                  <a:srgbClr val="374151"/>
                </a:solidFill>
              </a:rPr>
              <a:t>Deal rate and termination reason.</a:t>
            </a:r>
          </a:p>
          <a:p>
            <a:pPr marL="280000" indent="-180000">
              <a:buChar char="•"/>
            </a:pPr>
            <a:r>
              <a:rPr lang="en-US" sz="2000" b="0" dirty="0">
                <a:solidFill>
                  <a:srgbClr val="374151"/>
                </a:solidFill>
              </a:rPr>
              <a:t>Agreed price.</a:t>
            </a:r>
          </a:p>
          <a:p>
            <a:pPr marL="280000" indent="-180000">
              <a:buChar char="•"/>
            </a:pPr>
            <a:r>
              <a:rPr lang="en-US" sz="2000" b="0" dirty="0">
                <a:solidFill>
                  <a:srgbClr val="374151"/>
                </a:solidFill>
              </a:rPr>
              <a:t>Buyer score / seller score / global score.</a:t>
            </a:r>
          </a:p>
          <a:p>
            <a:pPr marL="280000" indent="-180000">
              <a:buChar char="•"/>
            </a:pPr>
            <a:r>
              <a:rPr lang="en-US" sz="2000" b="0" dirty="0">
                <a:solidFill>
                  <a:srgbClr val="374151"/>
                </a:solidFill>
              </a:rPr>
              <a:t>Quality success and round count.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A0838-57E1-FAEB-3F4C-0F9FBB5C5DCB}"/>
              </a:ext>
            </a:extLst>
          </p:cNvPr>
          <p:cNvSpPr txBox="1"/>
          <p:nvPr/>
        </p:nvSpPr>
        <p:spPr>
          <a:xfrm>
            <a:off x="596938" y="1350000"/>
            <a:ext cx="5200000" cy="4200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2400" b="1" dirty="0">
                <a:solidFill>
                  <a:srgbClr val="111827"/>
                </a:solidFill>
              </a:rPr>
              <a:t>Episode structure</a:t>
            </a:r>
          </a:p>
          <a:p>
            <a:pPr marL="280000" indent="-180000">
              <a:buChar char="•"/>
            </a:pPr>
            <a:r>
              <a:rPr lang="en-US" sz="2000" b="0" dirty="0">
                <a:solidFill>
                  <a:srgbClr val="374151"/>
                </a:solidFill>
              </a:rPr>
              <a:t>Buyer has private max price.</a:t>
            </a:r>
          </a:p>
          <a:p>
            <a:pPr marL="280000" indent="-180000">
              <a:buChar char="•"/>
            </a:pPr>
            <a:r>
              <a:rPr lang="en-US" sz="2000" b="0" dirty="0">
                <a:solidFill>
                  <a:srgbClr val="374151"/>
                </a:solidFill>
              </a:rPr>
              <a:t>Seller has minimum / target price.</a:t>
            </a:r>
          </a:p>
          <a:p>
            <a:pPr marL="280000" indent="-180000">
              <a:buChar char="•"/>
            </a:pPr>
            <a:r>
              <a:rPr lang="en-US" sz="2000" b="0" dirty="0">
                <a:solidFill>
                  <a:srgbClr val="374151"/>
                </a:solidFill>
              </a:rPr>
              <a:t>Multi-turn natural-language offers.</a:t>
            </a:r>
          </a:p>
          <a:p>
            <a:pPr marL="280000" indent="-180000">
              <a:buChar char="•"/>
            </a:pPr>
            <a:r>
              <a:rPr lang="en-US" sz="2000" b="0" dirty="0">
                <a:solidFill>
                  <a:srgbClr val="374151"/>
                </a:solidFill>
              </a:rPr>
              <a:t>Ends with agreement or timeout.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BA62733-F61B-AF92-8901-6285C2507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637" y="3723341"/>
            <a:ext cx="9185226" cy="2285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133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indent="-180000"/>
            <a:r>
              <a:rPr lang="en-US" altLang="zh-CN" sz="3658" b="1" dirty="0">
                <a:solidFill>
                  <a:srgbClr val="111827"/>
                </a:solidFill>
              </a:rPr>
              <a:t>Lightweight Experiments</a:t>
            </a:r>
          </a:p>
          <a:p>
            <a:pPr marL="0" indent="-180000"/>
            <a:r>
              <a:rPr lang="en-US" sz="1770" b="0" dirty="0">
                <a:solidFill>
                  <a:srgbClr val="4B5563"/>
                </a:solidFill>
              </a:rPr>
              <a:t>Qwen buyers against fixed </a:t>
            </a:r>
            <a:r>
              <a:rPr lang="en-US" sz="1770" b="0" dirty="0" err="1">
                <a:solidFill>
                  <a:srgbClr val="4B5563"/>
                </a:solidFill>
              </a:rPr>
              <a:t>AgenticPay</a:t>
            </a:r>
            <a:r>
              <a:rPr lang="en-US" sz="1770" b="0" dirty="0">
                <a:solidFill>
                  <a:srgbClr val="4B5563"/>
                </a:solidFill>
              </a:rPr>
              <a:t> sellers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0000" y="1400000"/>
            <a:ext cx="5550000" cy="4644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1">
                <a:solidFill>
                  <a:srgbClr val="111827"/>
                </a:solidFill>
              </a:rPr>
              <a:t>Axis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70000" y="1400000"/>
            <a:ext cx="5550000" cy="4644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1">
                <a:solidFill>
                  <a:srgbClr val="111827"/>
                </a:solidFill>
              </a:rPr>
              <a:t>Values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20000" y="1864400"/>
            <a:ext cx="5550000" cy="464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Models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70000" y="1864400"/>
            <a:ext cx="5550000" cy="464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Qwen3-0.6B, Qwen3-4B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0000" y="2328800"/>
            <a:ext cx="5550000" cy="46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Buyer prompts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70000" y="2328800"/>
            <a:ext cx="5550000" cy="46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Direct Prompt, CoT Prompt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0000" y="2793200"/>
            <a:ext cx="5550000" cy="464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Model pairs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170000" y="2793200"/>
            <a:ext cx="5550000" cy="464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dirty="0">
                <a:solidFill>
                  <a:srgbClr val="374151"/>
                </a:solidFill>
              </a:rPr>
              <a:t>All pairs</a:t>
            </a:r>
            <a:endParaRPr lang="en-US" sz="1812" b="0" dirty="0">
              <a:solidFill>
                <a:srgbClr val="374151"/>
              </a:solidFill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20000" y="3257600"/>
            <a:ext cx="5550000" cy="46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Tasks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170000" y="3257600"/>
            <a:ext cx="5550000" cy="46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task1, task2, task3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0000" y="3722000"/>
            <a:ext cx="5550000" cy="464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Seller characters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170000" y="3722000"/>
            <a:ext cx="5550000" cy="464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fair, greedy, patient, impatient, warm, dominant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20000" y="4186400"/>
            <a:ext cx="5550000" cy="46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Seeds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170000" y="4186400"/>
            <a:ext cx="5550000" cy="46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0,1,2,3,4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0000" y="4650800"/>
            <a:ext cx="5550000" cy="464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 dirty="0">
                <a:solidFill>
                  <a:srgbClr val="374151"/>
                </a:solidFill>
              </a:rPr>
              <a:t>Num of </a:t>
            </a:r>
            <a:r>
              <a:rPr lang="en-US" sz="1812" b="0" dirty="0" err="1">
                <a:solidFill>
                  <a:srgbClr val="374151"/>
                </a:solidFill>
              </a:rPr>
              <a:t>Trajs</a:t>
            </a:r>
            <a:endParaRPr lang="en-US" sz="1812" b="0" dirty="0">
              <a:solidFill>
                <a:srgbClr val="374151"/>
              </a:solidFill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170000" y="4650800"/>
            <a:ext cx="5550000" cy="464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 dirty="0">
                <a:solidFill>
                  <a:srgbClr val="374151"/>
                </a:solidFill>
              </a:rPr>
              <a:t>720 trajectories completed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3905" y="413435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100" b="1" dirty="0">
                <a:solidFill>
                  <a:srgbClr val="111827"/>
                </a:solidFill>
              </a:rPr>
              <a:t>Prompting Achieves Deals, But Deal Rate Is Not Enough</a:t>
            </a:r>
          </a:p>
          <a:p>
            <a:pPr marL="0" indent="-180000"/>
            <a:r>
              <a:rPr lang="en-US" sz="1500" b="0" dirty="0">
                <a:solidFill>
                  <a:srgbClr val="4B5563"/>
                </a:solidFill>
              </a:rPr>
              <a:t>Partial matrix overall result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0000" y="1550000"/>
            <a:ext cx="1780000" cy="85000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2600" b="1" dirty="0">
                <a:solidFill>
                  <a:srgbClr val="0F172A"/>
                </a:solidFill>
              </a:rPr>
              <a:t>720</a:t>
            </a:r>
          </a:p>
          <a:p>
            <a:pPr marL="0" indent="-180000"/>
            <a:r>
              <a:rPr lang="en-US" sz="1050" b="0" dirty="0">
                <a:solidFill>
                  <a:srgbClr val="475569"/>
                </a:solidFill>
              </a:rPr>
              <a:t>Episodes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50000" y="1550000"/>
            <a:ext cx="1780000" cy="85000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2600" b="1" dirty="0">
                <a:solidFill>
                  <a:srgbClr val="0F172A"/>
                </a:solidFill>
              </a:rPr>
              <a:t>0.799</a:t>
            </a:r>
          </a:p>
          <a:p>
            <a:pPr marL="0" indent="-180000"/>
            <a:r>
              <a:rPr lang="en-US" sz="1050" b="0" dirty="0">
                <a:solidFill>
                  <a:srgbClr val="475569"/>
                </a:solidFill>
              </a:rPr>
              <a:t>Deal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0000" y="1550000"/>
            <a:ext cx="1780000" cy="85000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2600" b="1" dirty="0">
                <a:solidFill>
                  <a:srgbClr val="0F172A"/>
                </a:solidFill>
              </a:rPr>
              <a:t>0.549</a:t>
            </a:r>
          </a:p>
          <a:p>
            <a:pPr marL="0" indent="-180000"/>
            <a:r>
              <a:rPr lang="en-US" sz="1050" b="0" dirty="0">
                <a:solidFill>
                  <a:srgbClr val="475569"/>
                </a:solidFill>
              </a:rPr>
              <a:t>Q-success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50000" y="1550000"/>
            <a:ext cx="1780000" cy="85000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2600" b="1" dirty="0">
                <a:solidFill>
                  <a:srgbClr val="0F172A"/>
                </a:solidFill>
              </a:rPr>
              <a:t>55.89</a:t>
            </a:r>
          </a:p>
          <a:p>
            <a:pPr marL="0" indent="-180000"/>
            <a:r>
              <a:rPr lang="en-US" sz="1050" b="0" dirty="0">
                <a:solidFill>
                  <a:srgbClr val="475569"/>
                </a:solidFill>
              </a:rPr>
              <a:t>Buyer score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50000" y="1550000"/>
            <a:ext cx="1780000" cy="85000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2600" b="1">
                <a:solidFill>
                  <a:srgbClr val="0F172A"/>
                </a:solidFill>
              </a:rPr>
              <a:t>3.37</a:t>
            </a:r>
          </a:p>
          <a:p>
            <a:pPr marL="0" indent="-180000"/>
            <a:r>
              <a:rPr lang="en-US" sz="1050" b="0">
                <a:solidFill>
                  <a:srgbClr val="475569"/>
                </a:solidFill>
              </a:rPr>
              <a:t>Rounds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0000" y="3000000"/>
            <a:ext cx="10000000" cy="2200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700" b="1" dirty="0">
                <a:solidFill>
                  <a:srgbClr val="111827"/>
                </a:solidFill>
              </a:rPr>
              <a:t>Observation</a:t>
            </a:r>
          </a:p>
          <a:p>
            <a:pPr marL="280000" indent="-180000">
              <a:buChar char="•"/>
            </a:pPr>
            <a:r>
              <a:rPr lang="en-US" b="0" dirty="0">
                <a:solidFill>
                  <a:srgbClr val="374151"/>
                </a:solidFill>
              </a:rPr>
              <a:t>Deal rate is relatively high, but quality success is much lower.</a:t>
            </a:r>
          </a:p>
          <a:p>
            <a:pPr marL="280000" indent="-180000">
              <a:buChar char="•"/>
            </a:pPr>
            <a:r>
              <a:rPr lang="en-US" b="0" dirty="0">
                <a:solidFill>
                  <a:srgbClr val="374151"/>
                </a:solidFill>
              </a:rPr>
              <a:t>Many agents reach agreements that are not buyer-beneficial.</a:t>
            </a:r>
          </a:p>
          <a:p>
            <a:pPr marL="280000" indent="-180000">
              <a:buChar char="•"/>
            </a:pPr>
            <a:r>
              <a:rPr lang="en-US" b="0" dirty="0">
                <a:solidFill>
                  <a:srgbClr val="374151"/>
                </a:solidFill>
              </a:rPr>
              <a:t>Negotiation evaluation must include buyer utility, price, robustness, and trajectory behavior</a:t>
            </a:r>
            <a:r>
              <a:rPr lang="en-US" sz="1300" b="0" dirty="0">
                <a:solidFill>
                  <a:srgbClr val="37415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>
                <a:solidFill>
                  <a:srgbClr val="111827"/>
                </a:solidFill>
              </a:rPr>
              <a:t>CoT Looks Strong in Qwen3-0.6B Self-Play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50000" y="1500000"/>
            <a:ext cx="1571428" cy="5832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1">
                <a:solidFill>
                  <a:srgbClr val="111827"/>
                </a:solidFill>
              </a:rPr>
              <a:t>Setting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21428" y="1500000"/>
            <a:ext cx="1571428" cy="5832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1">
                <a:solidFill>
                  <a:srgbClr val="111827"/>
                </a:solidFill>
              </a:rPr>
              <a:t>Episodes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92856" y="1500000"/>
            <a:ext cx="1571428" cy="5832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1">
                <a:solidFill>
                  <a:srgbClr val="111827"/>
                </a:solidFill>
              </a:rPr>
              <a:t>Deal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64284" y="1500000"/>
            <a:ext cx="1571428" cy="5832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1">
                <a:solidFill>
                  <a:srgbClr val="111827"/>
                </a:solidFill>
              </a:rPr>
              <a:t>Q-success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35712" y="1500000"/>
            <a:ext cx="1571428" cy="5832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1">
                <a:solidFill>
                  <a:srgbClr val="111827"/>
                </a:solidFill>
              </a:rPr>
              <a:t>Buyer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07140" y="1500000"/>
            <a:ext cx="1571428" cy="5832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1">
                <a:solidFill>
                  <a:srgbClr val="111827"/>
                </a:solidFill>
              </a:rPr>
              <a:t>Price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78568" y="1500000"/>
            <a:ext cx="1571428" cy="5832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1">
                <a:solidFill>
                  <a:srgbClr val="111827"/>
                </a:solidFill>
              </a:rPr>
              <a:t>Rounds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0000" y="2083200"/>
            <a:ext cx="1571428" cy="58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Direct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21428" y="2083200"/>
            <a:ext cx="1571428" cy="58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90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92856" y="2083200"/>
            <a:ext cx="1571428" cy="58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0.667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64284" y="2083200"/>
            <a:ext cx="1571428" cy="58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0.611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35712" y="2083200"/>
            <a:ext cx="1571428" cy="58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54.04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07140" y="2083200"/>
            <a:ext cx="1571428" cy="58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124.92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78568" y="2083200"/>
            <a:ext cx="1571428" cy="58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4.44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0000" y="2666400"/>
            <a:ext cx="1571428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CoT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21428" y="2666400"/>
            <a:ext cx="1571428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90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792856" y="2666400"/>
            <a:ext cx="1571428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 dirty="0">
                <a:solidFill>
                  <a:srgbClr val="374151"/>
                </a:solidFill>
              </a:rPr>
              <a:t>0.944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364284" y="2666400"/>
            <a:ext cx="1571428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0.889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35712" y="2666400"/>
            <a:ext cx="1571428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 dirty="0">
                <a:solidFill>
                  <a:srgbClr val="374151"/>
                </a:solidFill>
              </a:rPr>
              <a:t>88.82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07140" y="2666400"/>
            <a:ext cx="1571428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 dirty="0">
                <a:solidFill>
                  <a:srgbClr val="374151"/>
                </a:solidFill>
              </a:rPr>
              <a:t>113.94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078568" y="2666400"/>
            <a:ext cx="1571428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 dirty="0">
                <a:solidFill>
                  <a:srgbClr val="374151"/>
                </a:solidFill>
              </a:rPr>
              <a:t>1.44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00000" y="3400000"/>
            <a:ext cx="10000000" cy="1900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88" b="1" dirty="0">
                <a:solidFill>
                  <a:srgbClr val="111827"/>
                </a:solidFill>
              </a:rPr>
              <a:t>Interpretation</a:t>
            </a:r>
          </a:p>
          <a:p>
            <a:pPr marL="280000" indent="-180000">
              <a:buChar char="•"/>
            </a:pPr>
            <a:r>
              <a:rPr lang="en-US" sz="2000" b="0" dirty="0" err="1">
                <a:solidFill>
                  <a:srgbClr val="374151"/>
                </a:solidFill>
              </a:rPr>
              <a:t>CoT</a:t>
            </a:r>
            <a:r>
              <a:rPr lang="en-US" sz="2000" b="0" dirty="0">
                <a:solidFill>
                  <a:srgbClr val="374151"/>
                </a:solidFill>
              </a:rPr>
              <a:t> improves deal rate, buyer score, and efficiency in homogeneous self-play.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2800" b="1" dirty="0" err="1">
                <a:solidFill>
                  <a:srgbClr val="111827"/>
                </a:solidFill>
              </a:rPr>
              <a:t>CoT</a:t>
            </a:r>
            <a:r>
              <a:rPr lang="en-US" sz="2800" b="1" dirty="0">
                <a:solidFill>
                  <a:srgbClr val="111827"/>
                </a:solidFill>
              </a:rPr>
              <a:t> Does Not Robustly Transfer to Stronger Sellers</a:t>
            </a:r>
          </a:p>
          <a:p>
            <a:pPr marL="0" indent="-180000"/>
            <a:r>
              <a:rPr lang="en-US" sz="1770" b="0" dirty="0">
                <a:solidFill>
                  <a:srgbClr val="4B5563"/>
                </a:solidFill>
              </a:rPr>
              <a:t>Qwen06 buyer vs Qwen4 seller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50000" y="1500000"/>
            <a:ext cx="1571428" cy="5832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1">
                <a:solidFill>
                  <a:srgbClr val="111827"/>
                </a:solidFill>
              </a:rPr>
              <a:t>Prompt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21428" y="1500000"/>
            <a:ext cx="1571428" cy="5832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1">
                <a:solidFill>
                  <a:srgbClr val="111827"/>
                </a:solidFill>
              </a:rPr>
              <a:t>Episodes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92856" y="1500000"/>
            <a:ext cx="1571428" cy="5832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1">
                <a:solidFill>
                  <a:srgbClr val="111827"/>
                </a:solidFill>
              </a:rPr>
              <a:t>Deal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64284" y="1500000"/>
            <a:ext cx="1571428" cy="5832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1">
                <a:solidFill>
                  <a:srgbClr val="111827"/>
                </a:solidFill>
              </a:rPr>
              <a:t>Q-success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35712" y="1500000"/>
            <a:ext cx="1571428" cy="5832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1">
                <a:solidFill>
                  <a:srgbClr val="111827"/>
                </a:solidFill>
              </a:rPr>
              <a:t>Buyer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07140" y="1500000"/>
            <a:ext cx="1571428" cy="5832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1">
                <a:solidFill>
                  <a:srgbClr val="111827"/>
                </a:solidFill>
              </a:rPr>
              <a:t>Price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78568" y="1500000"/>
            <a:ext cx="1571428" cy="5832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1">
                <a:solidFill>
                  <a:srgbClr val="111827"/>
                </a:solidFill>
              </a:rPr>
              <a:t>Rounds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0000" y="2083200"/>
            <a:ext cx="1571428" cy="58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Direct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21428" y="2083200"/>
            <a:ext cx="1571428" cy="58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90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92856" y="2083200"/>
            <a:ext cx="1571428" cy="58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0.944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64284" y="2083200"/>
            <a:ext cx="1571428" cy="58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0.444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35712" y="2083200"/>
            <a:ext cx="1571428" cy="58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47.45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07140" y="2083200"/>
            <a:ext cx="1571428" cy="58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141.18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78568" y="2083200"/>
            <a:ext cx="1571428" cy="5832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3.39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0000" y="2666400"/>
            <a:ext cx="1571428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CoT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21428" y="2666400"/>
            <a:ext cx="1571428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 dirty="0">
                <a:solidFill>
                  <a:srgbClr val="374151"/>
                </a:solidFill>
              </a:rPr>
              <a:t>90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792856" y="2666400"/>
            <a:ext cx="1571428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0.510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364284" y="2666400"/>
            <a:ext cx="1571428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0.000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35712" y="2666400"/>
            <a:ext cx="1571428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14.30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07140" y="2666400"/>
            <a:ext cx="1571428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142.00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078568" y="2666400"/>
            <a:ext cx="1571428" cy="58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661" b="0">
                <a:solidFill>
                  <a:srgbClr val="374151"/>
                </a:solidFill>
              </a:rPr>
              <a:t>4.92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00000" y="3400000"/>
            <a:ext cx="10000000" cy="2000000"/>
          </a:xfrm>
          <a:prstGeom prst="rect">
            <a:avLst/>
          </a:prstGeom>
          <a:solidFill>
            <a:srgbClr val="FEF2F2"/>
          </a:solidFill>
          <a:ln w="9525">
            <a:solidFill>
              <a:srgbClr val="FCA5A5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88" b="1" dirty="0">
                <a:solidFill>
                  <a:srgbClr val="111827"/>
                </a:solidFill>
              </a:rPr>
              <a:t>Trajectory pattern</a:t>
            </a:r>
          </a:p>
          <a:p>
            <a:pPr marL="280000" indent="-180000">
              <a:buChar char="•"/>
            </a:pPr>
            <a:r>
              <a:rPr lang="en-US" b="0" dirty="0" err="1">
                <a:solidFill>
                  <a:srgbClr val="374151"/>
                </a:solidFill>
              </a:rPr>
              <a:t>CoT</a:t>
            </a:r>
            <a:r>
              <a:rPr lang="en-US" b="0" dirty="0">
                <a:solidFill>
                  <a:srgbClr val="374151"/>
                </a:solidFill>
              </a:rPr>
              <a:t> analysis can identify seller prices but fails to enforce buyer-beneficial actions.</a:t>
            </a:r>
          </a:p>
          <a:p>
            <a:pPr marL="280000" indent="-180000">
              <a:buChar char="•"/>
            </a:pPr>
            <a:r>
              <a:rPr lang="en-US" b="0" dirty="0">
                <a:solidFill>
                  <a:srgbClr val="374151"/>
                </a:solidFill>
              </a:rPr>
              <a:t>Reasoning text is not the same as a stable negotiation policy.</a:t>
            </a:r>
          </a:p>
          <a:p>
            <a:pPr marL="280000" indent="-180000">
              <a:buChar char="•"/>
            </a:pPr>
            <a:r>
              <a:rPr lang="en-US" b="0" dirty="0">
                <a:solidFill>
                  <a:srgbClr val="374151"/>
                </a:solidFill>
              </a:rPr>
              <a:t>This motivates belief state + typed strategic 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 dirty="0">
                <a:solidFill>
                  <a:srgbClr val="111827"/>
                </a:solidFill>
              </a:rPr>
              <a:t>Prompting Performance Can Be Inflated by Repair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0000" y="1450000"/>
            <a:ext cx="5300000" cy="5400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1">
                <a:solidFill>
                  <a:srgbClr val="111827"/>
                </a:solidFill>
              </a:rPr>
              <a:t>Setting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60000" y="1450000"/>
            <a:ext cx="5300000" cy="5400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1">
                <a:solidFill>
                  <a:srgbClr val="111827"/>
                </a:solidFill>
              </a:rPr>
              <a:t>Raw/Sent Price Mismatch Rate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0000" y="1990000"/>
            <a:ext cx="5300000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qwen06-&gt;qwen06 Direct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60000" y="1990000"/>
            <a:ext cx="5300000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1.000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0000" y="2530000"/>
            <a:ext cx="5300000" cy="5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qwen06-&gt;qwen4 Direct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60000" y="2530000"/>
            <a:ext cx="5300000" cy="5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1.000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0000" y="3070000"/>
            <a:ext cx="5300000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qwen06-&gt;qwen06 CoT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60000" y="3070000"/>
            <a:ext cx="5300000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0.056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0000" y="3610000"/>
            <a:ext cx="5300000" cy="5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qwen06-&gt;qwen4 CoT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60000" y="3610000"/>
            <a:ext cx="5300000" cy="5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12" b="0">
                <a:solidFill>
                  <a:srgbClr val="374151"/>
                </a:solidFill>
              </a:rPr>
              <a:t>0.490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00000" y="4100000"/>
            <a:ext cx="9600000" cy="1250000"/>
          </a:xfrm>
          <a:prstGeom prst="rect">
            <a:avLst/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770" b="1">
                <a:solidFill>
                  <a:srgbClr val="1D4ED8"/>
                </a:solidFill>
              </a:rPr>
              <a:t>Raw LLM Output  -&gt;  Parser / Repair  -&gt;  Executable BUYER_PRICE  -&gt;  Reward</a:t>
            </a:r>
          </a:p>
          <a:p>
            <a:pPr marL="0" indent="-180000"/>
            <a:r>
              <a:rPr lang="en-US" sz="1416" b="0">
                <a:solidFill>
                  <a:srgbClr val="374151"/>
                </a:solidFill>
              </a:rPr>
              <a:t>Future ablation: strict no-repair evaluation to separate model ability from wrapper 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>
                <a:solidFill>
                  <a:srgbClr val="111827"/>
                </a:solidFill>
              </a:rPr>
              <a:t>Trajectory-Level Negotiation Problems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0000" y="1350000"/>
            <a:ext cx="10800000" cy="4200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2000" b="1" dirty="0">
                <a:solidFill>
                  <a:srgbClr val="111827"/>
                </a:solidFill>
              </a:rPr>
              <a:t>1. Deal-quality gap</a:t>
            </a:r>
          </a:p>
          <a:p>
            <a:pPr marL="280000" indent="-180000">
              <a:buChar char="•"/>
            </a:pPr>
            <a:r>
              <a:rPr lang="en-US" sz="2000" b="0" dirty="0">
                <a:solidFill>
                  <a:srgbClr val="374151"/>
                </a:solidFill>
              </a:rPr>
              <a:t>High deal rate can coexist with low buyer utility.</a:t>
            </a:r>
          </a:p>
          <a:p>
            <a:pPr marL="0" indent="-180000"/>
            <a:r>
              <a:rPr lang="en-US" sz="2000" b="1" dirty="0">
                <a:solidFill>
                  <a:srgbClr val="111827"/>
                </a:solidFill>
              </a:rPr>
              <a:t>2. Fixed-price templates</a:t>
            </a:r>
          </a:p>
          <a:p>
            <a:pPr marL="280000" indent="-180000">
              <a:buChar char="•"/>
            </a:pPr>
            <a:r>
              <a:rPr lang="en-US" sz="2000" b="0" dirty="0">
                <a:solidFill>
                  <a:srgbClr val="374151"/>
                </a:solidFill>
              </a:rPr>
              <a:t>Qwen often repeats prices such as task2 $130 or task3 $170/$175.</a:t>
            </a:r>
          </a:p>
          <a:p>
            <a:pPr marL="0" indent="-180000"/>
            <a:r>
              <a:rPr lang="en-US" sz="2000" b="1" dirty="0">
                <a:solidFill>
                  <a:srgbClr val="111827"/>
                </a:solidFill>
              </a:rPr>
              <a:t>3. Weak concession scheduling</a:t>
            </a:r>
          </a:p>
          <a:p>
            <a:pPr marL="280000" indent="-180000">
              <a:buChar char="•"/>
            </a:pPr>
            <a:r>
              <a:rPr lang="en-US" sz="2000" b="0" dirty="0">
                <a:solidFill>
                  <a:srgbClr val="374151"/>
                </a:solidFill>
              </a:rPr>
              <a:t>Hard sellers cause repeated offers and timeout.</a:t>
            </a:r>
          </a:p>
          <a:p>
            <a:pPr marL="0" indent="-180000"/>
            <a:r>
              <a:rPr lang="en-US" sz="2000" b="1" dirty="0">
                <a:solidFill>
                  <a:srgbClr val="111827"/>
                </a:solidFill>
              </a:rPr>
              <a:t>4. Language-action mismatch</a:t>
            </a:r>
          </a:p>
          <a:p>
            <a:pPr marL="280000" indent="-180000">
              <a:buChar char="•"/>
            </a:pPr>
            <a:r>
              <a:rPr lang="en-US" sz="2000" b="0" dirty="0" err="1">
                <a:solidFill>
                  <a:srgbClr val="374151"/>
                </a:solidFill>
              </a:rPr>
              <a:t>CoT</a:t>
            </a:r>
            <a:r>
              <a:rPr lang="en-US" sz="2000" b="0" dirty="0">
                <a:solidFill>
                  <a:srgbClr val="374151"/>
                </a:solidFill>
              </a:rPr>
              <a:t> reasoning, raw output, repaired action, and reward can disagree</a:t>
            </a:r>
            <a:r>
              <a:rPr lang="en-US" sz="1416" b="0" dirty="0">
                <a:solidFill>
                  <a:srgbClr val="37415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>
                <a:solidFill>
                  <a:srgbClr val="111827"/>
                </a:solidFill>
              </a:rPr>
              <a:t>Seller Character Creates Robustness Gaps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0000" y="1350000"/>
            <a:ext cx="1891666" cy="4914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1">
                <a:solidFill>
                  <a:srgbClr val="111827"/>
                </a:solidFill>
              </a:rPr>
              <a:t>Seller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11666" y="1350000"/>
            <a:ext cx="1891666" cy="4914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1">
                <a:solidFill>
                  <a:srgbClr val="111827"/>
                </a:solidFill>
              </a:rPr>
              <a:t>Deal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03332" y="1350000"/>
            <a:ext cx="1891666" cy="4914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1">
                <a:solidFill>
                  <a:srgbClr val="111827"/>
                </a:solidFill>
              </a:rPr>
              <a:t>Q-success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94998" y="1350000"/>
            <a:ext cx="1891666" cy="4914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1">
                <a:solidFill>
                  <a:srgbClr val="111827"/>
                </a:solidFill>
              </a:rPr>
              <a:t>Buyer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86664" y="1350000"/>
            <a:ext cx="1891666" cy="4914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1">
                <a:solidFill>
                  <a:srgbClr val="111827"/>
                </a:solidFill>
              </a:rPr>
              <a:t>Price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78330" y="1350000"/>
            <a:ext cx="1891666" cy="4914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1">
                <a:solidFill>
                  <a:srgbClr val="111827"/>
                </a:solidFill>
              </a:rPr>
              <a:t>Rounds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0000" y="18414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fair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11666" y="18414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0.909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03332" y="18414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0.727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194998" y="18414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73.61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86664" y="18414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124.40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78330" y="18414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2.45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0000" y="23328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warm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411666" y="23328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1.000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303332" y="23328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0.500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194998" y="23328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51.79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86664" y="23328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118.70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978330" y="23328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1.70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20000" y="28242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greedy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411666" y="28242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0.818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303332" y="28242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0.545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194998" y="28242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57.25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086664" y="28242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131.89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978330" y="28242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3.27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20000" y="33156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patient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411666" y="33156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0.727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03332" y="33156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0.545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194998" y="33156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49.47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086664" y="33156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137.75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978330" y="33156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4.36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20000" y="38070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impatient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411666" y="38070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0.741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303332" y="38070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0.556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194998" y="38070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60.59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086664" y="38070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131.12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978330" y="3807000"/>
            <a:ext cx="1891666" cy="4914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3.63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20000" y="42984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dominant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411666" y="42984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0.600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303332" y="42984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0.400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194998" y="42984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41.00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086664" y="42984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129.50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978330" y="4298400"/>
            <a:ext cx="1891666" cy="491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85" b="0">
                <a:solidFill>
                  <a:srgbClr val="374151"/>
                </a:solidFill>
              </a:rPr>
              <a:t>4.80</a:t>
            </a:r>
          </a:p>
        </p:txBody>
      </p:sp>
      <p:sp>
        <p:nvSpPr>
          <p:cNvPr id="3" name="TextBox 40">
            <a:extLst>
              <a:ext uri="{FF2B5EF4-FFF2-40B4-BE49-F238E27FC236}">
                <a16:creationId xmlns:a16="http://schemas.microsoft.com/office/drawing/2014/main" id="{7832FD5A-99B0-4F84-401D-BB83BD65C4C5}"/>
              </a:ext>
            </a:extLst>
          </p:cNvPr>
          <p:cNvSpPr txBox="1"/>
          <p:nvPr/>
        </p:nvSpPr>
        <p:spPr>
          <a:xfrm>
            <a:off x="520000" y="4959859"/>
            <a:ext cx="10000000" cy="1267623"/>
          </a:xfrm>
          <a:prstGeom prst="rect">
            <a:avLst/>
          </a:prstGeom>
          <a:solidFill>
            <a:srgbClr val="FEF2F2"/>
          </a:solidFill>
          <a:ln w="9525">
            <a:solidFill>
              <a:srgbClr val="FCA5A5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88" b="1" dirty="0">
                <a:solidFill>
                  <a:srgbClr val="111827"/>
                </a:solidFill>
              </a:rPr>
              <a:t>Key point</a:t>
            </a:r>
          </a:p>
          <a:p>
            <a:pPr marL="280000" indent="-180000">
              <a:buChar char="•"/>
            </a:pPr>
            <a:r>
              <a:rPr lang="en-US" altLang="zh-CN" dirty="0">
                <a:solidFill>
                  <a:srgbClr val="374151"/>
                </a:solidFill>
              </a:rPr>
              <a:t>friendly tone is not the same as buyer-beneficial outcome; seller character is a natural belief target. </a:t>
            </a:r>
          </a:p>
          <a:p>
            <a:pPr marL="280000" indent="-180000">
              <a:buChar char="•"/>
            </a:pPr>
            <a:r>
              <a:rPr lang="en-US" dirty="0">
                <a:solidFill>
                  <a:srgbClr val="374151"/>
                </a:solidFill>
              </a:rPr>
              <a:t>Building belief model is a problem worth study in this case</a:t>
            </a:r>
            <a:endParaRPr lang="en-US" b="0" dirty="0">
              <a:solidFill>
                <a:srgbClr val="37415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5C04D-A4BB-2B5A-A6B9-2CD44B453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36977-E673-A5B4-3D39-FDBDCBE4D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Training Motivation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DBF34A1-DDE0-93FE-8649-4D7552CE2B4E}"/>
              </a:ext>
            </a:extLst>
          </p:cNvPr>
          <p:cNvSpPr txBox="1"/>
          <p:nvPr/>
        </p:nvSpPr>
        <p:spPr>
          <a:xfrm>
            <a:off x="610637" y="1536174"/>
            <a:ext cx="114071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Key concepts in negotiation:</a:t>
            </a:r>
          </a:p>
          <a:p>
            <a:endParaRPr lang="en-US" altLang="zh-C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Beliefs for components: require a belief model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Strategy of components can also be simulated.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Negotiation strategy: should be dynamic in the dialogue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Attitude: warmth/dominance[1]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Budget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Language: natural language realizer</a:t>
            </a:r>
            <a:endParaRPr lang="en-US" altLang="zh-CN" sz="2400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AA143B-58DE-ADB9-D2D4-A535C5AEB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0399" y="5922682"/>
            <a:ext cx="10049436" cy="761328"/>
          </a:xfrm>
        </p:spPr>
        <p:txBody>
          <a:bodyPr/>
          <a:lstStyle/>
          <a:p>
            <a:r>
              <a:rPr lang="en-US" dirty="0"/>
              <a:t>[1] </a:t>
            </a:r>
            <a:r>
              <a:rPr lang="en-US" altLang="zh-CN" dirty="0">
                <a:hlinkClick r:id="rId2"/>
              </a:rPr>
              <a:t>[2503.06416] Advancing AI Negotiations: A Large-Scale Autonomous Negotiation Competition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DF7ECB-A05B-064D-D09E-6246678280F1}"/>
              </a:ext>
            </a:extLst>
          </p:cNvPr>
          <p:cNvSpPr txBox="1"/>
          <p:nvPr/>
        </p:nvSpPr>
        <p:spPr>
          <a:xfrm>
            <a:off x="610637" y="4858871"/>
            <a:ext cx="73869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Negotiation can be universally solved by planning under latent beliefs.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26596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>
                <a:solidFill>
                  <a:srgbClr val="111827"/>
                </a:solidFill>
              </a:rPr>
              <a:t>Related Work: ASTRA</a:t>
            </a:r>
          </a:p>
          <a:p>
            <a:pPr marL="0" indent="-180000"/>
            <a:r>
              <a:rPr lang="en-US" sz="1770" b="0">
                <a:solidFill>
                  <a:srgbClr val="4B5563"/>
                </a:solidFill>
              </a:rPr>
              <a:t>Opponent modeling + offer optimization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350000"/>
            <a:ext cx="5200000" cy="3900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88" b="1">
                <a:solidFill>
                  <a:srgbClr val="111827"/>
                </a:solidFill>
              </a:rPr>
              <a:t>ASTRA components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Partner fairness / stance assessment.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Tool-integrated action with LP solver.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Partner acceptance probability.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Strategy-based final offer selection.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00000" y="1350000"/>
            <a:ext cx="5200000" cy="3900000"/>
          </a:xfrm>
          <a:prstGeom prst="rect">
            <a:avLst/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88" b="1">
                <a:solidFill>
                  <a:srgbClr val="111827"/>
                </a:solidFill>
              </a:rPr>
              <a:t>Connection to our direction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Belief model: seller type / reservation / patience.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Typed strategic policy: anchor / hold / concede / accept.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RL selection over strategies and target prices.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20000" y="6400000"/>
            <a:ext cx="11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239" b="0">
                <a:solidFill>
                  <a:srgbClr val="6B7280"/>
                </a:solidFill>
              </a:rPr>
              <a:t>Reference: ASTRA, arXiv:2503.07129.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>
                <a:solidFill>
                  <a:srgbClr val="111827"/>
                </a:solidFill>
              </a:rPr>
              <a:t>Related Work: MERIT, RLVR, Bilateral Trade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50000" y="1350000"/>
            <a:ext cx="10900000" cy="4400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/>
          <a:lstStyle/>
          <a:p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hlinkClick r:id="rId2"/>
              </a:rPr>
              <a:t>Advancing AI Negotiations</a:t>
            </a:r>
            <a:r>
              <a:rPr lang="en-US" altLang="zh-CN" dirty="0"/>
              <a:t>(2025): hacking-based prompt performed well in AI negotiations.</a:t>
            </a: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hlinkClick r:id="rId3"/>
              </a:rPr>
              <a:t>Instructing LLMs to Negotiate </a:t>
            </a:r>
            <a:r>
              <a:rPr lang="en-US" altLang="zh-CN" dirty="0"/>
              <a:t>(2026)</a:t>
            </a:r>
            <a:r>
              <a:rPr lang="zh-CN" altLang="en-US" dirty="0"/>
              <a:t>： </a:t>
            </a:r>
            <a:r>
              <a:rPr lang="en-US" altLang="zh-CN" dirty="0"/>
              <a:t>small-scale agents can performed better than large-scale agents after training.</a:t>
            </a:r>
            <a:endParaRPr lang="en-US" altLang="zh-C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MERIT(2026): Baseline LLM policies often deviate from human preferences.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>
                <a:solidFill>
                  <a:srgbClr val="111827"/>
                </a:solidFill>
              </a:rPr>
              <a:t>Preliminary RL Setup</a:t>
            </a:r>
          </a:p>
          <a:p>
            <a:pPr marL="0" indent="-180000"/>
            <a:r>
              <a:rPr lang="en-US" sz="1770" b="0">
                <a:solidFill>
                  <a:srgbClr val="4B5563"/>
                </a:solidFill>
              </a:rPr>
              <a:t>From typed policy to Qwen LoRA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50000" y="1350000"/>
            <a:ext cx="5300000" cy="3900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88" b="1">
                <a:solidFill>
                  <a:srgbClr val="111827"/>
                </a:solidFill>
              </a:rPr>
              <a:t>Typed contextual RL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Non-language actor-critic policy.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Learns price/action behavior without generation noise.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Purpose: isolate strategic RL from language realization.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00000" y="1350000"/>
            <a:ext cx="5300000" cy="3900000"/>
          </a:xfrm>
          <a:prstGeom prst="rect">
            <a:avLst/>
          </a:prstGeom>
          <a:solidFill>
            <a:srgbClr val="F0FDF4"/>
          </a:solidFill>
          <a:ln w="9525">
            <a:solidFill>
              <a:srgbClr val="86EFAC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88" b="1">
                <a:solidFill>
                  <a:srgbClr val="111827"/>
                </a:solidFill>
              </a:rPr>
              <a:t>Qwen LoRA lightweight RL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Qwen3-0.6B buyer samples BUYER_PRICE messages.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AgenticPay computes verifiable reward.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LoRA update with sequence-level REINFORCE / group advantage.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>
                <a:solidFill>
                  <a:srgbClr val="111827"/>
                </a:solidFill>
              </a:rPr>
              <a:t>Preliminary RL Results</a:t>
            </a:r>
          </a:p>
          <a:p>
            <a:pPr marL="0" indent="-180000"/>
            <a:r>
              <a:rPr lang="en-US" sz="1770" b="0">
                <a:solidFill>
                  <a:srgbClr val="4B5563"/>
                </a:solidFill>
              </a:rPr>
              <a:t>Current RL runs reveal bottlenecks rather than final gains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0000" y="1450000"/>
            <a:ext cx="1858333" cy="5400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1">
                <a:solidFill>
                  <a:srgbClr val="111827"/>
                </a:solidFill>
              </a:rPr>
              <a:t>Method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68333" y="1450000"/>
            <a:ext cx="1858333" cy="5400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1">
                <a:solidFill>
                  <a:srgbClr val="111827"/>
                </a:solidFill>
              </a:rPr>
              <a:t>Episodes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26666" y="1450000"/>
            <a:ext cx="1858333" cy="5400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1">
                <a:solidFill>
                  <a:srgbClr val="111827"/>
                </a:solidFill>
              </a:rPr>
              <a:t>Deal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84999" y="1450000"/>
            <a:ext cx="1858333" cy="5400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1">
                <a:solidFill>
                  <a:srgbClr val="111827"/>
                </a:solidFill>
              </a:rPr>
              <a:t>Q-success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43332" y="1450000"/>
            <a:ext cx="1858333" cy="5400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1">
                <a:solidFill>
                  <a:srgbClr val="111827"/>
                </a:solidFill>
              </a:rPr>
              <a:t>Buyer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01665" y="1450000"/>
            <a:ext cx="1858333" cy="54000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1">
                <a:solidFill>
                  <a:srgbClr val="111827"/>
                </a:solidFill>
              </a:rPr>
              <a:t>Note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10000" y="1990000"/>
            <a:ext cx="1858333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Qwen LoRA RL smoke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68333" y="1990000"/>
            <a:ext cx="1858333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20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26666" y="1990000"/>
            <a:ext cx="1858333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0.500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184999" y="1990000"/>
            <a:ext cx="1858333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0.125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43332" y="1990000"/>
            <a:ext cx="1858333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11.92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01665" y="1990000"/>
            <a:ext cx="1858333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pipeline runs; no eval improvement yet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10000" y="2530000"/>
            <a:ext cx="1858333" cy="5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Typed contextual RL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468333" y="2530000"/>
            <a:ext cx="1858333" cy="5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300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326666" y="2530000"/>
            <a:ext cx="1858333" cy="5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0.500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184999" y="2530000"/>
            <a:ext cx="1858333" cy="5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0.500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43332" y="2530000"/>
            <a:ext cx="1858333" cy="5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13.42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901665" y="2530000"/>
            <a:ext cx="1858333" cy="5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succeeds on easy sellers; fails hard sellers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10000" y="3070000"/>
            <a:ext cx="1858333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Group-rollout RL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468333" y="3070000"/>
            <a:ext cx="1858333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1 step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326666" y="3070000"/>
            <a:ext cx="1858333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-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184999" y="3070000"/>
            <a:ext cx="1858333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-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043332" y="3070000"/>
            <a:ext cx="1858333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-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901665" y="3070000"/>
            <a:ext cx="1858333" cy="54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55" b="0">
                <a:solidFill>
                  <a:srgbClr val="374151"/>
                </a:solidFill>
              </a:rPr>
              <a:t>distinguishes high-quality vs low-quality offers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50000" y="4000000"/>
            <a:ext cx="10200000" cy="1300000"/>
          </a:xfrm>
          <a:prstGeom prst="rect">
            <a:avLst/>
          </a:prstGeom>
          <a:solidFill>
            <a:srgbClr val="FEFCE8"/>
          </a:solidFill>
          <a:ln w="9525">
            <a:solidFill>
              <a:srgbClr val="FACC15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829" b="1">
                <a:solidFill>
                  <a:srgbClr val="111827"/>
                </a:solidFill>
              </a:rPr>
              <a:t>Interpretation</a:t>
            </a:r>
          </a:p>
          <a:p>
            <a:pPr marL="0" indent="-180000"/>
            <a:r>
              <a:rPr lang="en-US" sz="1392" b="0">
                <a:solidFill>
                  <a:srgbClr val="374151"/>
                </a:solidFill>
              </a:rPr>
              <a:t>Short RL smoke is not evidence that RL fails; it shows the pipeline works and exposes fixed-price / hard-seller bottlenecks.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>
                <a:solidFill>
                  <a:srgbClr val="111827"/>
                </a:solidFill>
              </a:rPr>
              <a:t>Why Standard RL Is Hard Here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0000" y="1350000"/>
            <a:ext cx="10800000" cy="4200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/>
          <a:lstStyle/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Sparse and delayed reward at agreement or timeout.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High variance from language sampling and seller response.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Opponent non-stationarity across seller characters.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Credit assignment across multi-turn offers.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Language-action mismatch between reasoning text and executable offer.</a:t>
            </a:r>
          </a:p>
          <a:p>
            <a:pPr marL="280000" indent="-180000">
              <a:buChar char="•"/>
            </a:pPr>
            <a:r>
              <a:rPr lang="en-US" sz="1475" b="0">
                <a:solidFill>
                  <a:srgbClr val="374151"/>
                </a:solidFill>
              </a:rPr>
              <a:t>Reward hacking risk: maximize deal rate by accepting bad prices.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20000" y="6400000"/>
            <a:ext cx="11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239" b="0">
                <a:solidFill>
                  <a:srgbClr val="6B7280"/>
                </a:solidFill>
              </a:rPr>
              <a:t>This motivates group rollouts, typed actions, opponent belief, and naturalizer.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>
                <a:solidFill>
                  <a:srgbClr val="111827"/>
                </a:solidFill>
              </a:rPr>
              <a:t>Proposed Direction: RL + Belief + Naturalizer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00000" y="1250000"/>
            <a:ext cx="8500000" cy="60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34" b="1">
                <a:solidFill>
                  <a:srgbClr val="111827"/>
                </a:solidFill>
              </a:rPr>
              <a:t>Dialogue history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00000" y="2150000"/>
            <a:ext cx="8500000" cy="60000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34" b="1">
                <a:solidFill>
                  <a:srgbClr val="111827"/>
                </a:solidFill>
              </a:rPr>
              <a:t>Opponent belief
seller type / reservation / patience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00000" y="3050000"/>
            <a:ext cx="8500000" cy="600000"/>
          </a:xfrm>
          <a:prstGeom prst="rect">
            <a:avLst/>
          </a:prstGeom>
          <a:solidFill>
            <a:srgbClr val="F0FDF4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34" b="1">
                <a:solidFill>
                  <a:srgbClr val="111827"/>
                </a:solidFill>
              </a:rPr>
              <a:t>Typed strategic policy
anchor / hold / concede / accept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00000" y="3950000"/>
            <a:ext cx="8500000" cy="600000"/>
          </a:xfrm>
          <a:prstGeom prst="rect">
            <a:avLst/>
          </a:prstGeom>
          <a:solidFill>
            <a:srgbClr val="FEFCE8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34" b="1">
                <a:solidFill>
                  <a:srgbClr val="111827"/>
                </a:solidFill>
              </a:rPr>
              <a:t>Natural language naturalizer
valid BUYER_PRICE + tone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00000" y="4850000"/>
            <a:ext cx="8500000" cy="600000"/>
          </a:xfrm>
          <a:prstGeom prst="rect">
            <a:avLst/>
          </a:prstGeom>
          <a:solidFill>
            <a:srgbClr val="FFF1F2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534" b="1">
                <a:solidFill>
                  <a:srgbClr val="111827"/>
                </a:solidFill>
              </a:rPr>
              <a:t>AgenticPay reward
buyer score + quality success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>
                <a:solidFill>
                  <a:srgbClr val="111827"/>
                </a:solidFill>
              </a:rPr>
              <a:t>Future Experiment Plan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0000" y="1350000"/>
            <a:ext cx="10800000" cy="4200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/>
          <a:lstStyle/>
          <a:p>
            <a:pPr marL="280000" indent="-180000">
              <a:buChar char="•"/>
            </a:pPr>
            <a:r>
              <a:rPr lang="en-US" sz="2400" b="0" dirty="0">
                <a:solidFill>
                  <a:srgbClr val="374151"/>
                </a:solidFill>
              </a:rPr>
              <a:t>1. Complete </a:t>
            </a:r>
            <a:r>
              <a:rPr lang="en-US" sz="2400" dirty="0">
                <a:solidFill>
                  <a:srgbClr val="374151"/>
                </a:solidFill>
              </a:rPr>
              <a:t>experiments on larger models and closed-source models</a:t>
            </a:r>
            <a:r>
              <a:rPr lang="en-US" sz="2400" b="0" dirty="0">
                <a:solidFill>
                  <a:srgbClr val="374151"/>
                </a:solidFill>
              </a:rPr>
              <a:t>.</a:t>
            </a:r>
          </a:p>
          <a:p>
            <a:pPr marL="280000" indent="-180000">
              <a:buChar char="•"/>
            </a:pPr>
            <a:r>
              <a:rPr lang="en-US" sz="2400" dirty="0">
                <a:solidFill>
                  <a:srgbClr val="374151"/>
                </a:solidFill>
              </a:rPr>
              <a:t>2</a:t>
            </a:r>
            <a:r>
              <a:rPr lang="en-US" sz="2400" b="0" dirty="0">
                <a:solidFill>
                  <a:srgbClr val="374151"/>
                </a:solidFill>
              </a:rPr>
              <a:t>. Prompt vs RL comparison on a fixed </a:t>
            </a:r>
            <a:r>
              <a:rPr lang="en-US" sz="2400" b="0" dirty="0" err="1">
                <a:solidFill>
                  <a:srgbClr val="374151"/>
                </a:solidFill>
              </a:rPr>
              <a:t>AgenticPay</a:t>
            </a:r>
            <a:r>
              <a:rPr lang="en-US" sz="2400" b="0" dirty="0">
                <a:solidFill>
                  <a:srgbClr val="374151"/>
                </a:solidFill>
              </a:rPr>
              <a:t> eval set.</a:t>
            </a:r>
          </a:p>
          <a:p>
            <a:pPr marL="280000" indent="-180000">
              <a:buChar char="•"/>
            </a:pPr>
            <a:r>
              <a:rPr lang="en-US" sz="2400" dirty="0">
                <a:solidFill>
                  <a:srgbClr val="374151"/>
                </a:solidFill>
              </a:rPr>
              <a:t>3</a:t>
            </a:r>
            <a:r>
              <a:rPr lang="en-US" sz="2400" b="0" dirty="0">
                <a:solidFill>
                  <a:srgbClr val="374151"/>
                </a:solidFill>
              </a:rPr>
              <a:t>. Train seller-character / reservation belief model from trajectories.</a:t>
            </a:r>
          </a:p>
          <a:p>
            <a:pPr marL="280000" indent="-180000">
              <a:buChar char="•"/>
            </a:pPr>
            <a:r>
              <a:rPr lang="en-US" sz="2400" b="0" dirty="0">
                <a:solidFill>
                  <a:srgbClr val="374151"/>
                </a:solidFill>
              </a:rPr>
              <a:t>4. Add </a:t>
            </a:r>
            <a:r>
              <a:rPr lang="en-US" sz="2400" b="0" dirty="0" err="1">
                <a:solidFill>
                  <a:srgbClr val="374151"/>
                </a:solidFill>
              </a:rPr>
              <a:t>naturalizer</a:t>
            </a:r>
            <a:r>
              <a:rPr lang="en-US" sz="2400" b="0" dirty="0">
                <a:solidFill>
                  <a:srgbClr val="374151"/>
                </a:solidFill>
              </a:rPr>
              <a:t> and evaluate language diversity + action validity</a:t>
            </a:r>
            <a:r>
              <a:rPr lang="en-US" sz="1475" b="0" dirty="0">
                <a:solidFill>
                  <a:srgbClr val="37415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0000" y="270000"/>
            <a:ext cx="112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3658" b="1">
                <a:solidFill>
                  <a:srgbClr val="111827"/>
                </a:solidFill>
              </a:rPr>
              <a:t>Questions for Feedback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0000" y="1350000"/>
            <a:ext cx="10800000" cy="4200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91440" tIns="45720" rIns="91440" bIns="45720"/>
          <a:lstStyle/>
          <a:p>
            <a:pPr marL="280000" indent="-180000">
              <a:buChar char="•"/>
            </a:pPr>
            <a:r>
              <a:rPr lang="en-US" sz="1392" b="0">
                <a:solidFill>
                  <a:srgbClr val="374151"/>
                </a:solidFill>
              </a:rPr>
              <a:t>Is AgenticPay sufficient as the first benchmark, or should ASTRA/MERIT-style multi-issue settings be added earlier?</a:t>
            </a:r>
          </a:p>
          <a:p>
            <a:pPr marL="280000" indent="-180000">
              <a:buChar char="•"/>
            </a:pPr>
            <a:r>
              <a:rPr lang="en-US" sz="1392" b="0">
                <a:solidFill>
                  <a:srgbClr val="374151"/>
                </a:solidFill>
              </a:rPr>
              <a:t>Should the main contribution focus on RL training or on diagnosing prompting/RL bottlenecks?</a:t>
            </a:r>
          </a:p>
          <a:p>
            <a:pPr marL="280000" indent="-180000">
              <a:buChar char="•"/>
            </a:pPr>
            <a:r>
              <a:rPr lang="en-US" sz="1392" b="0">
                <a:solidFill>
                  <a:srgbClr val="374151"/>
                </a:solidFill>
              </a:rPr>
              <a:t>Which module should be isolated first: belief model, typed policy, naturalizer, or reward design?</a:t>
            </a:r>
          </a:p>
          <a:p>
            <a:pPr marL="280000" indent="-180000">
              <a:buChar char="•"/>
            </a:pPr>
            <a:r>
              <a:rPr lang="en-US" sz="1392" b="0">
                <a:solidFill>
                  <a:srgbClr val="374151"/>
                </a:solidFill>
              </a:rPr>
              <a:t>Should Qwen LoRA RL be prioritized, or should we first build stronger structured-policy baselines?</a:t>
            </a:r>
          </a:p>
          <a:p>
            <a:pPr marL="280000" indent="-180000">
              <a:buChar char="•"/>
            </a:pPr>
            <a:r>
              <a:rPr lang="en-US" sz="1392" b="0">
                <a:solidFill>
                  <a:srgbClr val="374151"/>
                </a:solidFill>
              </a:rPr>
              <a:t>How much human evaluation is needed for preliminary results?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0000" y="950000"/>
            <a:ext cx="105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4248" b="1">
                <a:solidFill>
                  <a:srgbClr val="0F172A"/>
                </a:solidFill>
              </a:rPr>
              <a:t>Takeaways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000" y="2100000"/>
            <a:ext cx="9900000" cy="30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1711" b="1">
                <a:solidFill>
                  <a:srgbClr val="111827"/>
                </a:solidFill>
              </a:rPr>
              <a:t>1. Prompting is strong, but negotiation is not solved.</a:t>
            </a:r>
          </a:p>
          <a:p>
            <a:pPr marL="0" indent="-180000"/>
            <a:r>
              <a:rPr lang="en-US" sz="1711" b="1">
                <a:solidFill>
                  <a:srgbClr val="111827"/>
                </a:solidFill>
              </a:rPr>
              <a:t>2. High deal rate can hide low buyer utility.</a:t>
            </a:r>
          </a:p>
          <a:p>
            <a:pPr marL="0" indent="-180000"/>
            <a:r>
              <a:rPr lang="en-US" sz="1711" b="1">
                <a:solidFill>
                  <a:srgbClr val="111827"/>
                </a:solidFill>
              </a:rPr>
              <a:t>3. Trajectories expose opponent-modeling, concession, and language-action bottlenecks.</a:t>
            </a:r>
          </a:p>
          <a:p>
            <a:pPr marL="0" indent="-180000"/>
            <a:r>
              <a:rPr lang="en-US" sz="1711" b="1">
                <a:solidFill>
                  <a:srgbClr val="111827"/>
                </a:solidFill>
              </a:rPr>
              <a:t>4. RL should target these bottlenecks with belief, typed actions, and naturalization.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0000" y="5600000"/>
            <a:ext cx="99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0" indent="-180000"/>
            <a:r>
              <a:rPr lang="en-US" sz="2006" b="1">
                <a:solidFill>
                  <a:srgbClr val="2563EB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AC15015-60E8-50EB-7C3B-09A7CE529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9E75-28E3-5187-C23F-0AA8A98B2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PokeAgent</a:t>
            </a:r>
            <a:r>
              <a:rPr lang="en-US" altLang="zh-CN" dirty="0"/>
              <a:t> Challenge: Phase-Aware Routing/Meta RL</a:t>
            </a:r>
            <a:endParaRPr 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C31E58-08E3-4488-4504-F50CA6E1B064}"/>
              </a:ext>
            </a:extLst>
          </p:cNvPr>
          <p:cNvSpPr txBox="1"/>
          <p:nvPr/>
        </p:nvSpPr>
        <p:spPr>
          <a:xfrm>
            <a:off x="610637" y="1536174"/>
            <a:ext cx="1140719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Pokemon</a:t>
            </a:r>
            <a:r>
              <a:rPr lang="en-US" altLang="zh-CN" sz="2000" dirty="0"/>
              <a:t> is a long-horizon game</a:t>
            </a:r>
          </a:p>
          <a:p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Different phases require different reasoning strategies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Opponent hidden information is critical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r>
              <a:rPr lang="en-US" altLang="zh-CN" sz="2000" dirty="0"/>
              <a:t>Use a LLM router to switch between phases</a:t>
            </a:r>
          </a:p>
          <a:p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Preparation: Infer opponent archetype, select opening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Early Game: Information gathering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Mid Game: Resource trading and flexible switching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End Game: Reduced uncertainty, execute deterministic win conditions</a:t>
            </a:r>
          </a:p>
          <a:p>
            <a:endParaRPr lang="en-US" altLang="zh-CN" sz="2000" dirty="0"/>
          </a:p>
          <a:p>
            <a:endParaRPr lang="en-US" altLang="zh-CN" sz="20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0D72B9D-747A-6537-497F-25981E9F4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7488" y="2150693"/>
            <a:ext cx="2664487" cy="255661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5AFF166-B04A-CCBA-868E-FED04D842D42}"/>
              </a:ext>
            </a:extLst>
          </p:cNvPr>
          <p:cNvSpPr txBox="1"/>
          <p:nvPr/>
        </p:nvSpPr>
        <p:spPr>
          <a:xfrm>
            <a:off x="610637" y="3073232"/>
            <a:ext cx="61856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37349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E4E11E6-4FA9-D434-7A20-696D4FC34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AFA1C-E705-FE7D-5D86-5B68D7277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PokeAgent</a:t>
            </a:r>
            <a:r>
              <a:rPr lang="en-US" altLang="zh-CN" dirty="0"/>
              <a:t> Challenge: Phase-Aware Routing/Meta RL</a:t>
            </a:r>
            <a:endParaRPr 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786C95-1093-833B-9ACC-B81E57402E97}"/>
              </a:ext>
            </a:extLst>
          </p:cNvPr>
          <p:cNvSpPr txBox="1"/>
          <p:nvPr/>
        </p:nvSpPr>
        <p:spPr>
          <a:xfrm>
            <a:off x="610637" y="1536174"/>
            <a:ext cx="1140719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Framework:</a:t>
            </a:r>
          </a:p>
          <a:p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Phase-aware LLM router: dynamically selects reasoning mode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Specialist policies: combined with belief inference, planning and </a:t>
            </a:r>
          </a:p>
          <a:p>
            <a:r>
              <a:rPr lang="en-US" altLang="zh-CN" sz="2000" dirty="0"/>
              <a:t>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Distillation from 20M+ trajectories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actions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latent beliefs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strategic intentions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RL for router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reward based on battle outcome and belief accuracy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Lightweight RL finetuning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limited self-play for stabilization </a:t>
            </a:r>
          </a:p>
          <a:p>
            <a:endParaRPr lang="en-US" altLang="zh-CN" sz="2000" dirty="0"/>
          </a:p>
          <a:p>
            <a:r>
              <a:rPr lang="en-US" altLang="zh-CN" sz="2000" dirty="0"/>
              <a:t>Meta RL might work, but requires more online learning</a:t>
            </a:r>
          </a:p>
          <a:p>
            <a:endParaRPr lang="en-US" altLang="zh-CN" sz="20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EEC13E1-CA40-4FBF-716D-AF873B80B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488" y="2150693"/>
            <a:ext cx="2664487" cy="255661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09EFED6-4EA7-551A-5EE6-107CBD99BA19}"/>
              </a:ext>
            </a:extLst>
          </p:cNvPr>
          <p:cNvSpPr txBox="1"/>
          <p:nvPr/>
        </p:nvSpPr>
        <p:spPr>
          <a:xfrm>
            <a:off x="610637" y="3073232"/>
            <a:ext cx="61856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30078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86666E1-F199-9692-8436-B33604BF5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A21C3-E1F1-4F5C-98D6-C438B003A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Other Challenges</a:t>
            </a:r>
            <a:r>
              <a:rPr lang="zh-CN" altLang="en-US" dirty="0"/>
              <a:t>： </a:t>
            </a:r>
            <a:r>
              <a:rPr lang="en-US" altLang="zh-CN" dirty="0" err="1"/>
              <a:t>WideSearch</a:t>
            </a:r>
            <a:endParaRPr 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F107DB-33D7-1D66-FD7D-E45824A61010}"/>
              </a:ext>
            </a:extLst>
          </p:cNvPr>
          <p:cNvSpPr txBox="1"/>
          <p:nvPr/>
        </p:nvSpPr>
        <p:spPr>
          <a:xfrm>
            <a:off x="550872" y="1249304"/>
            <a:ext cx="5210446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en-US" altLang="zh-CN" sz="2400" dirty="0"/>
              <a:t>Further Analyze/improvement on </a:t>
            </a:r>
            <a:r>
              <a:rPr lang="en-US" altLang="zh-CN" sz="2400" dirty="0" err="1"/>
              <a:t>WideSeek</a:t>
            </a:r>
            <a:r>
              <a:rPr lang="en-US" altLang="zh-CN" sz="2400" dirty="0"/>
              <a:t> framework.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Adaptive agent expansion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when to spawn / stop subagents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Add a RL-based aggregator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deduplication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evidence merging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Hierarchical reward design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leader vs subagent vs aggregator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Budget-limited reasoning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EC0926-1A8B-E0F0-0CA0-0AF7D75D9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706" y="1549686"/>
            <a:ext cx="6878063" cy="333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0005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A8E13B5-0F4B-05AA-2032-236159D8F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2962A-F372-C5E1-3CCD-5F319BAD8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Other Challenges</a:t>
            </a:r>
            <a:r>
              <a:rPr lang="zh-CN" altLang="en-US" dirty="0"/>
              <a:t>： </a:t>
            </a:r>
            <a:r>
              <a:rPr lang="en-US" altLang="zh-CN" dirty="0" err="1"/>
              <a:t>WereWolf</a:t>
            </a:r>
            <a:r>
              <a:rPr lang="en-US" altLang="zh-CN" dirty="0"/>
              <a:t>/Avalon Bench</a:t>
            </a:r>
            <a:endParaRPr 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3BD2A5-F1EC-6C9E-248E-D5569FB4B2DA}"/>
              </a:ext>
            </a:extLst>
          </p:cNvPr>
          <p:cNvSpPr txBox="1"/>
          <p:nvPr/>
        </p:nvSpPr>
        <p:spPr>
          <a:xfrm>
            <a:off x="550872" y="1249304"/>
            <a:ext cx="1140719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en-US" altLang="zh-CN" dirty="0"/>
              <a:t>Social reasoning game with: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hidden roles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public dialogue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group voting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team-level rewards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r>
              <a:rPr lang="en-US" altLang="zh-CN" dirty="0"/>
              <a:t>Natural fit for multi-agent self-play RL (e.g. MARS-style) </a:t>
            </a:r>
          </a:p>
          <a:p>
            <a:endParaRPr lang="en-US" altLang="zh-CN" dirty="0"/>
          </a:p>
          <a:p>
            <a:r>
              <a:rPr lang="en-US" altLang="zh-CN" dirty="0"/>
              <a:t>Possible framework: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shared backbone for all roles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role-conditioned reasoning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RL policy over latent actions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LLM verbalization layer</a:t>
            </a:r>
          </a:p>
          <a:p>
            <a:endParaRPr lang="en-US" altLang="zh-CN" dirty="0"/>
          </a:p>
          <a:p>
            <a:r>
              <a:rPr lang="en-US" altLang="zh-CN" dirty="0"/>
              <a:t>Main challenges: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sparse rewards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difficult credit assignment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expensive multi-agent rollouts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755F0BB-7207-D76F-F8B6-DF9E03CA0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68" y="2050947"/>
            <a:ext cx="5695992" cy="250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0561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D92C7E6-D87A-F882-DB10-8DFCED247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8983D-487E-6999-BCD0-05F7A3472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517058"/>
            <a:ext cx="10858500" cy="90011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Other Challenges</a:t>
            </a:r>
            <a:r>
              <a:rPr lang="zh-CN" altLang="en-US" dirty="0"/>
              <a:t>： </a:t>
            </a:r>
            <a:r>
              <a:rPr lang="en-US" altLang="zh-CN" dirty="0"/>
              <a:t>Traditional Coordination Challenge Hanabi/Overcooked</a:t>
            </a:r>
            <a:endParaRPr 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8F9D34F-504C-94EF-5398-BD9E4D13895F}"/>
              </a:ext>
            </a:extLst>
          </p:cNvPr>
          <p:cNvSpPr txBox="1"/>
          <p:nvPr/>
        </p:nvSpPr>
        <p:spPr>
          <a:xfrm>
            <a:off x="666750" y="1285163"/>
            <a:ext cx="549731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en-US" altLang="zh-CN" dirty="0"/>
              <a:t>Largely explored with traditional MARL </a:t>
            </a:r>
          </a:p>
          <a:p>
            <a:endParaRPr lang="en-US" altLang="zh-CN" dirty="0"/>
          </a:p>
          <a:p>
            <a:r>
              <a:rPr lang="en-US" altLang="zh-CN" dirty="0"/>
              <a:t>Still useful as controlled environments for: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Routing / policy selection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Partner modeling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Convention reasoning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Efficient communication: with image?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r>
              <a:rPr lang="en-US" altLang="zh-CN" b="1" dirty="0"/>
              <a:t>Possible Research Direction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RL learns low-level coordination skills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LLM performs high-level reasoning: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partner inference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convention understanding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strategy selection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Dynamically route among different executors / policies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r>
              <a:rPr lang="en-US" altLang="zh-CN" dirty="0"/>
              <a:t>Require more exploration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82323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Thank you</a:t>
            </a:r>
            <a:endParaRPr lang="en-US" dirty="0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6334D673-09F3-242E-3D7B-FCFB139D1E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ed by OfficePLUS">
  <a:themeElements>
    <a:clrScheme name="自定义 236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2864B3"/>
      </a:accent1>
      <a:accent2>
        <a:srgbClr val="2864B3"/>
      </a:accent2>
      <a:accent3>
        <a:srgbClr val="2864B3"/>
      </a:accent3>
      <a:accent4>
        <a:srgbClr val="2864B3"/>
      </a:accent4>
      <a:accent5>
        <a:srgbClr val="2864B3"/>
      </a:accent5>
      <a:accent6>
        <a:srgbClr val="2864B3"/>
      </a:accent6>
      <a:hlink>
        <a:srgbClr val="3692FF"/>
      </a:hlink>
      <a:folHlink>
        <a:srgbClr val="979797"/>
      </a:folHlink>
    </a:clrScheme>
    <a:fontScheme name="OfficePLU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D1443A8EF62DE444B1FF07917E22EF72" ma:contentTypeVersion="20" ma:contentTypeDescription="新建文档。" ma:contentTypeScope="" ma:versionID="806cb1e9b56a23dcff22d77d2fc835de">
  <xsd:schema xmlns:xsd="http://www.w3.org/2001/XMLSchema" xmlns:xs="http://www.w3.org/2001/XMLSchema" xmlns:p="http://schemas.microsoft.com/office/2006/metadata/properties" xmlns:ns1="http://schemas.microsoft.com/sharepoint/v3" xmlns:ns2="0a5c0dea-e5d7-4228-9256-3793bb42faa5" xmlns:ns3="97934b4b-eba6-486d-bfc1-4b8e3fe39092" targetNamespace="http://schemas.microsoft.com/office/2006/metadata/properties" ma:root="true" ma:fieldsID="19411a69e2236232fe48666fa0ee528c" ns1:_="" ns2:_="" ns3:_="">
    <xsd:import namespace="http://schemas.microsoft.com/sharepoint/v3"/>
    <xsd:import namespace="0a5c0dea-e5d7-4228-9256-3793bb42faa5"/>
    <xsd:import namespace="97934b4b-eba6-486d-bfc1-4b8e3fe39092"/>
    <xsd:element name="properties">
      <xsd:complexType>
        <xsd:sequence>
          <xsd:element name="documentManagement">
            <xsd:complexType>
              <xsd:all>
                <xsd:element ref="ns2:OneNoteFluid_FileOrder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统一合规性策略属性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统一合规性策略 UI 操作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5c0dea-e5d7-4228-9256-3793bb42faa5" elementFormDefault="qualified">
    <xsd:import namespace="http://schemas.microsoft.com/office/2006/documentManagement/types"/>
    <xsd:import namespace="http://schemas.microsoft.com/office/infopath/2007/PartnerControls"/>
    <xsd:element name="OneNoteFluid_FileOrder" ma:index="8" nillable="true" ma:displayName="OneNoteFluid_FileOrder" ma:internalName="OneNoteFluid_FileOrder">
      <xsd:simpleType>
        <xsd:restriction base="dms:Text">
          <xsd:maxLength value="255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图像标记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934b4b-eba6-486d-bfc1-4b8e3fe3909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a885aa0b-334b-483f-9125-6409c6335a4b}" ma:internalName="TaxCatchAll" ma:showField="CatchAllData" ma:web="97934b4b-eba6-486d-bfc1-4b8e3fe3909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97934b4b-eba6-486d-bfc1-4b8e3fe39092" xsi:nil="true"/>
    <_ip_UnifiedCompliancePolicyProperties xmlns="http://schemas.microsoft.com/sharepoint/v3" xsi:nil="true"/>
    <lcf76f155ced4ddcb4097134ff3c332f xmlns="0a5c0dea-e5d7-4228-9256-3793bb42faa5">
      <Terms xmlns="http://schemas.microsoft.com/office/infopath/2007/PartnerControls"/>
    </lcf76f155ced4ddcb4097134ff3c332f>
    <OneNoteFluid_FileOrder xmlns="0a5c0dea-e5d7-4228-9256-3793bb42faa5" xsi:nil="true"/>
  </documentManagement>
</p:properties>
</file>

<file path=customXml/itemProps1.xml><?xml version="1.0" encoding="utf-8"?>
<ds:datastoreItem xmlns:ds="http://schemas.openxmlformats.org/officeDocument/2006/customXml" ds:itemID="{E5352534-1DC7-4E81-B89F-1D89D36D768A}">
  <ds:schemaRefs/>
</ds:datastoreItem>
</file>

<file path=customXml/itemProps2.xml><?xml version="1.0" encoding="utf-8"?>
<ds:datastoreItem xmlns:ds="http://schemas.openxmlformats.org/officeDocument/2006/customXml" ds:itemID="{DC9E93D6-4BAD-4D8F-8620-61824838ED6C}">
  <ds:schemaRefs/>
</ds:datastoreItem>
</file>

<file path=customXml/itemProps3.xml><?xml version="1.0" encoding="utf-8"?>
<ds:datastoreItem xmlns:ds="http://schemas.openxmlformats.org/officeDocument/2006/customXml" ds:itemID="{38ECB9A6-5708-4D5B-AD1B-C4C1DAB09F7A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15630</TotalTime>
  <Words>1948</Words>
  <Application>Microsoft Office PowerPoint</Application>
  <PresentationFormat>宽屏</PresentationFormat>
  <Paragraphs>410</Paragraphs>
  <Slides>28</Slides>
  <Notes>6</Notes>
  <HiddenSlides>14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1" baseType="lpstr">
      <vt:lpstr>微软雅黑</vt:lpstr>
      <vt:lpstr>Arial</vt:lpstr>
      <vt:lpstr>Designed by OfficePLUS</vt:lpstr>
      <vt:lpstr>Is LLM Negotiation Solved by Prompting?</vt:lpstr>
      <vt:lpstr>Negotiation: a Long-Horizon Partially Observable Game</vt:lpstr>
      <vt:lpstr>Existing Benchmark</vt:lpstr>
      <vt:lpstr>Is Negotiation already Solved by Prompting?</vt:lpstr>
      <vt:lpstr>AgenticPay: A verifiable buyer-seller negotiation environment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Training Motivation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PokeAgent Challenge: Phase-Aware Routing/Meta RL</vt:lpstr>
      <vt:lpstr>PokeAgent Challenge: Phase-Aware Routing/Meta RL</vt:lpstr>
      <vt:lpstr>Other Challenges： WideSearch</vt:lpstr>
      <vt:lpstr>Other Challenges： WereWolf/Avalon Bench</vt:lpstr>
      <vt:lpstr>Other Challenges： Traditional Coordination Challenge Hanabi/Overcooked</vt:lpstr>
      <vt:lpstr>Thank you</vt:lpstr>
    </vt:vector>
  </TitlesOfParts>
  <Company>OfficePLUS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OfficePLUS PowerPoint Template</dc:title>
  <dc:creator>OfficePLUS</dc:creator>
  <cp:lastModifiedBy>淇心 谭</cp:lastModifiedBy>
  <cp:revision>41</cp:revision>
  <dcterms:created xsi:type="dcterms:W3CDTF">2023-06-05T05:58:00Z</dcterms:created>
  <dcterms:modified xsi:type="dcterms:W3CDTF">2026-06-09T01:10:33Z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0x010100D1443A8EF62DE444B1FF07917E22EF72</vt:lpwstr>
  </property>
  <property fmtid="{D5CDD505-2E9C-101B-9397-08002B2CF9AE}" pid="3" name="MediaServiceImageTags">
    <vt:lpwstr/>
  </property>
  <property fmtid="{D5CDD505-2E9C-101B-9397-08002B2CF9AE}" pid="4" name="ICV">
    <vt:lpwstr>96E036483AB94FBC8177A7340D2C02F5_12</vt:lpwstr>
  </property>
  <property fmtid="{D5CDD505-2E9C-101B-9397-08002B2CF9AE}" pid="5" name="KSOProductBuildVer">
    <vt:lpwstr>2052-12.1.0.21541</vt:lpwstr>
  </property>
</Properties>
</file>