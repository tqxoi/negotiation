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56" r:id="rId3"/>
    <p:sldId id="282" r:id="rId4"/>
    <p:sldId id="283" r:id="rId5"/>
    <p:sldId id="284" r:id="rId6"/>
    <p:sldId id="260" r:id="rId7"/>
    <p:sldId id="261" r:id="rId8"/>
    <p:sldId id="285" r:id="rId10"/>
    <p:sldId id="286" r:id="rId9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9" y="3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7360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61000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</a:rPr>
              <a:t>Decision-Calibrated Belief-to-Action Planning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10000" y="1809878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Our exploration of OpenReview identified several 2026 studies that apply continuous opponent modeling to negotiation tasks. This overlap reduces the novelty of our work.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B55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</a:rPr>
              <a:t>Explorations on benchmark: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LLM-Deliberation</a:t>
            </a:r>
            <a:r>
              <a:rPr lang="zh-CN" altLang="zh-CN" sz="2000" dirty="0"/>
              <a:t> is a well-known benchmark proposed at NeurIPS 2024 (currently with 154 citations). However, recent studies have shown that the negotiation process in this benchmark is not truly meaningful.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NegotiationArena</a:t>
            </a:r>
            <a:r>
              <a:rPr lang="zh-CN" altLang="zh-CN" sz="2000" dirty="0"/>
              <a:t> can be regarded as a simplified version of </a:t>
            </a:r>
            <a:r>
              <a:rPr lang="zh-CN" altLang="zh-CN" sz="2000" b="1" dirty="0"/>
              <a:t>SimpleEnv/AmazonHistoryPrice</a:t>
            </a:r>
            <a:r>
              <a:rPr lang="zh-CN" altLang="zh-CN" sz="2000" dirty="0"/>
              <a:t> (the environment we tested previously), while still allowing for direct comparisons with existing baselines.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The </a:t>
            </a:r>
            <a:r>
              <a:rPr lang="zh-CN" altLang="zh-CN" sz="2000" b="1" dirty="0"/>
              <a:t>ACL benchmark</a:t>
            </a:r>
            <a:r>
              <a:rPr lang="zh-CN" altLang="zh-CN" sz="2000" dirty="0"/>
              <a:t> uses the </a:t>
            </a:r>
            <a:r>
              <a:rPr lang="zh-CN" altLang="zh-CN" sz="2000" b="1" dirty="0"/>
              <a:t>alternating-offers protocol</a:t>
            </a:r>
            <a:r>
              <a:rPr lang="zh-CN" altLang="zh-CN" sz="2000" dirty="0"/>
              <a:t> for negotiation. It can serve as a benchmark for evaluating </a:t>
            </a:r>
            <a:r>
              <a:rPr lang="zh-CN" altLang="zh-CN" sz="2000" b="1" dirty="0"/>
              <a:t>posterior calibration</a:t>
            </a:r>
            <a:r>
              <a:rPr lang="zh-CN" altLang="zh-CN" sz="2000" dirty="0"/>
              <a:t>, but it is not ideal as the primary benchmark because it does not involve natural language.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altLang="zh-CN" sz="3200" dirty="0"/>
              <a:t>Opponent Simulation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/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4D43B2-AAB5-AAF9-BFA4-B8772C233A53}"/>
              </a:ext>
            </a:extLst>
          </p:cNvPr>
          <p:cNvSpPr txBox="1"/>
          <p:nvPr/>
        </p:nvSpPr>
        <p:spPr>
          <a:xfrm>
            <a:off x="435428" y="1125894"/>
            <a:ext cx="103756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/>
              <a:t>Scaling Inference-Time Computation via Opponent Simulation: Enabling Online</a:t>
            </a:r>
            <a:br>
              <a:rPr lang="zh-CN" altLang="zh-CN" sz="2400" dirty="0"/>
            </a:br>
            <a:r>
              <a:rPr lang="zh-CN" altLang="zh-CN" sz="2400" dirty="0"/>
              <a:t>Strategic Adaptation in Repeated Negotiation</a:t>
            </a:r>
            <a:r>
              <a:rPr lang="en-US" altLang="zh-CN" sz="2400" dirty="0"/>
              <a:t>(ICML2026 Regular): continuous-update belief and belief-usable planner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Use negotiation trajectories to train an auxiliary LLM.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Use auxiliary LLM to simulate the actions of the opponent.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Let the current agent generate several candidate messages.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For each candidate message, continue the rollout with the simulated opponent.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Choose the candidate with the best expected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FBA6-379D-D4A6-2347-47725C9B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018AEDD-580B-0327-990A-F03ECE4037FE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altLang="zh-CN" sz="3200" dirty="0"/>
              <a:t>Opponent Simulation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04A45A8-8038-3176-AC39-E1C43971BE69}"/>
              </a:ext>
            </a:extLst>
          </p:cNvPr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F860CF-2925-121A-A88A-DB499F02EEDB}"/>
              </a:ext>
            </a:extLst>
          </p:cNvPr>
          <p:cNvSpPr txBox="1"/>
          <p:nvPr/>
        </p:nvSpPr>
        <p:spPr>
          <a:xfrm>
            <a:off x="435428" y="1125894"/>
            <a:ext cx="1037564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This Opponent Simulation used the auxiliary LLM to simulate the opponents through the process and continuous updated it, which overlaps with our work much.</a:t>
            </a:r>
          </a:p>
          <a:p>
            <a:r>
              <a:rPr lang="en-US" altLang="zh-CN" sz="2400" dirty="0"/>
              <a:t>	However, this method uses a lot of cost and can only simulate simple fixed model on simple environment(Negotiation Arena with single buyer single seller). Our method can focus on a universal </a:t>
            </a:r>
            <a:r>
              <a:rPr lang="zh-CN" altLang="zh-CN" sz="2400" dirty="0"/>
              <a:t>calibrated posterior</a:t>
            </a:r>
            <a:r>
              <a:rPr lang="en-US" altLang="zh-CN" sz="2400" dirty="0"/>
              <a:t> that can be adaptive to opponents with different characters, irrational behaviors, and how can the planner get decision values from the belief.</a:t>
            </a:r>
          </a:p>
          <a:p>
            <a:r>
              <a:rPr lang="en-US" altLang="zh-CN" sz="2400" dirty="0"/>
              <a:t>	I have already done a quick comparison on </a:t>
            </a:r>
            <a:r>
              <a:rPr lang="en-US" altLang="zh-CN" sz="2400" dirty="0" err="1"/>
              <a:t>NegotiationArena</a:t>
            </a:r>
            <a:r>
              <a:rPr lang="en-US" altLang="zh-CN" sz="2400" dirty="0"/>
              <a:t>, but the experiment still not finished.</a:t>
            </a:r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34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512D-AE4E-F553-FEAC-23C074A7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D8C07517-6D4F-4266-9FFC-F21C8394A803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en-US" altLang="zh-CN" sz="3200" dirty="0"/>
              <a:t>Other exists works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7AFD5C8-A691-E9DA-F373-1576A1914C1C}"/>
              </a:ext>
            </a:extLst>
          </p:cNvPr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6679E9-F72A-FC45-DA42-4820AF7895CC}"/>
              </a:ext>
            </a:extLst>
          </p:cNvPr>
          <p:cNvSpPr txBox="1"/>
          <p:nvPr/>
        </p:nvSpPr>
        <p:spPr>
          <a:xfrm>
            <a:off x="435428" y="1125894"/>
            <a:ext cx="1037564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MIND(ICLR2026</a:t>
            </a:r>
            <a:r>
              <a:rPr lang="zh-CN" altLang="en-US" sz="2400" dirty="0"/>
              <a:t> </a:t>
            </a:r>
            <a:r>
              <a:rPr lang="en-US" altLang="zh-CN" sz="2400" dirty="0"/>
              <a:t>workshop</a:t>
            </a:r>
            <a:r>
              <a:rPr lang="zh-CN" altLang="en-US" sz="2400" dirty="0"/>
              <a:t> </a:t>
            </a:r>
            <a:r>
              <a:rPr lang="en-US" altLang="zh-CN" sz="2400" dirty="0"/>
              <a:t>HCAIR): infer willingness on multi-agent travel planning.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HAR(LLA2026 poster): </a:t>
            </a:r>
            <a:r>
              <a:rPr lang="zh-CN" altLang="zh-CN" sz="2400" dirty="0"/>
              <a:t>hierarchical planning</a:t>
            </a:r>
            <a:r>
              <a:rPr lang="en-US" altLang="zh-CN" sz="2400" dirty="0"/>
              <a:t> on negotiation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GENEGO</a:t>
            </a:r>
            <a:r>
              <a:rPr lang="en-US" altLang="zh-CN" sz="2400" dirty="0"/>
              <a:t>(</a:t>
            </a:r>
            <a:r>
              <a:rPr lang="zh-CN" altLang="zh-CN" sz="2400" dirty="0"/>
              <a:t>ICML 2026 AgenticUQ Workshop</a:t>
            </a:r>
            <a:r>
              <a:rPr lang="en-US" altLang="zh-CN" sz="2400" dirty="0"/>
              <a:t>): structured memory and pairwise preference inference on </a:t>
            </a:r>
            <a:r>
              <a:rPr lang="en-US" altLang="zh-CN" sz="2400" dirty="0" err="1"/>
              <a:t>CaSiNo</a:t>
            </a:r>
            <a:r>
              <a:rPr lang="en-US" altLang="zh-CN" sz="2400" dirty="0"/>
              <a:t> environment. Can be tested as a new baseline</a:t>
            </a:r>
            <a:br>
              <a:rPr lang="zh-CN" altLang="zh-CN" dirty="0"/>
            </a:b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3BD882F-4328-7ADC-4218-78078B608DF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680301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597233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70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07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5C98-28AA-B13A-AC8E-91BC258B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">
            <a:extLst>
              <a:ext uri="{FF2B5EF4-FFF2-40B4-BE49-F238E27FC236}">
                <a16:creationId xmlns:a16="http://schemas.microsoft.com/office/drawing/2014/main" id="{2D8F55B6-E5F4-566D-6A5E-5CCB34D2CC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8FD075-4201-48C8-BAA8-D5D7DA6F5394}"/>
              </a:ext>
            </a:extLst>
          </p:cNvPr>
          <p:cNvSpPr txBox="1"/>
          <p:nvPr/>
        </p:nvSpPr>
        <p:spPr>
          <a:xfrm>
            <a:off x="61000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</a:rPr>
              <a:t>Benchmarks Exploration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829E3EC-5E20-90C0-DB2B-D0B1756CDBA0}"/>
              </a:ext>
            </a:extLst>
          </p:cNvPr>
          <p:cNvSpPr txBox="1"/>
          <p:nvPr/>
        </p:nvSpPr>
        <p:spPr>
          <a:xfrm>
            <a:off x="610000" y="1809878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From the exploration on </a:t>
            </a:r>
            <a:r>
              <a:rPr lang="en-US" altLang="zh-CN" sz="2400" dirty="0" err="1"/>
              <a:t>openreview</a:t>
            </a:r>
            <a:r>
              <a:rPr lang="en-US" altLang="zh-CN" sz="2400" dirty="0"/>
              <a:t>, our result on </a:t>
            </a:r>
            <a:r>
              <a:rPr lang="en-US" altLang="zh-CN" sz="2400" dirty="0" err="1"/>
              <a:t>AmazonHistoryPrice</a:t>
            </a:r>
            <a:r>
              <a:rPr lang="en-US" altLang="zh-CN" sz="2400" dirty="0"/>
              <a:t>(which is called simple env in before slides) and </a:t>
            </a:r>
            <a:r>
              <a:rPr lang="en-US" altLang="zh-CN" sz="2400" dirty="0" err="1"/>
              <a:t>CaSiNo</a:t>
            </a:r>
            <a:r>
              <a:rPr lang="en-US" altLang="zh-CN" sz="2400" dirty="0"/>
              <a:t> can already be reasonable for a paper, but may require more design for novelty.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B55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</a:rPr>
              <a:t>Explorations on benchmark: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LLM-Deliberation</a:t>
            </a:r>
            <a:r>
              <a:rPr lang="zh-CN" altLang="zh-CN" sz="2000" dirty="0"/>
              <a:t> is a well-known benchmark proposed at NeurIPS 2024 (currently with 154 citations). However, recent studies have shown that the negotiation process in this benchmark is not truly meaningful.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NegotiationArena</a:t>
            </a:r>
            <a:r>
              <a:rPr lang="zh-CN" altLang="zh-CN" sz="2000" dirty="0"/>
              <a:t> can be regarded as a simplified version of </a:t>
            </a:r>
            <a:r>
              <a:rPr lang="zh-CN" altLang="zh-CN" sz="2000" b="1" dirty="0"/>
              <a:t>SimpleEnv/AmazonHistoryPrice</a:t>
            </a:r>
            <a:r>
              <a:rPr lang="zh-CN" altLang="zh-CN" sz="2000" dirty="0"/>
              <a:t> (the environment we tested previously), while still allowing for direct comparisons with existing baselines.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The </a:t>
            </a:r>
            <a:r>
              <a:rPr lang="zh-CN" altLang="zh-CN" sz="2000" b="1" dirty="0"/>
              <a:t>ACL benchmark</a:t>
            </a:r>
            <a:r>
              <a:rPr lang="zh-CN" altLang="zh-CN" sz="2000" dirty="0"/>
              <a:t> uses the </a:t>
            </a:r>
            <a:r>
              <a:rPr lang="zh-CN" altLang="zh-CN" sz="2000" b="1" dirty="0"/>
              <a:t>alternating-offers protocol</a:t>
            </a:r>
            <a:r>
              <a:rPr lang="zh-CN" altLang="zh-CN" sz="2000" dirty="0"/>
              <a:t> for negotiation. It can serve as a benchmark for evaluating </a:t>
            </a:r>
            <a:r>
              <a:rPr lang="zh-CN" altLang="zh-CN" sz="2000" b="1" dirty="0"/>
              <a:t>posterior calibration</a:t>
            </a:r>
            <a:r>
              <a:rPr lang="zh-CN" altLang="zh-CN" sz="2000" dirty="0"/>
              <a:t>, but it is not ideal as the primary benchmark because it does not involve natural language.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B55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29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NegotiationArena: simple tasks, essential direct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Its value rises because Opponent Simulation uses a precise repeated-game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05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6F709CB-C564-2991-5D74-6FC3155C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656134"/>
            <a:ext cx="5626757" cy="256900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CB5B4FE-2265-DDBE-6ABC-86B9F4EAA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466" y="2656134"/>
            <a:ext cx="5605110" cy="2569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ANL: a clean mechanism test, not a language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5D6878"/>
                </a:solidFill>
                <a:latin typeface="Aptos"/>
              </a:rPr>
              <a:t>Can be regard as test for </a:t>
            </a:r>
            <a:r>
              <a:rPr lang="en-US" sz="1300" b="0" i="0" dirty="0" err="1">
                <a:solidFill>
                  <a:srgbClr val="5D6878"/>
                </a:solidFill>
                <a:latin typeface="Aptos"/>
              </a:rPr>
              <a:t>caliberation</a:t>
            </a:r>
            <a:r>
              <a:rPr lang="en-US" sz="1300" b="0" i="0" dirty="0">
                <a:solidFill>
                  <a:srgbClr val="5D6878"/>
                </a:solidFill>
                <a:latin typeface="Aptos"/>
              </a:rPr>
              <a:t> belief</a:t>
            </a:r>
            <a:endParaRPr sz="1300" b="0" i="0" dirty="0">
              <a:solidFill>
                <a:srgbClr val="5D68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656463"/>
              </p:ext>
            </p:extLst>
          </p:nvPr>
        </p:nvGraphicFramePr>
        <p:xfrm>
          <a:off x="603504" y="1847088"/>
          <a:ext cx="10972798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League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Hidden information / structure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Best diagnostic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Paper role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2024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Known utility shape; hidden reservation value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RV posterior, coverage, oracle regret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Calibration sanity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2025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Sequential one-to-many, multi-deal dependency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Continuation value and global planning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Planner mechanism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2026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Unknown utility + reservation; concealment rewarded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Exploration vs self-information leakage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D2738"/>
                          </a:solidFill>
                          <a:latin typeface="Aptos"/>
                        </a:rPr>
                        <a:t>Information-control stress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216152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2161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UPDATED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A reward-first universal buyer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Only Simple reward and AgenticPay buyer score decide promotion; belief metrics explain why.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47088"/>
            <a:ext cx="3419856" cy="199339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011680"/>
            <a:ext cx="914400" cy="310896"/>
          </a:xfrm>
          <a:prstGeom prst="roundRect">
            <a:avLst/>
          </a:prstGeom>
          <a:solidFill>
            <a:srgbClr val="3578C6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0824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2082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What is frozen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07792"/>
            <a:ext cx="301752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Buyer-only modification
Fixed native seller
Native benchmark scorer
Task/scenario clustered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47088"/>
            <a:ext cx="3419856" cy="1993392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2011680"/>
            <a:ext cx="914400" cy="310896"/>
          </a:xfrm>
          <a:prstGeom prst="roundRect">
            <a:avLst/>
          </a:prstGeom>
          <a:solidFill>
            <a:srgbClr val="1EA89A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20824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EA89A"/>
                </a:solidFill>
                <a:latin typeface="Aptos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2082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PRIMARY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68880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What is optimized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907792"/>
            <a:ext cx="301752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Simple: native reward
AgenticPay: buyer score
Deal failure and calibration are diagnostics—not surrogate objectives.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847088"/>
            <a:ext cx="3419856" cy="1993392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9327" y="2011680"/>
            <a:ext cx="914400" cy="310896"/>
          </a:xfrm>
          <a:prstGeom prst="roundRect">
            <a:avLst/>
          </a:prstGeom>
          <a:solidFill>
            <a:srgbClr val="F39C3D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2020824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39C3D"/>
                </a:solidFill>
                <a:latin typeface="Aptos"/>
              </a:rP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02082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468880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Current 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2907792"/>
            <a:ext cx="301752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Simple has a credible positive anchor.
AgenticPay remains below direct / CoT.
The main gap is accept / continue and multi-issue adaptation.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4224528"/>
            <a:ext cx="1062532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462272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78C6"/>
                </a:solidFill>
                <a:latin typeface="Aptos"/>
              </a:rPr>
              <a:t>Falsifiable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4361688"/>
            <a:ext cx="843076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192D"/>
                </a:solidFill>
                <a:latin typeface="Aptos"/>
              </a:rPr>
              <a:t>A canonical, calibrated opponent state improves buyer utility only when an executable planner changes probe, concession and accept boundaries—across price and contract negotiation.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No reward gain → no method promotion, even if belief accuracy or action-flip improves.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Current executable framework: six explicit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The core is protocol-free; adapters own syntax, legal actions and exact focal utility.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920240"/>
            <a:ext cx="1627632" cy="153619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13055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1 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596896"/>
            <a:ext cx="1444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30" b="0">
                <a:solidFill>
                  <a:srgbClr val="5D6878"/>
                </a:solidFill>
                <a:latin typeface="Aptos"/>
              </a:rPr>
              <a:t>history →
CanonicalState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85416" y="2450592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50592" y="1920240"/>
            <a:ext cx="1627632" cy="1536192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213055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2  Belief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596896"/>
            <a:ext cx="1444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30" b="0">
                <a:solidFill>
                  <a:srgbClr val="5D6878"/>
                </a:solidFill>
                <a:latin typeface="Aptos"/>
              </a:rPr>
              <a:t>θ utility
φ response policy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23944" y="2450592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920240"/>
            <a:ext cx="1627632" cy="1536192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3055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3 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96896"/>
            <a:ext cx="1444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30" b="0">
                <a:solidFill>
                  <a:srgbClr val="5D6878"/>
                </a:solidFill>
                <a:latin typeface="Aptos"/>
              </a:rPr>
              <a:t>legal offers
accept / quit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62472" y="2450592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7648" y="1920240"/>
            <a:ext cx="1627632" cy="1536192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13055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4 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596896"/>
            <a:ext cx="1444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30" b="0">
                <a:solidFill>
                  <a:srgbClr val="5D6878"/>
                </a:solidFill>
                <a:latin typeface="Aptos"/>
              </a:rPr>
              <a:t>reward EV
probe / frontier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01000" y="2450592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6" y="1920240"/>
            <a:ext cx="1627632" cy="1536192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213055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5  Renderer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596896"/>
            <a:ext cx="1444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30" b="0">
                <a:solidFill>
                  <a:srgbClr val="5D6878"/>
                </a:solidFill>
                <a:latin typeface="Aptos"/>
              </a:rPr>
              <a:t>locked action
action-aware text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39528" y="2450592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04704" y="1920240"/>
            <a:ext cx="1627632" cy="153619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96144" y="2130552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6  Validator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6144" y="2596896"/>
            <a:ext cx="1444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230" b="0">
                <a:solidFill>
                  <a:srgbClr val="5D6878"/>
                </a:solidFill>
                <a:latin typeface="Aptos"/>
              </a:rPr>
              <a:t>IR + contract
semantic lock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877056"/>
            <a:ext cx="3456432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096512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Persistent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535424"/>
            <a:ext cx="3054096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(session, counterparty) posterior; rejection frontier; old/new regime mixture.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877056"/>
            <a:ext cx="3456432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096512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Auditable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35424"/>
            <a:ext cx="3054096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belief → ranked candidates → selected ID → validation → public response → reward.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6" y="3877056"/>
            <a:ext cx="3456432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4096512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No hidden evaluator truth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4535424"/>
            <a:ext cx="3054096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Production variants never receive seller cost, utility weights or benchmark labels.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Core: negotiation/framework/  |  adapters: Simple_Env/buyer/ and AgenticPay_Env/buyer/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BELIEF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What the framework maintains—and what it does not assume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Durable preference is separated from strategic response behavior and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847088"/>
          <a:ext cx="1097279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052"/>
                <a:gridCol w="4042610"/>
                <a:gridCol w="5005136"/>
              </a:tblGrid>
              <a:tr h="570585">
                <a:tc>
                  <a:txBody>
                    <a:bodyPr/>
                    <a:lstStyle/>
                    <a:p>
                      <a:pPr algn="l">
                        <a:defRPr sz="13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State block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Maintained variables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update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 algn="l">
                        <a:defRPr sz="13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Preference θ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reservation interval; issue-option scores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formal offers + bounded semantic extraction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 algn="l">
                        <a:defRPr sz="13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Response φ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accept/counter/quit; patience; rejected frontier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observed formal responses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 algn="l">
                        <a:defRPr sz="13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Reliability ρ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preference and policy confidence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evidence count + source strength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0588">
                <a:tc>
                  <a:txBody>
                    <a:bodyPr/>
                    <a:lstStyle/>
                    <a:p>
                      <a:pPr algn="l">
                        <a:defRPr sz="13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Regime z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old/new mixture; change probability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opponent switch / behavioral shift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4956048"/>
            <a:ext cx="3310128" cy="74980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75504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Structured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14416"/>
            <a:ext cx="2907792" cy="-365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ACCEPT / REJECT / COUNTER dominate language claims.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4" y="4956048"/>
            <a:ext cx="3310128" cy="749808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5175504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Reliability gated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614416"/>
            <a:ext cx="2907792" cy="-365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Weak posteriors blend toward a broad safe prior.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4956048"/>
            <a:ext cx="3310128" cy="749808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5175504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Causal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5614416"/>
            <a:ext cx="2907792" cy="-365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frozen / wrong / shuffled / oracle remain diagnostics.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Belief calibration is explanatory; native buyer utility remains the optimization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PLANNER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Decision boundaries that can change reward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The planner controls probe, concession frontier and accept / continue—not just prompt wording.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10512"/>
            <a:ext cx="10771632" cy="822960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10241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Aptos"/>
              </a:rPr>
              <a:t>Q(a) = P(agreement | a, b) · Ubuyer(a) + information value − quit / timeout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907792"/>
            <a:ext cx="3328416" cy="193852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27248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Probe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566160"/>
            <a:ext cx="2926080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Probe only when uncertainty is decision-relevant, buyer utility stays safe, and enough horizon remains.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907792"/>
            <a:ext cx="3328416" cy="1938528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3127248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Concession frontier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566160"/>
            <a:ext cx="2926080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Do not repeat a formally rejected region when a feasible successor has better response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907792"/>
            <a:ext cx="3328416" cy="193852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3127248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Terminal accept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3566160"/>
            <a:ext cx="2926080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Compare guaranteed IR seller proposal with conservative counter EV after repeated failure / near deadline.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66360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E46D5D"/>
                </a:solidFill>
                <a:latin typeface="Aptos"/>
              </a:rPr>
              <a:t>Renderer invariant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5138928"/>
            <a:ext cx="8732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40" b="1">
                <a:solidFill>
                  <a:srgbClr val="10192D"/>
                </a:solidFill>
                <a:latin typeface="Aptos"/>
              </a:rPr>
              <a:t>OFFER says propose  •  ACCEPT matches the exact outstanding package  •  validator repairs mismatch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Training is deferred until real reward-backed labels exist; synthetic oracle gain is not enough.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Frozen buyer-only protocol and primary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All formal comparisons use fixed sellers and matched scenario/task clusters.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828800"/>
          <a:ext cx="10771631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120"/>
                <a:gridCol w="3091857"/>
                <a:gridCol w="2593170"/>
                <a:gridCol w="2094484"/>
              </a:tblGrid>
              <a:tr h="615696">
                <a:tc>
                  <a:txBody>
                    <a:bodyPr/>
                    <a:lstStyle/>
                    <a:p>
                      <a:pPr algn="l">
                        <a:defRPr sz="14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Environment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Formal coverage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metric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 unit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615696">
                <a:tc>
                  <a:txBody>
                    <a:bodyPr/>
                    <a:lstStyle/>
                    <a:p>
                      <a:pPr algn="l">
                        <a:defRPr sz="14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Simple / AmazonHistoryPrice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128 scenarios × 3 rollouts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native reward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615696">
                <a:tc>
                  <a:txBody>
                    <a:bodyPr/>
                    <a:lstStyle/>
                    <a:p>
                      <a:pPr algn="l">
                        <a:defRPr sz="14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AgenticPay single28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28 tasks × 3 seeds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buyer score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6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3995928"/>
            <a:ext cx="3310128" cy="129844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15384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Promotion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54296"/>
            <a:ext cx="2907792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Paired bootstrap 95% CI after averaging rollouts/seeds inside each cluster.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4" y="3995928"/>
            <a:ext cx="3310128" cy="1298448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4215384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Explanatory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654296"/>
            <a:ext cx="2907792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deal, timeout, IR, action mismatch, accept availability, calibration and action flip.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3995928"/>
            <a:ext cx="3310128" cy="129844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4215384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Resource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4654296"/>
            <a:ext cx="2907792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Local Qwen3-30B services on GPU1 / GPU2 only; seller and scorer unchanged.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Every iteration stores hypothesis, before/after source, exact commands, raw trajectories and result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SIMPLE 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Formal full evaluation: a credible positive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128 scenarios × 3 rollouts; native reward; fixed seller; task changes only the buyer.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828800"/>
          <a:ext cx="665683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684"/>
                <a:gridCol w="1550221"/>
                <a:gridCol w="2370926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Buyer variant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reward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Reading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Direct prompt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0.0961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70.1% zero reward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CoT prompt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0.4065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strong prompt baseline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Legacy full framework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0.4464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same-run anchor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Universal V5.9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0.4981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best frozen mechanism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Universal V6.3 AWR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0.5130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best point estimate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79792" y="1828800"/>
          <a:ext cx="407822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795"/>
                <a:gridCol w="2474428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Paired contrast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Δ reward [95% CI]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V6.3 − CoT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+0.1066  [+0.0581,+0.1560]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V6.3 − Full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+0.0666  [+0.0203,+0.1118]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V6.3 − V5.9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+0.0149  [−0.0296,+0.0589]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V6.3 − oracle envelope*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+0.0060  [−0.0390,+0.0501]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Conclusion: V6.3 beats each single CoT/full baseline, but not V5.9 or the per-scenario best envelope significantly.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AGENTICPAY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Formal initial evaluation: the universal variants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28 tasks × 3 seeds; official buyer score; native fixed seller.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828800"/>
          <a:ext cx="6400797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961"/>
                <a:gridCol w="1433014"/>
                <a:gridCol w="1146411"/>
                <a:gridCol w="1146411"/>
              </a:tblGrid>
              <a:tr h="542544">
                <a:tc>
                  <a:txBody>
                    <a:bodyPr/>
                    <a:lstStyle/>
                    <a:p>
                      <a:pPr algn="l">
                        <a:defRPr sz="14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Buyer variant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BuyerScore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Deal Rate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Timeout Rate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defRPr sz="141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Direct prompt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32.953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90.5%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9.5%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defRPr sz="141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CoT prompt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31.720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90.5%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9.5%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defRPr sz="141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Legacy full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21.311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90.5%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9.5%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defRPr sz="141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Universal V1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15.731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81.0%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19.0%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defRPr sz="141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Universal V2 AWR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18.177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94.0%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1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6.0%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60336" y="1828800"/>
          <a:ext cx="429768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377440"/>
              </a:tblGrid>
              <a:tr h="65105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Verified diagnostic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65105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V1 OFFER says ACCEPT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865 / 977 turns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65105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V2 OFFER says ACCEPT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502 / 591 turns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65105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V2 − CoT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−13.542  CI [−25.867,−1.782]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651056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V2 − V1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+2.447  CI [−6.435,+10.621]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1792" y="5230368"/>
            <a:ext cx="109362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5358384"/>
            <a:ext cx="19385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30" b="1">
                <a:solidFill>
                  <a:srgbClr val="3578C6"/>
                </a:solidFill>
                <a:latin typeface="Aptos"/>
              </a:rPr>
              <a:t>Metric meanings /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03520"/>
            <a:ext cx="8503920" cy="8321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0192D"/>
                </a:solidFill>
                <a:latin typeface="Aptos"/>
              </a:rPr>
              <a:t>• BuyerScore: discounted buyer utility, ≈ γ^(t−1)[10 + 80r_b + 10]; r_b=(B−P)/(B−C) for price-only or U_b/Z_max for contracts; infeasible/no-deal = −15[1−γ^(t−1)].
• Deal Rate: valid agreements / all episodes.
• Timeout Rate: episodes reaching max rounds without a valid agreement / all episodes.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129284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1292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ITERATION 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Protocol correctness helps—but does not beat strong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V3 changes only action-aware rendering and semantic validation; belief and planner remain V1.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5120640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1783080"/>
              </a:tblGrid>
              <a:tr h="545592">
                <a:tc>
                  <a:txBody>
                    <a:bodyPr/>
                    <a:lstStyle/>
                    <a:p>
                      <a:pPr algn="l">
                        <a:defRPr sz="14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Same 8-task × 3-seed subset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Buyer score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>
                        <a:defRPr sz="14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Direct prompt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50.079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>
                        <a:defRPr sz="14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CoT prompt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45.963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>
                        <a:defRPr sz="14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Legacy full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34.689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>
                        <a:defRPr sz="14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V1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19.759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algn="l">
                        <a:defRPr sz="14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V3 action-consistent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33.132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53328" y="1828800"/>
            <a:ext cx="2615184" cy="129844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2048256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Action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487168"/>
            <a:ext cx="2212848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V1  158 / 177
V3  0 / 329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24544" y="1828800"/>
            <a:ext cx="2615184" cy="1298448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2048256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Agreement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87168"/>
            <a:ext cx="2212848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Deal 62.5%
Timeout 37.5%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3401568"/>
            <a:ext cx="2615184" cy="129844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3621024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V3 −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4059935"/>
            <a:ext cx="221284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+13.37
CI [−7.92,+39.92]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3401568"/>
            <a:ext cx="2615184" cy="1298448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3621024"/>
            <a:ext cx="22128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V3 − 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059935"/>
            <a:ext cx="221284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−16.95
CI [−53.54,+22.28]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236 acceptable seller proposals appeared; only 12 were selected, with 53 late deferrals → planner boundary is the next target.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129284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1292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ITERATION 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Proposal-backed terminal guard: first causal 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Only the accept / continue ranking changes; belief, candidates, renderer, seller and scorer stay frozen.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28800"/>
          <a:ext cx="6784847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988"/>
                <a:gridCol w="1375307"/>
                <a:gridCol w="2475552"/>
              </a:tblGrid>
              <a:tr h="57607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Task4 / seed 20260817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V3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V4 terminal guard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Buyer score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−2.731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52.263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Agreement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Rounds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Contract IR violation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Selected event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repeat counter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accept exact seller package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35824" y="1828800"/>
            <a:ext cx="3730752" cy="129844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2048256"/>
            <a:ext cx="3328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Guard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487168"/>
            <a:ext cx="3328416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Turn 13 • repeated formal failures • complete public proposal • buyer IR 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3401568"/>
            <a:ext cx="3730752" cy="1298448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3621024"/>
            <a:ext cx="3328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Formal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059935"/>
            <a:ext cx="3328416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Smoke only. Dev has 6 / 24 records saved; no aggregate claim until completion.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The guard is environment-independent: guaranteed accept value is compared with conservative counter expected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A coherent story after Opponent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Our claim is cross-environment state abstraction plus auditable action use—not more rollouts.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" y="1828800"/>
          <a:ext cx="1097279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081"/>
                <a:gridCol w="3954162"/>
                <a:gridCol w="5041556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Opponent Simulation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Our framework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Opponent state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auxiliary LLM simulator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θ utility + φ policy + ρ + regime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candidate rollout search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legal candidate EV + probe/frontier/accept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Cost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many LLM calls per action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structured core; bounded semantic calls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Transfer unit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game-specific simulator/prompt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canonical state + thin adapter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Audit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mostly payoff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4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reward + calibration + wrong/shuffled/oracle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Novelty is earned only if one frozen core improves buyer utility in Simple, AgenticPay and compatibility tests—not by environment-specific tuning.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Reward-first iteration and final evidence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Each iteration changes one mechanism, preserves trajectories and returns to both full environments.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847088"/>
            <a:ext cx="2075688" cy="1920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2011680"/>
            <a:ext cx="530352" cy="310896"/>
          </a:xfrm>
          <a:prstGeom prst="roundRect">
            <a:avLst/>
          </a:prstGeom>
          <a:solidFill>
            <a:srgbClr val="3578C6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20824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020824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487168"/>
            <a:ext cx="18013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10" b="1">
                <a:solidFill>
                  <a:srgbClr val="1D2738"/>
                </a:solidFill>
                <a:latin typeface="Aptos"/>
              </a:rPr>
              <a:t>Finish V4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944368"/>
            <a:ext cx="18013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D6878"/>
                </a:solidFill>
                <a:latin typeface="Aptos"/>
              </a:rPr>
              <a:t>8 tasks × 3 seeds
paired buyer score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06040" y="2596896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52928" y="1847088"/>
            <a:ext cx="2075688" cy="1920240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8376" y="2011680"/>
            <a:ext cx="530352" cy="310896"/>
          </a:xfrm>
          <a:prstGeom prst="roundRect">
            <a:avLst/>
          </a:prstGeom>
          <a:solidFill>
            <a:srgbClr val="7A63B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2020824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7A63B8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020824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2487168"/>
            <a:ext cx="18013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10" b="1">
                <a:solidFill>
                  <a:srgbClr val="1D2738"/>
                </a:solidFill>
                <a:latin typeface="Aptos"/>
              </a:rPr>
              <a:t>Core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2944368"/>
            <a:ext cx="18013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D6878"/>
                </a:solidFill>
                <a:latin typeface="Aptos"/>
              </a:rPr>
              <a:t>behavioral frontier
issue tradeoff posterior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65192" y="2596896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2080" y="1847088"/>
            <a:ext cx="2075688" cy="1920240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67528" y="2011680"/>
            <a:ext cx="530352" cy="310896"/>
          </a:xfrm>
          <a:prstGeom prst="roundRect">
            <a:avLst/>
          </a:prstGeom>
          <a:solidFill>
            <a:srgbClr val="F39C3D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8" y="2020824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39C3D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2020824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487168"/>
            <a:ext cx="18013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10" b="1">
                <a:solidFill>
                  <a:srgbClr val="1D2738"/>
                </a:solidFill>
                <a:latin typeface="Aptos"/>
              </a:rPr>
              <a:t>Simple transfer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944368"/>
            <a:ext cx="18013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D6878"/>
                </a:solidFill>
                <a:latin typeface="Aptos"/>
              </a:rPr>
              <a:t>validation40 × 3
no seller change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324344" y="2596896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71232" y="1847088"/>
            <a:ext cx="2075688" cy="1920240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26680" y="2011680"/>
            <a:ext cx="530352" cy="310896"/>
          </a:xfrm>
          <a:prstGeom prst="roundRect">
            <a:avLst/>
          </a:prstGeom>
          <a:solidFill>
            <a:srgbClr val="1EA89A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2020824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EA89A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2020824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2487168"/>
            <a:ext cx="18013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10" b="1">
                <a:solidFill>
                  <a:srgbClr val="1D2738"/>
                </a:solidFill>
                <a:latin typeface="Aptos"/>
              </a:rPr>
              <a:t>AgenticPay breadth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2944368"/>
            <a:ext cx="18013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D6878"/>
                </a:solidFill>
                <a:latin typeface="Aptos"/>
              </a:rPr>
              <a:t>single28 → 1×2 / 2×2
contract IR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683496" y="2596896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30384" y="1847088"/>
            <a:ext cx="2075688" cy="1920240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85832" y="2011680"/>
            <a:ext cx="530352" cy="310896"/>
          </a:xfrm>
          <a:prstGeom prst="roundRect">
            <a:avLst/>
          </a:prstGeom>
          <a:solidFill>
            <a:srgbClr val="E46D5D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85832" y="2020824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46D5D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5832" y="2020824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67544" y="2487168"/>
            <a:ext cx="18013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10" b="1">
                <a:solidFill>
                  <a:srgbClr val="1D2738"/>
                </a:solidFill>
                <a:latin typeface="Aptos"/>
              </a:rPr>
              <a:t>Final freeze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7544" y="2944368"/>
            <a:ext cx="18013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140" b="0">
                <a:solidFill>
                  <a:srgbClr val="5D6878"/>
                </a:solidFill>
                <a:latin typeface="Aptos"/>
              </a:rPr>
              <a:t>Simple128 × 3
AgenticPay28 ×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114800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4334256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Promotion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4773168"/>
            <a:ext cx="3054096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Mean &gt; legacy full; paired CI and task coverage reported; no IR regression.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0832" y="4114800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334256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Training trigger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773168"/>
            <a:ext cx="3054096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Only after real trajectory reward labels: conservative offline RL / AWR with base fallback.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83296" y="4114800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4" y="4334256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Final baselines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4773168"/>
            <a:ext cx="3054096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Direct, CoT, legacy full, best universal, wrong/shuffled belief; OS where applicable.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Target result: positive buyer-utility delta in both Simple and AgenticPay with one frozen planner/belief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812</Words>
  <Application>Microsoft Office PowerPoint</Application>
  <PresentationFormat>宽屏</PresentationFormat>
  <Paragraphs>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Decision-Calibrated Belief-to-Action Planning for LLM Negotiation</dc:title>
  <dc:subject>Benchmarks, related work, novelty and experiment plan</dc:subject>
  <dc:creator>Negotiation Belief–Planner Project</dc:creator>
  <cp:keywords/>
  <dc:description>Generated as a fully editable English research deck. Tables are native PowerPoint tables.</dc:description>
  <cp:lastModifiedBy>淇心 谭</cp:lastModifiedBy>
  <cp:revision>2</cp:revision>
  <dcterms:created xsi:type="dcterms:W3CDTF">2013-01-27T09:14:16Z</dcterms:created>
  <dcterms:modified xsi:type="dcterms:W3CDTF">2026-08-07T19:48:00Z</dcterms:modified>
  <cp:category/>
</cp:coreProperties>
</file>