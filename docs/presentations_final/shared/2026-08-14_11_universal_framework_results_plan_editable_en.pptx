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1" r:id="rId2"/>
    <p:sldId id="256" r:id="rId3"/>
    <p:sldId id="282" r:id="rId4"/>
    <p:sldId id="283" r:id="rId5"/>
    <p:sldId id="284" r:id="rId6"/>
    <p:sldId id="260" r:id="rId7"/>
    <p:sldId id="261" r:id="rId8"/>
    <p:sldId id="285" r:id="rId10"/>
    <p:sldId id="286" r:id="rId9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69" y="3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7360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/>
          <p:cNvSpPr txBox="1"/>
          <p:nvPr/>
        </p:nvSpPr>
        <p:spPr>
          <a:xfrm>
            <a:off x="61000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</a:rPr>
              <a:t>Decision-Calibrated Belief-to-Action Planning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10000" y="1809878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Our exploration of OpenReview identified several 2026 studies that apply continuous opponent modeling to negotiation tasks. This overlap reduces the novelty of our work.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B556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</a:rPr>
              <a:t>Explorations on benchmark: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LLM-Deliberation</a:t>
            </a:r>
            <a:r>
              <a:rPr lang="zh-CN" altLang="zh-CN" sz="2000" dirty="0"/>
              <a:t> is a well-known benchmark proposed at NeurIPS 2024 (currently with 154 citations). However, recent studies have shown that the negotiation process in this benchmark is not truly meaningful.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NegotiationArena</a:t>
            </a:r>
            <a:r>
              <a:rPr lang="zh-CN" altLang="zh-CN" sz="2000" dirty="0"/>
              <a:t> can be regarded as a simplified version of </a:t>
            </a:r>
            <a:r>
              <a:rPr lang="zh-CN" altLang="zh-CN" sz="2000" b="1" dirty="0"/>
              <a:t>SimpleEnv/AmazonHistoryPrice</a:t>
            </a:r>
            <a:r>
              <a:rPr lang="zh-CN" altLang="zh-CN" sz="2000" dirty="0"/>
              <a:t> (the environment we tested previously), while still allowing for direct comparisons with existing baselines.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The </a:t>
            </a:r>
            <a:r>
              <a:rPr lang="zh-CN" altLang="zh-CN" sz="2000" b="1" dirty="0"/>
              <a:t>ACL benchmark</a:t>
            </a:r>
            <a:r>
              <a:rPr lang="zh-CN" altLang="zh-CN" sz="2000" dirty="0"/>
              <a:t> uses the </a:t>
            </a:r>
            <a:r>
              <a:rPr lang="zh-CN" altLang="zh-CN" sz="2000" b="1" dirty="0"/>
              <a:t>alternating-offers protocol</a:t>
            </a:r>
            <a:r>
              <a:rPr lang="zh-CN" altLang="zh-CN" sz="2000" dirty="0"/>
              <a:t> for negotiation. It can serve as a benchmark for evaluating </a:t>
            </a:r>
            <a:r>
              <a:rPr lang="zh-CN" altLang="zh-CN" sz="2000" b="1" dirty="0"/>
              <a:t>posterior calibration</a:t>
            </a:r>
            <a:r>
              <a:rPr lang="zh-CN" altLang="zh-CN" sz="2000" dirty="0"/>
              <a:t>, but it is not ideal as the primary benchmark because it does not involve natural language.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altLang="zh-CN" sz="3200" dirty="0"/>
              <a:t>Opponent Simulation</a:t>
            </a:r>
            <a:endParaRPr lang="en-US" sz="3200" b="1" dirty="0">
              <a:solidFill>
                <a:srgbClr val="1C2B44"/>
              </a:solidFill>
              <a:latin typeface="Aptos"/>
            </a:endParaRPr>
          </a:p>
        </p:txBody>
      </p:sp>
      <p:sp>
        <p:nvSpPr>
          <p:cNvPr id="4" name="Shape 4"/>
          <p:cNvSpPr txBox="1"/>
          <p:nvPr/>
        </p:nvSpPr>
        <p:spPr>
          <a:xfrm>
            <a:off x="502920" y="879939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4D43B2-AAB5-AAF9-BFA4-B8772C233A53}"/>
              </a:ext>
            </a:extLst>
          </p:cNvPr>
          <p:cNvSpPr txBox="1"/>
          <p:nvPr/>
        </p:nvSpPr>
        <p:spPr>
          <a:xfrm>
            <a:off x="435428" y="1125894"/>
            <a:ext cx="103756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sz="2400" dirty="0"/>
              <a:t>Scaling Inference-Time Computation via Opponent Simulation: Enabling Online</a:t>
            </a:r>
            <a:br>
              <a:rPr lang="zh-CN" altLang="zh-CN" sz="2400" dirty="0"/>
            </a:br>
            <a:r>
              <a:rPr lang="zh-CN" altLang="zh-CN" sz="2400" dirty="0"/>
              <a:t>Strategic Adaptation in Repeated Negotiation</a:t>
            </a:r>
            <a:r>
              <a:rPr lang="en-US" altLang="zh-CN" sz="2400" dirty="0"/>
              <a:t>(ICML2026 Regular): continuous-update belief and belief-usable planner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Use negotiation trajectories to train an auxiliary LLM.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Use auxiliary LLM to simulate the actions of the opponent.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Let the current agent generate several candidate messages.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For each candidate message, continue the rollout with the simulated opponent.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Choose the candidate with the best expected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DFBA6-379D-D4A6-2347-47725C9BC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F018AEDD-580B-0327-990A-F03ECE4037FE}"/>
              </a:ext>
            </a:extLst>
          </p:cNvPr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zh-CN" altLang="zh-CN" sz="3200" dirty="0"/>
              <a:t>Opponent Simulation</a:t>
            </a:r>
            <a:endParaRPr lang="en-US" sz="3200" b="1" dirty="0">
              <a:solidFill>
                <a:srgbClr val="1C2B44"/>
              </a:solidFill>
              <a:latin typeface="Aptos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04A45A8-8038-3176-AC39-E1C43971BE69}"/>
              </a:ext>
            </a:extLst>
          </p:cNvPr>
          <p:cNvSpPr txBox="1"/>
          <p:nvPr/>
        </p:nvSpPr>
        <p:spPr>
          <a:xfrm>
            <a:off x="502920" y="879939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4F860CF-2925-121A-A88A-DB499F02EEDB}"/>
              </a:ext>
            </a:extLst>
          </p:cNvPr>
          <p:cNvSpPr txBox="1"/>
          <p:nvPr/>
        </p:nvSpPr>
        <p:spPr>
          <a:xfrm>
            <a:off x="435428" y="1125894"/>
            <a:ext cx="1037564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This Opponent Simulation used the auxiliary LLM to simulate the opponents through the process and continuous updated it, which overlaps with our work much.</a:t>
            </a:r>
          </a:p>
          <a:p>
            <a:r>
              <a:rPr lang="en-US" altLang="zh-CN" sz="2400" dirty="0"/>
              <a:t>	However, this method uses a lot of cost and can only simulate simple fixed model on simple environment(Negotiation Arena with single buyer single seller). Our method can focus on a universal </a:t>
            </a:r>
            <a:r>
              <a:rPr lang="zh-CN" altLang="zh-CN" sz="2400" dirty="0"/>
              <a:t>calibrated posterior</a:t>
            </a:r>
            <a:r>
              <a:rPr lang="en-US" altLang="zh-CN" sz="2400" dirty="0"/>
              <a:t> that can be adaptive to opponents with different characters, irrational behaviors, and how can the planner get decision values from the belief.</a:t>
            </a:r>
          </a:p>
          <a:p>
            <a:r>
              <a:rPr lang="en-US" altLang="zh-CN" sz="2400" dirty="0"/>
              <a:t>	I have already done a quick comparison on </a:t>
            </a:r>
            <a:r>
              <a:rPr lang="en-US" altLang="zh-CN" sz="2400" dirty="0" err="1"/>
              <a:t>NegotiationArena</a:t>
            </a:r>
            <a:r>
              <a:rPr lang="en-US" altLang="zh-CN" sz="2400" dirty="0"/>
              <a:t>, but the experiment still not finished.</a:t>
            </a:r>
            <a:br>
              <a:rPr lang="zh-CN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434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6512D-AE4E-F553-FEAC-23C074A7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D8C07517-6D4F-4266-9FFC-F21C8394A803}"/>
              </a:ext>
            </a:extLst>
          </p:cNvPr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wrap="square" lIns="91440" tIns="45720" rIns="91440" bIns="45720"/>
          <a:lstStyle/>
          <a:p>
            <a:r>
              <a:rPr lang="en-US" altLang="zh-CN" sz="3200" dirty="0"/>
              <a:t>Other exists works</a:t>
            </a:r>
            <a:endParaRPr lang="en-US" sz="3200" b="1" dirty="0">
              <a:solidFill>
                <a:srgbClr val="1C2B44"/>
              </a:solidFill>
              <a:latin typeface="Aptos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7AFD5C8-A691-E9DA-F373-1576A1914C1C}"/>
              </a:ext>
            </a:extLst>
          </p:cNvPr>
          <p:cNvSpPr txBox="1"/>
          <p:nvPr/>
        </p:nvSpPr>
        <p:spPr>
          <a:xfrm>
            <a:off x="502920" y="879939"/>
            <a:ext cx="11155680" cy="18288"/>
          </a:xfrm>
          <a:prstGeom prst="rect">
            <a:avLst/>
          </a:prstGeom>
          <a:solidFill>
            <a:srgbClr val="CED8E4"/>
          </a:solidFill>
          <a:ln>
            <a:noFill/>
          </a:ln>
        </p:spPr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6679E9-F72A-FC45-DA42-4820AF7895CC}"/>
              </a:ext>
            </a:extLst>
          </p:cNvPr>
          <p:cNvSpPr txBox="1"/>
          <p:nvPr/>
        </p:nvSpPr>
        <p:spPr>
          <a:xfrm>
            <a:off x="435428" y="1125894"/>
            <a:ext cx="1037564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MIND(ICLR2026</a:t>
            </a:r>
            <a:r>
              <a:rPr lang="zh-CN" altLang="en-US" sz="2400" dirty="0"/>
              <a:t> </a:t>
            </a:r>
            <a:r>
              <a:rPr lang="en-US" altLang="zh-CN" sz="2400" dirty="0"/>
              <a:t>workshop</a:t>
            </a:r>
            <a:r>
              <a:rPr lang="zh-CN" altLang="en-US" sz="2400" dirty="0"/>
              <a:t> </a:t>
            </a:r>
            <a:r>
              <a:rPr lang="en-US" altLang="zh-CN" sz="2400" dirty="0"/>
              <a:t>HCAIR): infer willingness on multi-agent travel planning.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HAR(LLA2026 poster): </a:t>
            </a:r>
            <a:r>
              <a:rPr lang="zh-CN" altLang="zh-CN" sz="2400" dirty="0"/>
              <a:t>hierarchical planning</a:t>
            </a:r>
            <a:r>
              <a:rPr lang="en-US" altLang="zh-CN" sz="2400" dirty="0"/>
              <a:t> on negotiation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GENEGO</a:t>
            </a:r>
            <a:r>
              <a:rPr lang="en-US" altLang="zh-CN" sz="2400" dirty="0"/>
              <a:t>(</a:t>
            </a:r>
            <a:r>
              <a:rPr lang="zh-CN" altLang="zh-CN" sz="2400" dirty="0"/>
              <a:t>ICML 2026 AgenticUQ Workshop</a:t>
            </a:r>
            <a:r>
              <a:rPr lang="en-US" altLang="zh-CN" sz="2400" dirty="0"/>
              <a:t>): structured memory and pairwise preference inference on </a:t>
            </a:r>
            <a:r>
              <a:rPr lang="en-US" altLang="zh-CN" sz="2400" dirty="0" err="1"/>
              <a:t>CaSiNo</a:t>
            </a:r>
            <a:r>
              <a:rPr lang="en-US" altLang="zh-CN" sz="2400" dirty="0"/>
              <a:t> environment. Can be tested as a new baseline</a:t>
            </a:r>
            <a:br>
              <a:rPr lang="zh-CN" altLang="zh-CN" dirty="0"/>
            </a:b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3BD882F-4328-7ADC-4218-78078B608DF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680301"/>
          <a:ext cx="8229600" cy="36576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15972333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700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07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5C98-28AA-B13A-AC8E-91BC258B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">
            <a:extLst>
              <a:ext uri="{FF2B5EF4-FFF2-40B4-BE49-F238E27FC236}">
                <a16:creationId xmlns:a16="http://schemas.microsoft.com/office/drawing/2014/main" id="{2D8F55B6-E5F4-566D-6A5E-5CCB34D2CC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F8FD075-4201-48C8-BAA8-D5D7DA6F5394}"/>
              </a:ext>
            </a:extLst>
          </p:cNvPr>
          <p:cNvSpPr txBox="1"/>
          <p:nvPr/>
        </p:nvSpPr>
        <p:spPr>
          <a:xfrm>
            <a:off x="610000" y="329184"/>
            <a:ext cx="110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</a:rPr>
              <a:t>Benchmarks Exploration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829E3EC-5E20-90C0-DB2B-D0B1756CDBA0}"/>
              </a:ext>
            </a:extLst>
          </p:cNvPr>
          <p:cNvSpPr txBox="1"/>
          <p:nvPr/>
        </p:nvSpPr>
        <p:spPr>
          <a:xfrm>
            <a:off x="610000" y="1809878"/>
            <a:ext cx="108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From the exploration on </a:t>
            </a:r>
            <a:r>
              <a:rPr lang="en-US" altLang="zh-CN" sz="2400" dirty="0" err="1"/>
              <a:t>openreview</a:t>
            </a:r>
            <a:r>
              <a:rPr lang="en-US" altLang="zh-CN" sz="2400" dirty="0"/>
              <a:t>, our result on </a:t>
            </a:r>
            <a:r>
              <a:rPr lang="en-US" altLang="zh-CN" sz="2400" dirty="0" err="1"/>
              <a:t>AmazonHistoryPrice</a:t>
            </a:r>
            <a:r>
              <a:rPr lang="en-US" altLang="zh-CN" sz="2400" dirty="0"/>
              <a:t>(which is called simple env in before slides) and </a:t>
            </a:r>
            <a:r>
              <a:rPr lang="en-US" altLang="zh-CN" sz="2400" dirty="0" err="1"/>
              <a:t>CaSiNo</a:t>
            </a:r>
            <a:r>
              <a:rPr lang="en-US" altLang="zh-CN" sz="2400" dirty="0"/>
              <a:t> can already be reasonable for a paper, but may require more design for novelty.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4B556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B5563"/>
                </a:solidFill>
              </a:rPr>
              <a:t>Explorations on benchmark: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LLM-Deliberation</a:t>
            </a:r>
            <a:r>
              <a:rPr lang="zh-CN" altLang="zh-CN" sz="2000" dirty="0"/>
              <a:t> is a well-known benchmark proposed at NeurIPS 2024 (currently with 154 citations). However, recent studies have shown that the negotiation process in this benchmark is not truly meaningful.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b="1" dirty="0"/>
              <a:t>NegotiationArena</a:t>
            </a:r>
            <a:r>
              <a:rPr lang="zh-CN" altLang="zh-CN" sz="2000" dirty="0"/>
              <a:t> can be regarded as a simplified version of </a:t>
            </a:r>
            <a:r>
              <a:rPr lang="zh-CN" altLang="zh-CN" sz="2000" b="1" dirty="0"/>
              <a:t>SimpleEnv/AmazonHistoryPrice</a:t>
            </a:r>
            <a:r>
              <a:rPr lang="zh-CN" altLang="zh-CN" sz="2000" dirty="0"/>
              <a:t> (the environment we tested previously), while still allowing for direct comparisons with existing baselines.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2000" dirty="0"/>
              <a:t>The </a:t>
            </a:r>
            <a:r>
              <a:rPr lang="zh-CN" altLang="zh-CN" sz="2000" b="1" dirty="0"/>
              <a:t>ACL benchmark</a:t>
            </a:r>
            <a:r>
              <a:rPr lang="zh-CN" altLang="zh-CN" sz="2000" dirty="0"/>
              <a:t> uses the </a:t>
            </a:r>
            <a:r>
              <a:rPr lang="zh-CN" altLang="zh-CN" sz="2000" b="1" dirty="0"/>
              <a:t>alternating-offers protocol</a:t>
            </a:r>
            <a:r>
              <a:rPr lang="zh-CN" altLang="zh-CN" sz="2000" dirty="0"/>
              <a:t> for negotiation. It can serve as a benchmark for evaluating </a:t>
            </a:r>
            <a:r>
              <a:rPr lang="zh-CN" altLang="zh-CN" sz="2000" b="1" dirty="0"/>
              <a:t>posterior calibration</a:t>
            </a:r>
            <a:r>
              <a:rPr lang="zh-CN" altLang="zh-CN" sz="2000" dirty="0"/>
              <a:t>, but it is not ideal as the primary benchmark because it does not involve natural language.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zh-CN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4B55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29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92D"/>
                </a:solidFill>
                <a:latin typeface="Aptos Display"/>
              </a:rPr>
              <a:t>NegotiationArena: simple tasks, essential direct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881360" cy="3566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D6878"/>
                </a:solidFill>
                <a:latin typeface="Aptos"/>
              </a:rPr>
              <a:t>Its value rises because Opponent Simulation uses a precise repeated-game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72768"/>
            <a:ext cx="1101852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878"/>
                </a:solidFill>
                <a:latin typeface="Aptos"/>
              </a:rPr>
              <a:t>05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6F709CB-C564-2991-5D74-6FC3155C6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" y="2656134"/>
            <a:ext cx="5626757" cy="256900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CB5B4FE-2265-DDBE-6ABC-86B9F4EAA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466" y="2656134"/>
            <a:ext cx="5605110" cy="2569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0192D"/>
                </a:solidFill>
                <a:latin typeface="Aptos Display"/>
              </a:rPr>
              <a:t>ANL: a clean mechanism test, not a language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881360" cy="27392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0" i="0" dirty="0">
                <a:solidFill>
                  <a:srgbClr val="5D6878"/>
                </a:solidFill>
                <a:latin typeface="Aptos"/>
              </a:rPr>
              <a:t>Can be regard as test for </a:t>
            </a:r>
            <a:r>
              <a:rPr lang="en-US" sz="1300" b="0" i="0" dirty="0" err="1">
                <a:solidFill>
                  <a:srgbClr val="5D6878"/>
                </a:solidFill>
                <a:latin typeface="Aptos"/>
              </a:rPr>
              <a:t>caliberation</a:t>
            </a:r>
            <a:r>
              <a:rPr lang="en-US" sz="1300" b="0" i="0" dirty="0">
                <a:solidFill>
                  <a:srgbClr val="5D6878"/>
                </a:solidFill>
                <a:latin typeface="Aptos"/>
              </a:rPr>
              <a:t> belief</a:t>
            </a:r>
            <a:endParaRPr sz="1300" b="0" i="0" dirty="0">
              <a:solidFill>
                <a:srgbClr val="5D6878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6072" y="1572768"/>
            <a:ext cx="11018520" cy="13716"/>
          </a:xfrm>
          <a:prstGeom prst="rect">
            <a:avLst/>
          </a:prstGeom>
          <a:solidFill>
            <a:srgbClr val="D7DEE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D6878"/>
                </a:solidFill>
                <a:latin typeface="Aptos"/>
              </a:rP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656463"/>
              </p:ext>
            </p:extLst>
          </p:nvPr>
        </p:nvGraphicFramePr>
        <p:xfrm>
          <a:off x="603504" y="1847088"/>
          <a:ext cx="10972798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46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8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1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4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League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Hidden information / structure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Best diagnostic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Paper role</a:t>
                      </a:r>
                    </a:p>
                  </a:txBody>
                  <a:tcPr marL="64008" marR="54864" marT="27432" marB="27432">
                    <a:solidFill>
                      <a:srgbClr val="1C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D2738"/>
                          </a:solidFill>
                          <a:latin typeface="Aptos"/>
                        </a:rPr>
                        <a:t>ANL 2024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Known utility shape; hidden reservation value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RV posterior, coverage, oracle regret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Calibration sanity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D2738"/>
                          </a:solidFill>
                          <a:latin typeface="Aptos"/>
                        </a:rPr>
                        <a:t>ANL 2025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Sequential one-to-many, multi-deal dependency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Continuation value and global planning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Planner mechanism</a:t>
                      </a:r>
                    </a:p>
                  </a:txBody>
                  <a:tcPr marL="64008" marR="54864" marT="27432" marB="27432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1D2738"/>
                          </a:solidFill>
                          <a:latin typeface="Aptos"/>
                        </a:rPr>
                        <a:t>ANL 2026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Unknown utility + reservation; concealment rewarded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1D2738"/>
                          </a:solidFill>
                          <a:latin typeface="Aptos"/>
                        </a:rPr>
                        <a:t>Exploration vs self-information leakage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 dirty="0">
                          <a:solidFill>
                            <a:srgbClr val="1D2738"/>
                          </a:solidFill>
                          <a:latin typeface="Aptos"/>
                        </a:rPr>
                        <a:t>Information-control stress</a:t>
                      </a:r>
                    </a:p>
                  </a:txBody>
                  <a:tcPr marL="64008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216152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2161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UPDATED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The evidence chain is now partially established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We can show an executable belief-to-action channel; learned belief quality remains the bottleneck.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874519"/>
            <a:ext cx="3493008" cy="2084831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2039112"/>
            <a:ext cx="914400" cy="310896"/>
          </a:xfrm>
          <a:prstGeom prst="roundRect">
            <a:avLst/>
          </a:prstGeom>
          <a:solidFill>
            <a:srgbClr val="3578C6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48255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048255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496312"/>
            <a:ext cx="30906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Belief 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935224"/>
            <a:ext cx="3090672" cy="8961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PARTIAL
Formal actions are reliable evidence. Strategic language and repeated counters do not uniquely reveal reservation utility.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874519"/>
            <a:ext cx="3493008" cy="2084831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35424" y="2039112"/>
            <a:ext cx="914400" cy="310896"/>
          </a:xfrm>
          <a:prstGeom prst="roundRect">
            <a:avLst/>
          </a:prstGeom>
          <a:solidFill>
            <a:srgbClr val="F39C3D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2048255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39C3D"/>
                </a:solidFill>
                <a:latin typeface="Aptos"/>
              </a:rPr>
              <a:t>RQ2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048255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496312"/>
            <a:ext cx="30906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Belief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935224"/>
            <a:ext cx="3090672" cy="8961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CONFIRMED
Preference interventions cause same-state candidate-ranking and action flips. Policy-only effects remain weak.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74519"/>
            <a:ext cx="3493008" cy="2084831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19" y="2039112"/>
            <a:ext cx="914400" cy="310896"/>
          </a:xfrm>
          <a:prstGeom prst="roundRect">
            <a:avLst/>
          </a:prstGeom>
          <a:solidFill>
            <a:srgbClr val="1EA89A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2048255"/>
            <a:ext cx="914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EA89A"/>
                </a:solidFill>
                <a:latin typeface="Aptos"/>
              </a:rPr>
              <a:t>RQ3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2048255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RQ3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496312"/>
            <a:ext cx="30906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Decision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935224"/>
            <a:ext cx="3090672" cy="89611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CONDITIONAL
Correct belief has oracle headroom and wins in selected roles, but learned continuous belief is not universally better than frozen/shuffled.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370832"/>
            <a:ext cx="102870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4572000"/>
            <a:ext cx="2148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578C6"/>
                </a:solidFill>
                <a:latin typeface="Aptos"/>
              </a:rPr>
              <a:t>Updated research 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517136"/>
            <a:ext cx="76809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192D"/>
                </a:solidFill>
                <a:latin typeface="Aptos"/>
              </a:rPr>
              <a:t>Build a canonical, reliability-gated belief state that an executable planner can causally use across heterogeneous negotiation protocols—and explicitly abstain when the trajectory is not identifiable.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Novelty must be supported by belief accuracy + action causality + decision value—not reward alone.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Current universal belief–planner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The same core consumes canonical states; only environment adapters know benchmark syntax.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" y="1920240"/>
            <a:ext cx="1627632" cy="1435608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40817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310" b="1">
                <a:solidFill>
                  <a:srgbClr val="1D2738"/>
                </a:solidFill>
                <a:latin typeface="Aptos"/>
              </a:rPr>
              <a:t>Environment 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140817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Canonical state
Exact own utility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57400" y="2423160"/>
            <a:ext cx="256032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40864" y="1920240"/>
            <a:ext cx="1627632" cy="1435608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2103120"/>
            <a:ext cx="140817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310" b="1">
                <a:solidFill>
                  <a:srgbClr val="1D2738"/>
                </a:solidFill>
                <a:latin typeface="Aptos"/>
              </a:rPr>
              <a:t>Public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2560320"/>
            <a:ext cx="140817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Formal action &gt; offer
&gt; bounded semantics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05072" y="2423160"/>
            <a:ext cx="256032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8536" y="1920240"/>
            <a:ext cx="1627632" cy="1435608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2103120"/>
            <a:ext cx="140817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310" b="1">
                <a:solidFill>
                  <a:srgbClr val="1D2738"/>
                </a:solidFill>
                <a:latin typeface="Aptos"/>
              </a:rPr>
              <a:t>Factorized belief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560320"/>
            <a:ext cx="140817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Preference θ
Policy φ • reliability • regime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52744" y="2423160"/>
            <a:ext cx="256032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7" y="1920240"/>
            <a:ext cx="1627632" cy="143560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103120"/>
            <a:ext cx="140817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310" b="1">
                <a:solidFill>
                  <a:srgbClr val="1D2738"/>
                </a:solidFill>
                <a:latin typeface="Aptos"/>
              </a:rPr>
              <a:t>Candidate 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2560320"/>
            <a:ext cx="140817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Exploit • probe
safe • fallback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00415" y="2423160"/>
            <a:ext cx="256032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3879" y="1920240"/>
            <a:ext cx="1627632" cy="1435608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7" y="2103120"/>
            <a:ext cx="140817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310" b="1">
                <a:solidFill>
                  <a:srgbClr val="1D2738"/>
                </a:solidFill>
                <a:latin typeface="Aptos"/>
              </a:rPr>
              <a:t>Belief-usable 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2560320"/>
            <a:ext cx="140817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Payoff • risk • IG
continuation • frontier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848088" y="2423160"/>
            <a:ext cx="256032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131551" y="1920240"/>
            <a:ext cx="1627632" cy="1435608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79" y="2103120"/>
            <a:ext cx="1408176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310" b="1">
                <a:solidFill>
                  <a:srgbClr val="1D2738"/>
                </a:solidFill>
                <a:latin typeface="Aptos"/>
              </a:rPr>
              <a:t>Action 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79" y="2560320"/>
            <a:ext cx="140817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Structured decision
Language realization only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3822191"/>
            <a:ext cx="34564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041648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Counterparty-scoped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480560"/>
            <a:ext cx="3054096" cy="539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Beliefs are keyed by session and counterparty; multi-seller evidence cannot leak across agents.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3822191"/>
            <a:ext cx="34564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041648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Reliability-gated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480560"/>
            <a:ext cx="3054096" cy="539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An uncertain posterior is blended with a conservative protocol-local prior rather than trusted blindly.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9872" y="3822191"/>
            <a:ext cx="34564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041648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Auditable decision trace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480560"/>
            <a:ext cx="3054096" cy="53949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belief before/after → candidates → scores → locked action → response → reward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Core code: negotiation/framework/  |  adapters: Simple Env, AgenticPay, NegotiationArena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BELIEF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What survived trajectory-driven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The key modeling distinction is durable utility versus strategic response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847088"/>
            <a:ext cx="3383280" cy="3346704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66543"/>
            <a:ext cx="29809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Evidence hierarchy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05456"/>
            <a:ext cx="2980944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1  Formal ACCEPT / REJECT / COUNTER
2  Repeated formal offers and concessions
3  Contract-term changes
4  Natural-language claims such as ‘below cost’ or ‘final offer’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1104" y="1847088"/>
            <a:ext cx="3383280" cy="3346704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066543"/>
            <a:ext cx="29809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Factorized posterior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505456"/>
            <a:ext cx="2980944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Preference θ
reservation / issue utilities
Response policy φ
accept / counter / quit / patience
Reliability ρ
evidence strength and calibration
Regime z
old/new mixture and change probability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1847088"/>
            <a:ext cx="3639312" cy="3346704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1584" y="2066543"/>
            <a:ext cx="323697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Iteration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1584" y="2505456"/>
            <a:ext cx="3236976" cy="2560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✓ V5.4 strategic censoring retained
✓ V5.5 behavioral frontier retained
△ V5.9 is the performance candidate
✕ V6.0 response gate rejected
✕ V6.1 fixed weak coupling / probe rejected
Lesson: wide uncertainty is preferable to false precision when utility and aspiration are behaviorally confounded.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A rejection is response-policy evidence; it is not automatically a hard reservation-value lower bound.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Belief is executable—not appended as prompt decoration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Adapters enumerate feasible actions; the planner ranks them under exact focal utility and uncertain opponent response.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828800"/>
            <a:ext cx="10808208" cy="85039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037844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Score(a) = Pρ(agree | a,b) · Uself(a) + λt IG(a;b) + Vcontinuation(a) − Rquit(a)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017520"/>
            <a:ext cx="3364992" cy="1874519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36976"/>
            <a:ext cx="296265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Reliability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75887"/>
            <a:ext cx="2962656" cy="10881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Pρ = ρPb + (1−ρ)P0
Low-evidence beliefs cannot dominate the conservative adapter prior.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3017520"/>
            <a:ext cx="3364992" cy="1874519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3236976"/>
            <a:ext cx="296265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Behavioral frontier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675887"/>
            <a:ext cx="2962656" cy="10881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Do not repeat an unchanged offer inside a formally rejected region when a feasible successor exists.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3017520"/>
            <a:ext cx="3364992" cy="1874519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236976"/>
            <a:ext cx="296265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Action-locked realization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675887"/>
            <a:ext cx="2962656" cy="108813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The LLM verbalizes the selected price / bundle / contract; it cannot change structured fields.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230368"/>
            <a:ext cx="1353312" cy="310896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EE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239512"/>
            <a:ext cx="135331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7A63B8"/>
                </a:solidFill>
                <a:latin typeface="Aptos"/>
              </a:rPr>
              <a:t>CAUSAL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5230368"/>
            <a:ext cx="8412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50" b="1">
                <a:solidFill>
                  <a:srgbClr val="10192D"/>
                </a:solidFill>
                <a:latin typeface="Aptos"/>
              </a:rPr>
              <a:t>learned  •  frozen  •  wrong-confident  •  shuffled  •  oracle  •  no-cross-episode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A useful belief must change the right action—and improve utility relative to wrong or shuffled content.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389888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NEGOTIATIONARENA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Strict matched comparison: four focal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Qwen3-30B; each cell = 5 runs × 20 episodes. Values are focal reward; utility scales differ by game.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" y="1856231"/>
          <a:ext cx="10972796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2432"/>
                <a:gridCol w="1357459"/>
                <a:gridCol w="2149311"/>
                <a:gridCol w="2036189"/>
                <a:gridCol w="1300898"/>
                <a:gridCol w="1866507"/>
              </a:tblGrid>
              <a:tr h="515721">
                <a:tc>
                  <a:txBody>
                    <a:bodyPr/>
                    <a:lstStyle/>
                    <a:p>
                      <a:pPr algn="l"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Focal setting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Direct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Opponent Simulation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Our best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Δ vs OS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Reading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515721">
                <a:tc>
                  <a:txBody>
                    <a:bodyPr/>
                    <a:lstStyle/>
                    <a:p>
                      <a:pPr algn="l">
                        <a:defRPr sz="11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Buyer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7.77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12.76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V3.3  13.11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+0.35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Small lead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15721">
                <a:tc>
                  <a:txBody>
                    <a:bodyPr/>
                    <a:lstStyle/>
                    <a:p>
                      <a:pPr algn="l">
                        <a:defRPr sz="11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Seller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18.08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19.13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V3.3  16.95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−2.18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Below OS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15721">
                <a:tc>
                  <a:txBody>
                    <a:bodyPr/>
                    <a:lstStyle/>
                    <a:p>
                      <a:pPr algn="l">
                        <a:defRPr sz="11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Resource-first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12.34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40.57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V5  18.45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−22.12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Opening failure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15724">
                <a:tc>
                  <a:txBody>
                    <a:bodyPr/>
                    <a:lstStyle/>
                    <a:p>
                      <a:pPr algn="l">
                        <a:defRPr sz="11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Resource-second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9.75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11.88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V3.3  22.47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+10.59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Clear lead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4709160"/>
            <a:ext cx="3337560" cy="84124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4928616"/>
            <a:ext cx="293522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5367528"/>
            <a:ext cx="2935224" cy="548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Observed proposal → belief becomes decision-relevant.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4709160"/>
            <a:ext cx="3337560" cy="841248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4928616"/>
            <a:ext cx="293522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Failure 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5367528"/>
            <a:ext cx="2935224" cy="548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First-mover opening has no current-game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4709160"/>
            <a:ext cx="3337560" cy="841248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4928616"/>
            <a:ext cx="293522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Cost contrast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5367528"/>
            <a:ext cx="2935224" cy="548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Opponent Simulation uses up to ~10 LLM calls/action.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No global average is reported: price surplus and resource utility are on different scales.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389888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NEGOTIATIONARENA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Causal belief audit: what V8 did—and did not—prove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100 episodes per cell; preference θ and response policy φ are explicitly factorized.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7088"/>
          <a:ext cx="67208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/>
                <a:gridCol w="1260157"/>
                <a:gridCol w="1166812"/>
                <a:gridCol w="1260157"/>
                <a:gridCol w="1166812"/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Setting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V8 learned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Frozen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Shuffled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Oracle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Buyer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7.240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7.490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7.940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12.710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Seller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11.120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13.750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11.560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17.330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Resource-first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22.265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22.500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18.020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22.445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Resource-second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21.675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25.125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25.665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25.655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53527" y="1847088"/>
            <a:ext cx="3840480" cy="93268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54696" y="2066543"/>
            <a:ext cx="34381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Confirmed channel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4696" y="2505456"/>
            <a:ext cx="3438144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Resource-first: V8 − shuffled = +4.245. Preference content can change useful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3527" y="2935224"/>
            <a:ext cx="3840480" cy="932688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54696" y="3154680"/>
            <a:ext cx="34381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Oracle headroom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3593592"/>
            <a:ext cx="3438144" cy="1463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Buyer +5.47 and Seller +6.21 versus V8: correct reservation information is planner-usable.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53527" y="4023360"/>
            <a:ext cx="3840480" cy="932688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54696" y="4242816"/>
            <a:ext cx="343814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Not established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4696" y="4681728"/>
            <a:ext cx="3438144" cy="146303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Continuous &gt; frozen and policy φ utility are not consistently supported.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NegotiationArena validates the audit protocol—not a universal payoff-SOTA claim.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SIMPLE 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AmazonHistoryPrice: reward trend and calibration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Development results only. The validation40 and category-shift final64 splits remain untouched.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865376"/>
          <a:ext cx="5623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822960"/>
                <a:gridCol w="1965960"/>
              </a:tblGrid>
              <a:tr h="560070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Dev24 method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Reward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Deal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Comparison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Full framework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0.3947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.750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same-run anchor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Universal V5.4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0.4136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.583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+0.0189; CI crosses 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Universal V5.7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0.5073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.750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+0.1126 descriptive*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73952" y="1865376"/>
          <a:ext cx="5074917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971"/>
                <a:gridCol w="1014983"/>
                <a:gridCol w="1014983"/>
                <a:gridCol w="1217980"/>
              </a:tblGrid>
              <a:tr h="448056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Profile300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Reward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Coverage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V5.9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0.397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0.099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V6.0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0.381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0.120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V6.1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0.387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0.173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.88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Frozen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0.397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0.168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3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1.00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" y="4407408"/>
            <a:ext cx="3456432" cy="1005840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626864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Performance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5065776"/>
            <a:ext cx="3054096" cy="2194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V5.7 is the best complete dev24 reward, but was not rerun with full framework in the same batch.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4407408"/>
            <a:ext cx="3456432" cy="1005840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626864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Calibration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065776"/>
            <a:ext cx="3054096" cy="2194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V5.9 NL6 MAE 0.212 still trails frozen 0.188. Good reward does not prove a correct belief.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4407408"/>
            <a:ext cx="3456432" cy="1005840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4626864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Remaining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5065776"/>
            <a:ext cx="3054096" cy="219455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Original trained-Qwen reference reward = 0.7664; current universal method has not matched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*Cross-run descriptive comparison; the paired validation experiment is still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389888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TRAJECTORY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The central failure is behavioral non-identifiability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A short counter sequence can be explained by high utility or by low utility plus high strategic aspiration.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3794760" cy="3493008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039112"/>
            <a:ext cx="1481328" cy="310896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FB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48255"/>
            <a:ext cx="148132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46D5D"/>
                </a:solidFill>
                <a:latin typeface="Aptos"/>
              </a:rPr>
              <a:t>COUNTEREXAMPLE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42032"/>
            <a:ext cx="3246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D2738"/>
                </a:solidFill>
                <a:latin typeface="Aptos"/>
              </a:rPr>
              <a:t>automotive_0004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17520"/>
            <a:ext cx="24688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D6878"/>
                </a:solidFill>
                <a:latin typeface="Aptos"/>
              </a:rPr>
              <a:t>True seller cost / buyer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926080"/>
            <a:ext cx="777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2500" b="1">
                <a:solidFill>
                  <a:srgbClr val="E46D5D"/>
                </a:solidFill>
                <a:latin typeface="Aptos"/>
              </a:rPr>
              <a:t>0.317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529584"/>
            <a:ext cx="3246120" cy="135331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spcAft>
                <a:spcPts val="500"/>
              </a:spcAft>
              <a:defRPr sz="1220" b="0">
                <a:solidFill>
                  <a:srgbClr val="5D6878"/>
                </a:solidFill>
                <a:latin typeface="Aptos"/>
              </a:defRPr>
            </a:pPr>
            <a:r>
              <a:t>• Seller rejected profitable offers and publicly claimed ‘below cost’ / ‘final offer’.</a:t>
            </a:r>
          </a:p>
          <a:p>
            <a:pPr>
              <a:spcAft>
                <a:spcPts val="500"/>
              </a:spcAft>
              <a:defRPr sz="1220" b="0">
                <a:solidFill>
                  <a:srgbClr val="5D6878"/>
                </a:solidFill>
                <a:latin typeface="Aptos"/>
              </a:defRPr>
            </a:pPr>
            <a:r>
              <a:t>• The language claim conflicts with private evaluator truth.</a:t>
            </a:r>
          </a:p>
          <a:p>
            <a:pPr>
              <a:spcAft>
                <a:spcPts val="500"/>
              </a:spcAft>
              <a:defRPr sz="1220" b="0">
                <a:solidFill>
                  <a:srgbClr val="5D6878"/>
                </a:solidFill>
                <a:latin typeface="Aptos"/>
              </a:defRPr>
            </a:pPr>
            <a:r>
              <a:t>• Terminal acceptance often arrives before another belief-update turn.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1847088"/>
            <a:ext cx="6748272" cy="941832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83480" y="2020824"/>
            <a:ext cx="786384" cy="310896"/>
          </a:xfrm>
          <a:prstGeom prst="roundRect">
            <a:avLst/>
          </a:prstGeom>
          <a:solidFill>
            <a:srgbClr val="F39C3D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2029967"/>
            <a:ext cx="7863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39C3D"/>
                </a:solidFill>
                <a:latin typeface="Aptos"/>
              </a:rPr>
              <a:t>V5.9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029968"/>
            <a:ext cx="7863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V5.9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7608" y="2002536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D2738"/>
                </a:solidFill>
                <a:latin typeface="Aptos"/>
              </a:rPr>
              <a:t>readiness mixture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2002536"/>
            <a:ext cx="12984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F39C3D"/>
                </a:solidFill>
                <a:latin typeface="Aptos"/>
              </a:rPr>
              <a:t>mean 0.883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07608" y="2350008"/>
            <a:ext cx="51937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60" b="0">
                <a:solidFill>
                  <a:srgbClr val="5D6878"/>
                </a:solidFill>
                <a:latin typeface="Aptos"/>
              </a:rPr>
              <a:t>Reward signal; over-attribution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73168" y="2971800"/>
            <a:ext cx="6748272" cy="941832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83480" y="3145536"/>
            <a:ext cx="786384" cy="310896"/>
          </a:xfrm>
          <a:prstGeom prst="roundRect">
            <a:avLst/>
          </a:prstGeom>
          <a:solidFill>
            <a:srgbClr val="3578C6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3154679"/>
            <a:ext cx="7863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V6.0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3154680"/>
            <a:ext cx="7863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V6.0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7608" y="312724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D2738"/>
                </a:solidFill>
                <a:latin typeface="Aptos"/>
              </a:rPr>
              <a:t>reservation × aspiration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3127248"/>
            <a:ext cx="12984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3578C6"/>
                </a:solidFill>
                <a:latin typeface="Aptos"/>
              </a:rPr>
              <a:t>mean 0.748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7608" y="3474720"/>
            <a:ext cx="51937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60" b="0">
                <a:solidFill>
                  <a:srgbClr val="5D6878"/>
                </a:solidFill>
                <a:latin typeface="Aptos"/>
              </a:rPr>
              <a:t>Better response Brier; worse reward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73168" y="4096512"/>
            <a:ext cx="6748272" cy="941832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83480" y="4270248"/>
            <a:ext cx="786384" cy="310896"/>
          </a:xfrm>
          <a:prstGeom prst="roundRect">
            <a:avLst/>
          </a:prstGeom>
          <a:solidFill>
            <a:srgbClr val="7A63B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4279392"/>
            <a:ext cx="786384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7A63B8"/>
                </a:solidFill>
                <a:latin typeface="Aptos"/>
              </a:rPr>
              <a:t>V6.1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4279392"/>
            <a:ext cx="78638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V6.1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8" y="425196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D2738"/>
                </a:solidFill>
                <a:latin typeface="Aptos"/>
              </a:rPr>
              <a:t>censored utility + probe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4251960"/>
            <a:ext cx="12984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7A63B8"/>
                </a:solidFill>
                <a:latin typeface="Aptos"/>
              </a:rPr>
              <a:t>profile MAE 0.173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7608" y="4599432"/>
            <a:ext cx="519379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160" b="0">
                <a:solidFill>
                  <a:srgbClr val="5D6878"/>
                </a:solidFill>
                <a:latin typeface="Aptos"/>
              </a:rPr>
              <a:t>Probe had no net value; stopped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Scientific stop rule: do not tune more constants on the same 6 / 20 trajectories; move to identifiable repeated profiles.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05156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NOVELTY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The story after Opponent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Our differentiation is a calibrated, auditable state abstraction—not more environment-specific rollout search.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" y="1847088"/>
          <a:ext cx="10972799" cy="3264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022"/>
                <a:gridCol w="4026715"/>
                <a:gridCol w="5134062"/>
              </a:tblGrid>
              <a:tr h="466344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Dimension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Opponent Simulation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Our framework</a:t>
                      </a:r>
                    </a:p>
                  </a:txBody>
                  <a:tcPr marL="64008" marR="64008" marT="32004" marB="32004" anchor="ctr">
                    <a:solidFill>
                      <a:srgbClr val="10192D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Opponent model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Auxiliary LLM trajectory simulator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Factorized posterior θ, φ, reliability, regime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Planning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Candidate × future rollout search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Executable candidate scoring + bounded IG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Inference cost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Up to ~10 LLM calls / action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Structured planner; ≤1 semantic + 1 realization call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Portability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Prompt / simulator tied to game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Canonical core; environment-specific adapter only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Scientific audit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Payoff-centric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Calibration, action flip, wrong/shuffled/oracle, regret</a:t>
                      </a:r>
                    </a:p>
                  </a:txBody>
                  <a:tcPr marL="64008" marR="64008" marT="32004" marB="32004" anchor="ctr">
                    <a:solidFill>
                      <a:srgbClr val="DDF5F1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Known weakness</a:t>
                      </a:r>
                    </a:p>
                  </a:txBody>
                  <a:tcPr marL="64008" marR="64008" marT="32004" marB="32004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Expensive; simple opponent simulator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1D2738"/>
                          </a:solidFill>
                          <a:latin typeface="Aptos"/>
                        </a:defRPr>
                      </a:pPr>
                      <a:r>
                        <a:t>Belief identifiability and first-mover opening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Falsifiable novelty claim: the same reliability-gated belief and planner core transfers across price, multi-issue and multi-party negotiation.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274320"/>
            <a:ext cx="1303020" cy="310896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E7F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3464"/>
            <a:ext cx="13030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EXPERIMENT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11018520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0192D"/>
                </a:solidFill>
                <a:latin typeface="Aptos Display"/>
              </a:rPr>
              <a:t>Freeze mechanisms first; earn the universal claim in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9270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878"/>
                </a:solidFill>
                <a:latin typeface="Aptos"/>
              </a:rPr>
              <a:t>Development, validation and final tests have distinct roles. Failed variants remain archived.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563624"/>
            <a:ext cx="11018520" cy="13716"/>
          </a:xfrm>
          <a:prstGeom prst="rect">
            <a:avLst/>
          </a:prstGeom>
          <a:solidFill>
            <a:srgbClr val="D7DEE8"/>
          </a:solidFill>
          <a:ln w="254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20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878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65376"/>
            <a:ext cx="2066543" cy="1938528"/>
          </a:xfrm>
          <a:prstGeom prst="roundRect">
            <a:avLst/>
          </a:prstGeom>
          <a:solidFill>
            <a:srgbClr val="E7F0FB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2020824"/>
            <a:ext cx="530352" cy="310896"/>
          </a:xfrm>
          <a:prstGeom prst="roundRect">
            <a:avLst/>
          </a:prstGeom>
          <a:solidFill>
            <a:srgbClr val="3578C6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2029967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578C6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029968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49631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Identifiable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953512"/>
            <a:ext cx="17739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Repeated hidden profiles
stationary + preference/policy switch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15184" y="2615184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62072" y="1865376"/>
            <a:ext cx="2066543" cy="1938528"/>
          </a:xfrm>
          <a:prstGeom prst="roundRect">
            <a:avLst/>
          </a:prstGeom>
          <a:solidFill>
            <a:srgbClr val="EEEAF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8376" y="2020824"/>
            <a:ext cx="530352" cy="310896"/>
          </a:xfrm>
          <a:prstGeom prst="roundRect">
            <a:avLst/>
          </a:prstGeom>
          <a:solidFill>
            <a:srgbClr val="7A63B8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08376" y="2029967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7A63B8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2029968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249631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Simple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6" y="2953512"/>
            <a:ext cx="17739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40 unseen scenarios × 3 rollouts
paired, cluster bootstrap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74336" y="2615184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21224" y="1865376"/>
            <a:ext cx="2066543" cy="1938528"/>
          </a:xfrm>
          <a:prstGeom prst="roundRect">
            <a:avLst/>
          </a:prstGeom>
          <a:solidFill>
            <a:srgbClr val="FFF0DE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67528" y="2020824"/>
            <a:ext cx="530352" cy="310896"/>
          </a:xfrm>
          <a:prstGeom prst="roundRect">
            <a:avLst/>
          </a:prstGeom>
          <a:solidFill>
            <a:srgbClr val="F39C3D"/>
          </a:solidFill>
          <a:ln w="12700">
            <a:solidFill>
              <a:srgbClr val="F39C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7528" y="2029967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39C3D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2029968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249631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AgenticPay transfer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2953512"/>
            <a:ext cx="17739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price → contract → 1×2 → 2×2
IR and per-counterparty belief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333488" y="2615184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0375" y="1865376"/>
            <a:ext cx="2066543" cy="1938528"/>
          </a:xfrm>
          <a:prstGeom prst="roundRect">
            <a:avLst/>
          </a:prstGeom>
          <a:solidFill>
            <a:srgbClr val="DDF5F1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726679" y="2020824"/>
            <a:ext cx="530352" cy="310896"/>
          </a:xfrm>
          <a:prstGeom prst="roundRect">
            <a:avLst/>
          </a:prstGeom>
          <a:solidFill>
            <a:srgbClr val="1EA89A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2029967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EA89A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2029968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249631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Arena compatibility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953512"/>
            <a:ext cx="17739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Direct + Opponent Simulation
matched compute and role strata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692640" y="2615184"/>
            <a:ext cx="246888" cy="329184"/>
          </a:xfrm>
          <a:prstGeom prst="rightArrow">
            <a:avLst/>
          </a:prstGeom>
          <a:solidFill>
            <a:srgbClr val="5D6878"/>
          </a:solidFill>
          <a:ln w="6350">
            <a:solidFill>
              <a:srgbClr val="5D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939528" y="1865376"/>
            <a:ext cx="2066543" cy="1938528"/>
          </a:xfrm>
          <a:prstGeom prst="roundRect">
            <a:avLst/>
          </a:prstGeom>
          <a:solidFill>
            <a:srgbClr val="FBE7E3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85832" y="2020824"/>
            <a:ext cx="530352" cy="310896"/>
          </a:xfrm>
          <a:prstGeom prst="roundRect">
            <a:avLst/>
          </a:prstGeom>
          <a:solidFill>
            <a:srgbClr val="E46D5D"/>
          </a:solidFill>
          <a:ln w="12700">
            <a:solidFill>
              <a:srgbClr val="E46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85832" y="2029967"/>
            <a:ext cx="53035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46D5D"/>
                </a:solidFill>
                <a:latin typeface="Apto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5832" y="2029968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5832" y="2496312"/>
            <a:ext cx="177393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1D2738"/>
                </a:solidFill>
                <a:latin typeface="Aptos"/>
              </a:rPr>
              <a:t>Final shift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5832" y="2953512"/>
            <a:ext cx="1773936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ctr">
              <a:spcAft>
                <a:spcPts val="0"/>
              </a:spcAft>
            </a:pPr>
            <a:r>
              <a:rPr sz="1070" b="0">
                <a:solidFill>
                  <a:srgbClr val="5D6878"/>
                </a:solidFill>
                <a:latin typeface="Aptos"/>
              </a:rPr>
              <a:t>64 electronics × 5 rollouts
once after method freeze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160520"/>
            <a:ext cx="34564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5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" y="4379976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Promotion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" y="4818888"/>
            <a:ext cx="3054096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Calibration + coverage + correct-direction action flip + reward versus frozen/shuffled. No single metric is sufficient.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70832" y="4160520"/>
            <a:ext cx="34564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6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0" y="4379976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Required baselines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818888"/>
            <a:ext cx="3054096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Direct, CoT, legacy full framework, best executable policy, trained-Qwen reference, Opponent Simulation where applicable.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83296" y="4160520"/>
            <a:ext cx="345643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4464" y="4379976"/>
            <a:ext cx="30540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2738"/>
                </a:solidFill>
                <a:latin typeface="Aptos"/>
              </a:rPr>
              <a:t>Training order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84464" y="4818888"/>
            <a:ext cx="3054096" cy="4754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5D6878"/>
                </a:solidFill>
                <a:latin typeface="Aptos"/>
              </a:rPr>
              <a:t>Evidence extractor → calibrated posterior → canonical candidate ranking → language realization. No environment-token memorization.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2648" y="5815584"/>
            <a:ext cx="10972800" cy="530352"/>
          </a:xfrm>
          <a:prstGeom prst="roundRect">
            <a:avLst/>
          </a:prstGeom>
          <a:solidFill>
            <a:srgbClr val="10192D"/>
          </a:solidFill>
          <a:ln w="12700">
            <a:solidFill>
              <a:srgbClr val="101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94360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rmAutofit/>
          </a:bodyPr>
          <a:lstStyle/>
          <a:p>
            <a:pPr algn="ctr">
              <a:spcAft>
                <a:spcPts val="0"/>
              </a:spcAft>
            </a:pPr>
            <a:r>
              <a:rPr sz="1420" b="1">
                <a:solidFill>
                  <a:srgbClr val="FFFFFF"/>
                </a:solidFill>
                <a:latin typeface="Aptos"/>
              </a:rPr>
              <a:t>Next milestone: demonstrate behavioral identifiability and change tracking before any calibration SFT.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3207</TotalTime>
  <Words>812</Words>
  <Application>Microsoft Office PowerPoint</Application>
  <PresentationFormat>宽屏</PresentationFormat>
  <Paragraphs>87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Decision-Calibrated Belief-to-Action Planning for LLM Negotiation</dc:title>
  <dc:subject>Benchmarks, related work, novelty and experiment plan</dc:subject>
  <dc:creator>Negotiation Belief–Planner Project</dc:creator>
  <cp:keywords/>
  <dc:description>Generated as a fully editable English research deck. Tables are native PowerPoint tables.</dc:description>
  <cp:lastModifiedBy>淇心 谭</cp:lastModifiedBy>
  <cp:revision>2</cp:revision>
  <dcterms:created xsi:type="dcterms:W3CDTF">2013-01-27T09:14:16Z</dcterms:created>
  <dcterms:modified xsi:type="dcterms:W3CDTF">2026-08-07T19:48:00Z</dcterms:modified>
  <cp:category/>
</cp:coreProperties>
</file>